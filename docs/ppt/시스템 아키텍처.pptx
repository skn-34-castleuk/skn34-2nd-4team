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4. 시스템 아키텍처, 5. ERD, 6. 폴더구조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docs/image/cardops-architecture-flow.png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4. 시스템 아키텍처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4. 시스템 아키텍처</a:t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5. ERD</a:t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docs/image/cardops-erd-original-2.png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5. ERD &gt; 고객 데이터 및 AI 분석</a:t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발표 설명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customers는 현재 고객 상태이고 customer_feature_snapshots는 분석 당시 19개 입력값을 기준일과 해시와 함께 복사한 이력입니다.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decision_policies는 위험 등급과 추천 행동의 업무 기준을 모델과 분리합니다.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scoring_batches는 분석 한 회차, model_runs는 그 안에서 실행된 분류·회귀·군집 각각의 실행 기록입니다.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customer_insights는 세 모델 결과를 고객 단위로 합쳐 이탈 위험, 예상 거래, 군집, 추천 행동을 저장합니다.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따라서 어떤 입력·정책·모델로 결과가 생성됐는지 역추적할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backend/app/models.py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backend/app/analysis_batch.py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docs/database_schema.md</a:t>
            </a:r>
            <a:endParaRPr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docs/image/cardops-erd-original-3.png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5. ERD &gt; 캠페인 및 대량 타기팅</a:t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발표 설명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users는 캠페인 생성자, 타기팅 요청자, 담당자, 변경 수행자를 구분합니다.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customers의 수신 거부와 최근 연락 정보, customer_insights의 위험·군집·추천 행동이 후보 선정 근거가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bulk_targeting_runs는 미리보기·실행·취소 한 회차를 기록하고, bulk_targeting_candidate_snapshots는 그때의 후보 순위와 제외 사유를 고정합니다.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campaigns는 캠페인 전략과 기간·실험·비용을, campaign_targets는 실제 담당 업무와 전환·수익 결과를 저장합니다.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campaign_events는 누가 언제 담당자나 상태·결과를 변경했는지 누적하는 감사 이력입니다.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분석만 실행해서는 campaign_targets가 생기지 않으며, 타기팅을 실행해야 실제 업무 대상이 생성됩니다.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backend/app/models.py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docs/bulk_targeting.md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docs/database_schema.md</a:t>
            </a:r>
            <a:endParaRPr/>
          </a:p>
        </p:txBody>
      </p:sp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docs/image/cardops-erd-original-4.png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5. ERD &gt; 사용자 인증 및 감사</a:t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발표 설명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users는 계정과 권한의 기준이며 비밀번호는 Argon2 해시로만 저장됩니다.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user_face_credentials는 users와 1 대 0..1 관계입니다. MySQL의 JSON 컬럼에 512차원 얼굴 임베딩과 샘플 수를 저장하고 원본 사진은 저장하지 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얼굴 임베딩도 생체정보이므로 DB 접근 제한과 API 비노출이 필요합니다.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auth_events는 로그인 성공·실패, 시도 제한, 로그아웃, 계정 변경을 시간순으로 누적합니다.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user_id는 인증 대상, actor_user_id는 관리자처럼 변경을 수행한 사용자를 의미합니다.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backend/app/models.py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backend/app/face/models.py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docs/database_schema.md</a:t>
            </a:r>
            <a:endParaRPr/>
          </a:p>
        </p:txBody>
      </p:sp>
      <p:sp>
        <p:nvSpPr>
          <p:cNvPr id="190" name="Google Shape;19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6. 폴더구조</a:t>
            </a:r>
            <a:endParaRPr/>
          </a:p>
        </p:txBody>
      </p:sp>
      <p:sp>
        <p:nvSpPr>
          <p:cNvPr id="218" name="Google Shape;21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4. 시스템 아키텍처, 5. ERD, 6. 폴더구조</a:t>
            </a:r>
            <a:endParaRPr/>
          </a:p>
        </p:txBody>
      </p:sp>
      <p:sp>
        <p:nvSpPr>
          <p:cNvPr id="228" name="Google Shape;22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00050" y="40005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SKN34-2nd-4Team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572500" y="400050"/>
            <a:ext cx="3219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CardOps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00050" y="2381250"/>
            <a:ext cx="933450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0"/>
              <a:buFont typeface="Malgun Gothic"/>
              <a:buNone/>
            </a:pPr>
            <a:r>
              <a:rPr b="1" lang="en-US" sz="60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00050" y="4238625"/>
            <a:ext cx="685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2700"/>
              <a:buFont typeface="Malgun Gothic"/>
              <a:buNone/>
            </a:pPr>
            <a:r>
              <a:rPr b="0" lang="en-US" sz="270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 · ERD · 폴더구조</a:t>
            </a:r>
            <a:endParaRPr/>
          </a:p>
        </p:txBody>
      </p:sp>
      <p:cxnSp>
        <p:nvCxnSpPr>
          <p:cNvPr id="20" name="Google Shape;20;p3"/>
          <p:cNvCxnSpPr/>
          <p:nvPr/>
        </p:nvCxnSpPr>
        <p:spPr>
          <a:xfrm>
            <a:off x="400050" y="5095875"/>
            <a:ext cx="11391900" cy="0"/>
          </a:xfrm>
          <a:prstGeom prst="straightConnector1">
            <a:avLst/>
          </a:prstGeom>
          <a:noFill/>
          <a:ln cap="flat" cmpd="sng" w="571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400050" y="323850"/>
            <a:ext cx="113919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Malgun Gothic"/>
              <a:buNone/>
            </a:pPr>
            <a:r>
              <a:rPr b="1" lang="en-US" sz="3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운영·배포·로컬 환경은 같은 코드베이스로 연결됩니다</a:t>
            </a:r>
            <a:endParaRPr/>
          </a:p>
        </p:txBody>
      </p:sp>
      <p:cxnSp>
        <p:nvCxnSpPr>
          <p:cNvPr id="33" name="Google Shape;33;p5"/>
          <p:cNvCxnSpPr/>
          <p:nvPr/>
        </p:nvCxnSpPr>
        <p:spPr>
          <a:xfrm>
            <a:off x="400050" y="1057275"/>
            <a:ext cx="11391900" cy="0"/>
          </a:xfrm>
          <a:prstGeom prst="straightConnector1">
            <a:avLst/>
          </a:prstGeom>
          <a:noFill/>
          <a:ln cap="flat" cmpd="sng" w="9525">
            <a:solidFill>
              <a:srgbClr val="C9D1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5"/>
          <p:cNvCxnSpPr/>
          <p:nvPr/>
        </p:nvCxnSpPr>
        <p:spPr>
          <a:xfrm>
            <a:off x="400050" y="5524500"/>
            <a:ext cx="11391900" cy="0"/>
          </a:xfrm>
          <a:prstGeom prst="straightConnector1">
            <a:avLst/>
          </a:prstGeom>
          <a:noFill/>
          <a:ln cap="flat" cmpd="sng" w="19050">
            <a:solidFill>
              <a:srgbClr val="C9D1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5"/>
          <p:cNvSpPr/>
          <p:nvPr/>
        </p:nvSpPr>
        <p:spPr>
          <a:xfrm>
            <a:off x="400050" y="1428750"/>
            <a:ext cx="3562350" cy="3619500"/>
          </a:xfrm>
          <a:prstGeom prst="roundRect">
            <a:avLst>
              <a:gd fmla="val 2139" name="adj"/>
            </a:avLst>
          </a:prstGeom>
          <a:solidFill>
            <a:srgbClr val="E9F1FF"/>
          </a:solidFill>
          <a:ln cap="flat" cmpd="sng" w="9525">
            <a:solidFill>
              <a:srgbClr val="E9F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666750" y="1733550"/>
            <a:ext cx="295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</a:t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666750" y="2171700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Malgun Gothic"/>
              <a:buNone/>
            </a:pPr>
            <a:r>
              <a:rPr b="1" lang="en-US" sz="25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서비스</a:t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666750" y="2952750"/>
            <a:ext cx="29908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정적 사이트가 FastAPI에 REST 요청을 보내고, FastAPI는 TiDB Cloud의 사용자·고객·분석·캠페인 데이터를 처리합니다.</a:t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00050" y="5448300"/>
            <a:ext cx="152400" cy="152400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00050" y="5762625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서비스</a:t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314825" y="1428750"/>
            <a:ext cx="3562350" cy="3619500"/>
          </a:xfrm>
          <a:prstGeom prst="roundRect">
            <a:avLst>
              <a:gd fmla="val 2139" name="adj"/>
            </a:avLst>
          </a:prstGeom>
          <a:solidFill>
            <a:srgbClr val="F1EAFF"/>
          </a:solidFill>
          <a:ln cap="flat" cmpd="sng" w="9525">
            <a:solidFill>
              <a:srgbClr val="F1E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4581525" y="1733550"/>
            <a:ext cx="295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DELIVERY</a:t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4581525" y="2171700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Malgun Gothic"/>
              <a:buNone/>
            </a:pPr>
            <a:r>
              <a:rPr b="1" lang="en-US" sz="25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배포</a:t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581525" y="2952750"/>
            <a:ext cx="29908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GitHub main 브랜치의 변경을 Render가 가져와 프론트엔드와 백엔드를 각각 빌드하고 자동으로 배포합니다.</a:t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4314825" y="5448300"/>
            <a:ext cx="152400" cy="152400"/>
          </a:xfrm>
          <a:prstGeom prst="ellipse">
            <a:avLst/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4314825" y="5762625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배포</a:t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239125" y="1428750"/>
            <a:ext cx="3562350" cy="3619500"/>
          </a:xfrm>
          <a:prstGeom prst="roundRect">
            <a:avLst>
              <a:gd fmla="val 2139" name="adj"/>
            </a:avLst>
          </a:prstGeom>
          <a:solidFill>
            <a:srgbClr val="FFF3DD"/>
          </a:solidFill>
          <a:ln cap="flat" cmpd="sng" w="9525">
            <a:solidFill>
              <a:srgbClr val="FFF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8505825" y="1733550"/>
            <a:ext cx="295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LOCAL ML</a:t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8505825" y="2171700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Malgun Gothic"/>
              <a:buNone/>
            </a:pPr>
            <a:r>
              <a:rPr b="1" lang="en-US" sz="25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로컬 분석</a:t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8505825" y="2952750"/>
            <a:ext cx="29908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Docker Compose로 React·FastAPI·MySQL·Model Builder를 재현하고, 생성된 모델 아티팩트를 FastAPI 추론에 사용합니다.</a:t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8239125" y="5448300"/>
            <a:ext cx="152400" cy="152400"/>
          </a:xfrm>
          <a:prstGeom prst="ellipse">
            <a:avLst/>
          </a:prstGeom>
          <a:solidFill>
            <a:srgbClr val="D97706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8239125" y="5762625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로컬 분석</a:t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00050" y="641985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SKN34-2nd-4Team · CardOps</a:t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400050" y="323850"/>
            <a:ext cx="113919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Malgun Gothic"/>
              <a:buNone/>
            </a:pPr>
            <a:r>
              <a:rPr b="1" lang="en-US" sz="3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ERD는 세 업무 영역으로 분리됩니다</a:t>
            </a:r>
            <a:endParaRPr/>
          </a:p>
        </p:txBody>
      </p:sp>
      <p:cxnSp>
        <p:nvCxnSpPr>
          <p:cNvPr id="61" name="Google Shape;61;p6"/>
          <p:cNvCxnSpPr/>
          <p:nvPr/>
        </p:nvCxnSpPr>
        <p:spPr>
          <a:xfrm>
            <a:off x="400050" y="1057275"/>
            <a:ext cx="11391900" cy="0"/>
          </a:xfrm>
          <a:prstGeom prst="straightConnector1">
            <a:avLst/>
          </a:prstGeom>
          <a:noFill/>
          <a:ln cap="flat" cmpd="sng" w="9525">
            <a:solidFill>
              <a:srgbClr val="C9D1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6"/>
          <p:cNvSpPr/>
          <p:nvPr/>
        </p:nvSpPr>
        <p:spPr>
          <a:xfrm>
            <a:off x="400050" y="1676400"/>
            <a:ext cx="514350" cy="514350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400050" y="177165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cxnSp>
        <p:nvCxnSpPr>
          <p:cNvPr id="64" name="Google Shape;64;p6"/>
          <p:cNvCxnSpPr/>
          <p:nvPr/>
        </p:nvCxnSpPr>
        <p:spPr>
          <a:xfrm>
            <a:off x="400050" y="2428875"/>
            <a:ext cx="3143250" cy="0"/>
          </a:xfrm>
          <a:prstGeom prst="straightConnector1">
            <a:avLst/>
          </a:prstGeom>
          <a:noFill/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6"/>
          <p:cNvSpPr/>
          <p:nvPr/>
        </p:nvSpPr>
        <p:spPr>
          <a:xfrm>
            <a:off x="400050" y="2628900"/>
            <a:ext cx="3143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 데이터·AI 분석</a:t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400050" y="3200400"/>
            <a:ext cx="314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12"/>
              <a:buFont typeface="Malgun Gothic"/>
              <a:buNone/>
            </a:pPr>
            <a:r>
              <a:rPr b="1" lang="en-US" sz="1613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customers · snapshots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12"/>
              <a:buFont typeface="Malgun Gothic"/>
              <a:buNone/>
            </a:pPr>
            <a:r>
              <a:rPr b="1" lang="en-US" sz="1613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scoring_batches · model_runs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12"/>
              <a:buFont typeface="Malgun Gothic"/>
              <a:buNone/>
            </a:pPr>
            <a:r>
              <a:rPr b="1" lang="en-US" sz="1613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customer_insights</a:t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400050" y="4286250"/>
            <a:ext cx="3143250" cy="1219200"/>
          </a:xfrm>
          <a:prstGeom prst="roundRect">
            <a:avLst>
              <a:gd fmla="val 6250" name="adj"/>
            </a:avLst>
          </a:prstGeom>
          <a:solidFill>
            <a:srgbClr val="E9F1FF"/>
          </a:solidFill>
          <a:ln cap="flat" cmpd="sng" w="9525">
            <a:solidFill>
              <a:srgbClr val="E9F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590550" y="4495800"/>
            <a:ext cx="2762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12"/>
              <a:buFont typeface="Malgun Gothic"/>
              <a:buNone/>
            </a:pPr>
            <a:r>
              <a:rPr b="0" lang="en-US" sz="1613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 고객 상태와 추론 시점의 입력, 정책, 모델 실행 결과를 함께 보존합니다.</a:t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4324350" y="1676400"/>
            <a:ext cx="514350" cy="514350"/>
          </a:xfrm>
          <a:prstGeom prst="ellipse">
            <a:avLst/>
          </a:prstGeom>
          <a:solidFill>
            <a:srgbClr val="059669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4324350" y="177165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/>
          </a:p>
        </p:txBody>
      </p:sp>
      <p:cxnSp>
        <p:nvCxnSpPr>
          <p:cNvPr id="71" name="Google Shape;71;p6"/>
          <p:cNvCxnSpPr/>
          <p:nvPr/>
        </p:nvCxnSpPr>
        <p:spPr>
          <a:xfrm>
            <a:off x="4324350" y="2428875"/>
            <a:ext cx="3143250" cy="0"/>
          </a:xfrm>
          <a:prstGeom prst="straightConnector1">
            <a:avLst/>
          </a:prstGeom>
          <a:noFill/>
          <a:ln cap="flat" cmpd="sng" w="476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6"/>
          <p:cNvSpPr/>
          <p:nvPr/>
        </p:nvSpPr>
        <p:spPr>
          <a:xfrm>
            <a:off x="4324350" y="2628900"/>
            <a:ext cx="3143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캠페인 및 대량 타기팅</a:t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4324350" y="3200400"/>
            <a:ext cx="314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12"/>
              <a:buFont typeface="Malgun Gothic"/>
              <a:buNone/>
            </a:pPr>
            <a:r>
              <a:rPr b="1" lang="en-US" sz="1613">
                <a:solidFill>
                  <a:srgbClr val="059669"/>
                </a:solidFill>
                <a:latin typeface="Malgun Gothic"/>
                <a:ea typeface="Malgun Gothic"/>
                <a:cs typeface="Malgun Gothic"/>
                <a:sym typeface="Malgun Gothic"/>
              </a:rPr>
              <a:t>bulk_targeting_runs · candidates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12"/>
              <a:buFont typeface="Malgun Gothic"/>
              <a:buNone/>
            </a:pPr>
            <a:r>
              <a:rPr b="1" lang="en-US" sz="1613">
                <a:solidFill>
                  <a:srgbClr val="059669"/>
                </a:solidFill>
                <a:latin typeface="Malgun Gothic"/>
                <a:ea typeface="Malgun Gothic"/>
                <a:cs typeface="Malgun Gothic"/>
                <a:sym typeface="Malgun Gothic"/>
              </a:rPr>
              <a:t>campaigns · targets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12"/>
              <a:buFont typeface="Malgun Gothic"/>
              <a:buNone/>
            </a:pPr>
            <a:r>
              <a:rPr b="1" lang="en-US" sz="1613">
                <a:solidFill>
                  <a:srgbClr val="059669"/>
                </a:solidFill>
                <a:latin typeface="Malgun Gothic"/>
                <a:ea typeface="Malgun Gothic"/>
                <a:cs typeface="Malgun Gothic"/>
                <a:sym typeface="Malgun Gothic"/>
              </a:rPr>
              <a:t>campaign_events</a:t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4324350" y="4286250"/>
            <a:ext cx="3143250" cy="1219200"/>
          </a:xfrm>
          <a:prstGeom prst="roundRect">
            <a:avLst>
              <a:gd fmla="val 6250" name="adj"/>
            </a:avLst>
          </a:prstGeom>
          <a:solidFill>
            <a:srgbClr val="E8F7F1"/>
          </a:solidFill>
          <a:ln cap="flat" cmpd="sng" w="9525">
            <a:solidFill>
              <a:srgbClr val="E8F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4514850" y="4495800"/>
            <a:ext cx="2762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12"/>
              <a:buFont typeface="Malgun Gothic"/>
              <a:buNone/>
            </a:pPr>
            <a:r>
              <a:rPr b="0" lang="en-US" sz="1613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후보 선정부터 실제 대상 등록, 접촉과 전환·유지 성과까지 추적합니다.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8248650" y="1676400"/>
            <a:ext cx="514350" cy="514350"/>
          </a:xfrm>
          <a:prstGeom prst="ellipse">
            <a:avLst/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8248650" y="177165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/>
          </a:p>
        </p:txBody>
      </p:sp>
      <p:cxnSp>
        <p:nvCxnSpPr>
          <p:cNvPr id="78" name="Google Shape;78;p6"/>
          <p:cNvCxnSpPr/>
          <p:nvPr/>
        </p:nvCxnSpPr>
        <p:spPr>
          <a:xfrm>
            <a:off x="8248650" y="2428875"/>
            <a:ext cx="3143250" cy="0"/>
          </a:xfrm>
          <a:prstGeom prst="straightConnector1">
            <a:avLst/>
          </a:prstGeom>
          <a:noFill/>
          <a:ln cap="flat" cmpd="sng" w="476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6"/>
          <p:cNvSpPr/>
          <p:nvPr/>
        </p:nvSpPr>
        <p:spPr>
          <a:xfrm>
            <a:off x="8248650" y="2628900"/>
            <a:ext cx="3143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인증 및 감사</a:t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8248650" y="3200400"/>
            <a:ext cx="314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12"/>
              <a:buFont typeface="Malgun Gothic"/>
              <a:buNone/>
            </a:pPr>
            <a:r>
              <a:rPr b="1" lang="en-US" sz="1613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12"/>
              <a:buFont typeface="Malgun Gothic"/>
              <a:buNone/>
            </a:pPr>
            <a:r>
              <a:rPr b="1" lang="en-US" sz="1613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user_face_credentials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12"/>
              <a:buFont typeface="Malgun Gothic"/>
              <a:buNone/>
            </a:pPr>
            <a:r>
              <a:rPr b="1" lang="en-US" sz="1613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auth_events</a:t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8248650" y="4286250"/>
            <a:ext cx="3143250" cy="1219200"/>
          </a:xfrm>
          <a:prstGeom prst="roundRect">
            <a:avLst>
              <a:gd fmla="val 6250" name="adj"/>
            </a:avLst>
          </a:prstGeom>
          <a:solidFill>
            <a:srgbClr val="F1EAFF"/>
          </a:solidFill>
          <a:ln cap="flat" cmpd="sng" w="9525">
            <a:solidFill>
              <a:srgbClr val="F1E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8439150" y="4495800"/>
            <a:ext cx="2762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12"/>
              <a:buFont typeface="Malgun Gothic"/>
              <a:buNone/>
            </a:pPr>
            <a:r>
              <a:rPr b="0" lang="en-US" sz="1613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계정과 얼굴 인증 정보를 연결하고 로그인·관리자 행위 이력을 기록합니다.</a:t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400050" y="641985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SKN34-2nd-4Team · CardOps</a:t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95957"/>
            <a:ext cx="9144000" cy="646608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7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361950" y="495300"/>
            <a:ext cx="8763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550"/>
              <a:buFont typeface="Malgun Gothic"/>
              <a:buNone/>
            </a:pPr>
            <a:r>
              <a:rPr b="1" lang="en-US" sz="255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ERD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550"/>
              <a:buFont typeface="Malgun Gothic"/>
              <a:buNone/>
            </a:pPr>
            <a:r>
              <a:rPr b="1" lang="en-US" sz="255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361950" y="4191000"/>
            <a:ext cx="9715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25"/>
              <a:buFont typeface="Malgun Gothic"/>
              <a:buNone/>
            </a:pPr>
            <a:r>
              <a:rPr b="1" lang="en-US" sz="2025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25"/>
              <a:buFont typeface="Malgun Gothic"/>
              <a:buNone/>
            </a:pPr>
            <a:r>
              <a:rPr b="1" lang="en-US" sz="2025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이력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25"/>
              <a:buFont typeface="Malgun Gothic"/>
              <a:buNone/>
            </a:pPr>
            <a:r>
              <a:rPr b="1" lang="en-US" sz="2025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보존</a:t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11315700" y="6419850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/>
          <p:nvPr/>
        </p:nvSpPr>
        <p:spPr>
          <a:xfrm>
            <a:off x="400050" y="323850"/>
            <a:ext cx="113919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Malgun Gothic"/>
              <a:buNone/>
            </a:pPr>
            <a:r>
              <a:rPr b="1" lang="en-US" sz="3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분석은 입력·실행·결과 이력을 분리합니다</a:t>
            </a:r>
            <a:endParaRPr/>
          </a:p>
        </p:txBody>
      </p:sp>
      <p:cxnSp>
        <p:nvCxnSpPr>
          <p:cNvPr id="101" name="Google Shape;101;p8"/>
          <p:cNvCxnSpPr/>
          <p:nvPr/>
        </p:nvCxnSpPr>
        <p:spPr>
          <a:xfrm>
            <a:off x="400050" y="1057275"/>
            <a:ext cx="11391900" cy="0"/>
          </a:xfrm>
          <a:prstGeom prst="straightConnector1">
            <a:avLst/>
          </a:prstGeom>
          <a:noFill/>
          <a:ln cap="flat" cmpd="sng" w="9525">
            <a:solidFill>
              <a:srgbClr val="C9D1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8"/>
          <p:cNvCxnSpPr/>
          <p:nvPr/>
        </p:nvCxnSpPr>
        <p:spPr>
          <a:xfrm>
            <a:off x="400050" y="18097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8"/>
          <p:cNvSpPr/>
          <p:nvPr/>
        </p:nvSpPr>
        <p:spPr>
          <a:xfrm>
            <a:off x="400050" y="19812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 마스터</a:t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400050" y="24955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customers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19개 입력·수신·연락 상태</a:t>
            </a:r>
            <a:endParaRPr/>
          </a:p>
        </p:txBody>
      </p:sp>
      <p:cxnSp>
        <p:nvCxnSpPr>
          <p:cNvPr id="105" name="Google Shape;105;p8"/>
          <p:cNvCxnSpPr/>
          <p:nvPr/>
        </p:nvCxnSpPr>
        <p:spPr>
          <a:xfrm>
            <a:off x="3343275" y="18097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8"/>
          <p:cNvSpPr/>
          <p:nvPr/>
        </p:nvSpPr>
        <p:spPr>
          <a:xfrm>
            <a:off x="3343275" y="19812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스냅샷</a:t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3343275" y="24955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customer_feature_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snapshots · 당시 입력 보존</a:t>
            </a:r>
            <a:endParaRPr/>
          </a:p>
        </p:txBody>
      </p:sp>
      <p:cxnSp>
        <p:nvCxnSpPr>
          <p:cNvPr id="108" name="Google Shape;108;p8"/>
          <p:cNvCxnSpPr/>
          <p:nvPr/>
        </p:nvCxnSpPr>
        <p:spPr>
          <a:xfrm>
            <a:off x="6286500" y="18097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8"/>
          <p:cNvSpPr/>
          <p:nvPr/>
        </p:nvSpPr>
        <p:spPr>
          <a:xfrm>
            <a:off x="6286500" y="19812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정책</a:t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6286500" y="24955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decision_policies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 임계값·추천 규칙</a:t>
            </a:r>
            <a:endParaRPr/>
          </a:p>
        </p:txBody>
      </p:sp>
      <p:cxnSp>
        <p:nvCxnSpPr>
          <p:cNvPr id="111" name="Google Shape;111;p8"/>
          <p:cNvCxnSpPr/>
          <p:nvPr/>
        </p:nvCxnSpPr>
        <p:spPr>
          <a:xfrm>
            <a:off x="9229725" y="18097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8"/>
          <p:cNvSpPr/>
          <p:nvPr/>
        </p:nvSpPr>
        <p:spPr>
          <a:xfrm>
            <a:off x="9229725" y="19812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배치</a:t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9229725" y="24955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scoring_batches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기준일·데이터·처리 상태</a:t>
            </a:r>
            <a:endParaRPr/>
          </a:p>
        </p:txBody>
      </p:sp>
      <p:cxnSp>
        <p:nvCxnSpPr>
          <p:cNvPr id="114" name="Google Shape;114;p8"/>
          <p:cNvCxnSpPr/>
          <p:nvPr/>
        </p:nvCxnSpPr>
        <p:spPr>
          <a:xfrm>
            <a:off x="400050" y="39052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8"/>
          <p:cNvSpPr/>
          <p:nvPr/>
        </p:nvSpPr>
        <p:spPr>
          <a:xfrm>
            <a:off x="400050" y="40767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실행</a:t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400050" y="45910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model_runs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분류·회귀·군집 버전·해시</a:t>
            </a:r>
            <a:endParaRPr/>
          </a:p>
        </p:txBody>
      </p:sp>
      <p:cxnSp>
        <p:nvCxnSpPr>
          <p:cNvPr id="117" name="Google Shape;117;p8"/>
          <p:cNvCxnSpPr/>
          <p:nvPr/>
        </p:nvCxnSpPr>
        <p:spPr>
          <a:xfrm>
            <a:off x="3343275" y="39052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8"/>
          <p:cNvSpPr/>
          <p:nvPr/>
        </p:nvSpPr>
        <p:spPr>
          <a:xfrm>
            <a:off x="3343275" y="40767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인사이트</a:t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3343275" y="45910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customer_insights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이탈·거래·군집·추천 행동</a:t>
            </a:r>
            <a:endParaRPr/>
          </a:p>
        </p:txBody>
      </p:sp>
      <p:cxnSp>
        <p:nvCxnSpPr>
          <p:cNvPr id="120" name="Google Shape;120;p8"/>
          <p:cNvCxnSpPr/>
          <p:nvPr/>
        </p:nvCxnSpPr>
        <p:spPr>
          <a:xfrm>
            <a:off x="6286500" y="39052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8"/>
          <p:cNvSpPr/>
          <p:nvPr/>
        </p:nvSpPr>
        <p:spPr>
          <a:xfrm>
            <a:off x="6286500" y="40767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계보</a:t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6286500" y="45910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snapshot_id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결과와 당시 입력을 연결</a:t>
            </a:r>
            <a:endParaRPr/>
          </a:p>
        </p:txBody>
      </p:sp>
      <p:cxnSp>
        <p:nvCxnSpPr>
          <p:cNvPr id="123" name="Google Shape;123;p8"/>
          <p:cNvCxnSpPr/>
          <p:nvPr/>
        </p:nvCxnSpPr>
        <p:spPr>
          <a:xfrm>
            <a:off x="9229725" y="39052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8"/>
          <p:cNvSpPr/>
          <p:nvPr/>
        </p:nvSpPr>
        <p:spPr>
          <a:xfrm>
            <a:off x="9229725" y="40767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계보</a:t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9229725" y="45910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3개 run_id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결과와 세 모델 실행 연결</a:t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400050" y="5676900"/>
            <a:ext cx="11391900" cy="476250"/>
          </a:xfrm>
          <a:prstGeom prst="roundRect">
            <a:avLst>
              <a:gd fmla="val 12000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647700" y="5819775"/>
            <a:ext cx="1089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25"/>
              <a:buFont typeface="Malgun Gothic"/>
              <a:buNone/>
            </a:pPr>
            <a:r>
              <a:rPr b="0" lang="en-US" sz="1425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흐름  customers → feature snapshots → scoring_batches → model_runs → customer_insights</a:t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400050" y="641985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SKN34-2nd-4Team · CardOps</a:t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95957"/>
            <a:ext cx="9144000" cy="646608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9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59669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361950" y="495300"/>
            <a:ext cx="8763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550"/>
              <a:buFont typeface="Malgun Gothic"/>
              <a:buNone/>
            </a:pPr>
            <a:r>
              <a:rPr b="1" lang="en-US" sz="2550">
                <a:solidFill>
                  <a:srgbClr val="059669"/>
                </a:solidFill>
                <a:latin typeface="Malgun Gothic"/>
                <a:ea typeface="Malgun Gothic"/>
                <a:cs typeface="Malgun Gothic"/>
                <a:sym typeface="Malgun Gothic"/>
              </a:rPr>
              <a:t>ERD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550"/>
              <a:buFont typeface="Malgun Gothic"/>
              <a:buNone/>
            </a:pPr>
            <a:r>
              <a:rPr b="1" lang="en-US" sz="2550">
                <a:solidFill>
                  <a:srgbClr val="05966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361950" y="4191000"/>
            <a:ext cx="102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25"/>
              <a:buFont typeface="Malgun Gothic"/>
              <a:buNone/>
            </a:pPr>
            <a:r>
              <a:rPr b="1" lang="en-US" sz="2025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25"/>
              <a:buFont typeface="Malgun Gothic"/>
              <a:buNone/>
            </a:pPr>
            <a:r>
              <a:rPr b="1" lang="en-US" sz="2025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흐름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25"/>
              <a:buFont typeface="Malgun Gothic"/>
              <a:buNone/>
            </a:pPr>
            <a:r>
              <a:rPr b="1" lang="en-US" sz="2025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추적</a:t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11315700" y="6419850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/>
          <p:nvPr/>
        </p:nvSpPr>
        <p:spPr>
          <a:xfrm>
            <a:off x="400050" y="323850"/>
            <a:ext cx="113919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Malgun Gothic"/>
              <a:buNone/>
            </a:pPr>
            <a:r>
              <a:rPr b="1" lang="en-US" sz="3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타기팅 후보가 실제 캠페인 업무로 이어집니다</a:t>
            </a:r>
            <a:endParaRPr/>
          </a:p>
        </p:txBody>
      </p:sp>
      <p:cxnSp>
        <p:nvCxnSpPr>
          <p:cNvPr id="146" name="Google Shape;146;p10"/>
          <p:cNvCxnSpPr/>
          <p:nvPr/>
        </p:nvCxnSpPr>
        <p:spPr>
          <a:xfrm>
            <a:off x="400050" y="1057275"/>
            <a:ext cx="11391900" cy="0"/>
          </a:xfrm>
          <a:prstGeom prst="straightConnector1">
            <a:avLst/>
          </a:prstGeom>
          <a:noFill/>
          <a:ln cap="flat" cmpd="sng" w="9525">
            <a:solidFill>
              <a:srgbClr val="C9D1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0"/>
          <p:cNvCxnSpPr/>
          <p:nvPr/>
        </p:nvCxnSpPr>
        <p:spPr>
          <a:xfrm>
            <a:off x="400050" y="18097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10"/>
          <p:cNvSpPr/>
          <p:nvPr/>
        </p:nvSpPr>
        <p:spPr>
          <a:xfrm>
            <a:off x="400050" y="19812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역할</a:t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400050" y="24955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users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생성·요청·담당·수행자</a:t>
            </a:r>
            <a:endParaRPr/>
          </a:p>
        </p:txBody>
      </p:sp>
      <p:cxnSp>
        <p:nvCxnSpPr>
          <p:cNvPr id="150" name="Google Shape;150;p10"/>
          <p:cNvCxnSpPr/>
          <p:nvPr/>
        </p:nvCxnSpPr>
        <p:spPr>
          <a:xfrm>
            <a:off x="3343275" y="18097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10"/>
          <p:cNvSpPr/>
          <p:nvPr/>
        </p:nvSpPr>
        <p:spPr>
          <a:xfrm>
            <a:off x="3343275" y="19812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선정 기준</a:t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3343275" y="24955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customers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수신 거부·최근 연락 확인</a:t>
            </a:r>
            <a:endParaRPr/>
          </a:p>
        </p:txBody>
      </p:sp>
      <p:cxnSp>
        <p:nvCxnSpPr>
          <p:cNvPr id="153" name="Google Shape;153;p10"/>
          <p:cNvCxnSpPr/>
          <p:nvPr/>
        </p:nvCxnSpPr>
        <p:spPr>
          <a:xfrm>
            <a:off x="6286500" y="18097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10"/>
          <p:cNvSpPr/>
          <p:nvPr/>
        </p:nvSpPr>
        <p:spPr>
          <a:xfrm>
            <a:off x="6286500" y="19812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근거</a:t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6286500" y="24955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customer_insights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위험·군집·추천 행동</a:t>
            </a:r>
            <a:endParaRPr/>
          </a:p>
        </p:txBody>
      </p:sp>
      <p:cxnSp>
        <p:nvCxnSpPr>
          <p:cNvPr id="156" name="Google Shape;156;p10"/>
          <p:cNvCxnSpPr/>
          <p:nvPr/>
        </p:nvCxnSpPr>
        <p:spPr>
          <a:xfrm>
            <a:off x="9229725" y="18097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10"/>
          <p:cNvSpPr/>
          <p:nvPr/>
        </p:nvSpPr>
        <p:spPr>
          <a:xfrm>
            <a:off x="9229725" y="19812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캠페인 정의</a:t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9229725" y="24955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campaigns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기간·채널·실험·비용</a:t>
            </a:r>
            <a:endParaRPr/>
          </a:p>
        </p:txBody>
      </p:sp>
      <p:cxnSp>
        <p:nvCxnSpPr>
          <p:cNvPr id="159" name="Google Shape;159;p10"/>
          <p:cNvCxnSpPr/>
          <p:nvPr/>
        </p:nvCxnSpPr>
        <p:spPr>
          <a:xfrm>
            <a:off x="400050" y="39052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10"/>
          <p:cNvSpPr/>
          <p:nvPr/>
        </p:nvSpPr>
        <p:spPr>
          <a:xfrm>
            <a:off x="400050" y="40767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타기팅 회차</a:t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400050" y="45910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bulk_targeting_runs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미리보기·실행·취소</a:t>
            </a:r>
            <a:endParaRPr/>
          </a:p>
        </p:txBody>
      </p:sp>
      <p:cxnSp>
        <p:nvCxnSpPr>
          <p:cNvPr id="162" name="Google Shape;162;p10"/>
          <p:cNvCxnSpPr/>
          <p:nvPr/>
        </p:nvCxnSpPr>
        <p:spPr>
          <a:xfrm>
            <a:off x="3343275" y="39052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10"/>
          <p:cNvSpPr/>
          <p:nvPr/>
        </p:nvSpPr>
        <p:spPr>
          <a:xfrm>
            <a:off x="3343275" y="40767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후보 스냅샷</a:t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3343275" y="45910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candidate_snapshots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순위·선택·제외 사유</a:t>
            </a:r>
            <a:endParaRPr/>
          </a:p>
        </p:txBody>
      </p:sp>
      <p:cxnSp>
        <p:nvCxnSpPr>
          <p:cNvPr id="165" name="Google Shape;165;p10"/>
          <p:cNvCxnSpPr/>
          <p:nvPr/>
        </p:nvCxnSpPr>
        <p:spPr>
          <a:xfrm>
            <a:off x="6286500" y="39052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10"/>
          <p:cNvSpPr/>
          <p:nvPr/>
        </p:nvSpPr>
        <p:spPr>
          <a:xfrm>
            <a:off x="6286500" y="40767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업무 대상</a:t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6286500" y="45910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campaign_targets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담당·상태·전환·수익</a:t>
            </a:r>
            <a:endParaRPr/>
          </a:p>
        </p:txBody>
      </p:sp>
      <p:cxnSp>
        <p:nvCxnSpPr>
          <p:cNvPr id="168" name="Google Shape;168;p10"/>
          <p:cNvCxnSpPr/>
          <p:nvPr/>
        </p:nvCxnSpPr>
        <p:spPr>
          <a:xfrm>
            <a:off x="9229725" y="3905250"/>
            <a:ext cx="2571750" cy="0"/>
          </a:xfrm>
          <a:prstGeom prst="straightConnector1">
            <a:avLst/>
          </a:prstGeom>
          <a:noFill/>
          <a:ln cap="flat" cmpd="sng" w="476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0"/>
          <p:cNvSpPr/>
          <p:nvPr/>
        </p:nvSpPr>
        <p:spPr>
          <a:xfrm>
            <a:off x="9229725" y="407670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감사</a:t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9229725" y="459105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campaign_events</a:t>
            </a:r>
            <a:b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배정·상태·결과 이력</a:t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400050" y="5676900"/>
            <a:ext cx="11391900" cy="476250"/>
          </a:xfrm>
          <a:prstGeom prst="roundRect">
            <a:avLst>
              <a:gd fmla="val 12000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647700" y="5819775"/>
            <a:ext cx="1089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25"/>
              <a:buFont typeface="Malgun Gothic"/>
              <a:buNone/>
            </a:pPr>
            <a:r>
              <a:rPr b="0" lang="en-US" sz="1425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흐름  AI 근거 → 타기팅 미리보기 → 후보 스냅샷 → 캠페인 대상 확정 → 이벤트·성과 기록</a:t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400050" y="641985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SKN34-2nd-4Team · CardOps</a:t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95957"/>
            <a:ext cx="9144000" cy="646608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1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361950" y="495300"/>
            <a:ext cx="8763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550"/>
              <a:buFont typeface="Malgun Gothic"/>
              <a:buNone/>
            </a:pPr>
            <a:r>
              <a:rPr b="1" lang="en-US" sz="2550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ERD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550"/>
              <a:buFont typeface="Malgun Gothic"/>
              <a:buNone/>
            </a:pPr>
            <a:r>
              <a:rPr b="1" lang="en-US" sz="2550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361950" y="4191000"/>
            <a:ext cx="1009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25"/>
              <a:buFont typeface="Malgun Gothic"/>
              <a:buNone/>
            </a:pPr>
            <a:r>
              <a:rPr b="1" lang="en-US" sz="2025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25"/>
              <a:buFont typeface="Malgun Gothic"/>
              <a:buNone/>
            </a:pPr>
            <a:r>
              <a:rPr b="1" lang="en-US" sz="2025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25"/>
              <a:buFont typeface="Malgun Gothic"/>
              <a:buNone/>
            </a:pPr>
            <a:r>
              <a:rPr b="1" lang="en-US" sz="2025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</a:t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2057400" y="4552950"/>
            <a:ext cx="4552950" cy="1314450"/>
          </a:xfrm>
          <a:prstGeom prst="roundRect">
            <a:avLst>
              <a:gd fmla="val 5797" name="adj"/>
            </a:avLst>
          </a:prstGeom>
          <a:solidFill>
            <a:srgbClr val="FFF3DD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2286000" y="4819650"/>
            <a:ext cx="4095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상태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얼굴 인증 ORM은 공통 SQLAlchemy Base에 정상 등록되어 있습니다.</a:t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11315700" y="6419850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/>
          <p:nvPr/>
        </p:nvSpPr>
        <p:spPr>
          <a:xfrm>
            <a:off x="400050" y="323850"/>
            <a:ext cx="113919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Malgun Gothic"/>
              <a:buNone/>
            </a:pPr>
            <a:r>
              <a:rPr b="1" lang="en-US" sz="3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정보와 감사 로그는 역할이 다릅니다</a:t>
            </a:r>
            <a:endParaRPr/>
          </a:p>
        </p:txBody>
      </p:sp>
      <p:cxnSp>
        <p:nvCxnSpPr>
          <p:cNvPr id="193" name="Google Shape;193;p12"/>
          <p:cNvCxnSpPr/>
          <p:nvPr/>
        </p:nvCxnSpPr>
        <p:spPr>
          <a:xfrm>
            <a:off x="400050" y="1057275"/>
            <a:ext cx="11391900" cy="0"/>
          </a:xfrm>
          <a:prstGeom prst="straightConnector1">
            <a:avLst/>
          </a:prstGeom>
          <a:noFill/>
          <a:ln cap="flat" cmpd="sng" w="9525">
            <a:solidFill>
              <a:srgbClr val="C9D1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12"/>
          <p:cNvCxnSpPr/>
          <p:nvPr/>
        </p:nvCxnSpPr>
        <p:spPr>
          <a:xfrm>
            <a:off x="400050" y="5524500"/>
            <a:ext cx="11391900" cy="0"/>
          </a:xfrm>
          <a:prstGeom prst="straightConnector1">
            <a:avLst/>
          </a:prstGeom>
          <a:noFill/>
          <a:ln cap="flat" cmpd="sng" w="19050">
            <a:solidFill>
              <a:srgbClr val="C9D1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2"/>
          <p:cNvSpPr/>
          <p:nvPr/>
        </p:nvSpPr>
        <p:spPr>
          <a:xfrm>
            <a:off x="400050" y="1428750"/>
            <a:ext cx="3562350" cy="3619500"/>
          </a:xfrm>
          <a:prstGeom prst="roundRect">
            <a:avLst>
              <a:gd fmla="val 2139" name="adj"/>
            </a:avLst>
          </a:prstGeom>
          <a:solidFill>
            <a:srgbClr val="E9F1FF"/>
          </a:solidFill>
          <a:ln cap="flat" cmpd="sng" w="9525">
            <a:solidFill>
              <a:srgbClr val="E9F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666750" y="1733550"/>
            <a:ext cx="295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IDENTITY</a:t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666750" y="2171700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Malgun Gothic"/>
              <a:buNone/>
            </a:pPr>
            <a:r>
              <a:rPr b="1" lang="en-US" sz="25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users</a:t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666750" y="2952750"/>
            <a:ext cx="29908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계정의 기준 테이블입니다.</a:t>
            </a:r>
            <a:br>
              <a:rPr b="0" lang="en-US"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사용자명·표시명·Argon2 비밀번호 해시·권한·활성 상태를 관리하며 비밀번호 원문은 저장하지 않습니다.</a:t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400050" y="5448300"/>
            <a:ext cx="152400" cy="152400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400050" y="5762625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계정·권한 기준</a:t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4314825" y="1428750"/>
            <a:ext cx="3562350" cy="3619500"/>
          </a:xfrm>
          <a:prstGeom prst="roundRect">
            <a:avLst>
              <a:gd fmla="val 2139" name="adj"/>
            </a:avLst>
          </a:prstGeom>
          <a:solidFill>
            <a:srgbClr val="F1EAFF"/>
          </a:solidFill>
          <a:ln cap="flat" cmpd="sng" w="9525">
            <a:solidFill>
              <a:srgbClr val="F1E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4581525" y="1733550"/>
            <a:ext cx="295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7C3AED"/>
                </a:solidFill>
                <a:latin typeface="Malgun Gothic"/>
                <a:ea typeface="Malgun Gothic"/>
                <a:cs typeface="Malgun Gothic"/>
                <a:sym typeface="Malgun Gothic"/>
              </a:rPr>
              <a:t>BIOMETRIC</a:t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4581525" y="2171700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Malgun Gothic"/>
              <a:buNone/>
            </a:pPr>
            <a:r>
              <a:rPr b="1" lang="en-US" sz="25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얼굴 인증 정보</a:t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4581525" y="2952750"/>
            <a:ext cx="29908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user_face_credentials</a:t>
            </a:r>
            <a:br>
              <a:rPr b="0" lang="en-US"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사용자당 0..1개로, 원본 사진 대신 512차원 임베딩(JSON)과 등록 샘플 수를 저장합니다.</a:t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4314825" y="5448300"/>
            <a:ext cx="152400" cy="152400"/>
          </a:xfrm>
          <a:prstGeom prst="ellipse">
            <a:avLst/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4314825" y="5762625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얼굴 인증 수단</a:t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8239125" y="1428750"/>
            <a:ext cx="3562350" cy="3619500"/>
          </a:xfrm>
          <a:prstGeom prst="roundRect">
            <a:avLst>
              <a:gd fmla="val 2139" name="adj"/>
            </a:avLst>
          </a:prstGeom>
          <a:solidFill>
            <a:srgbClr val="FFF3DD"/>
          </a:solidFill>
          <a:ln cap="flat" cmpd="sng" w="9525">
            <a:solidFill>
              <a:srgbClr val="FFF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8505825" y="1733550"/>
            <a:ext cx="295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50"/>
              <a:buFont typeface="Malgun Gothic"/>
              <a:buNone/>
            </a:pPr>
            <a:r>
              <a:rPr b="1" lang="en-US" sz="1350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AUDIT</a:t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8505825" y="2171700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Malgun Gothic"/>
              <a:buNone/>
            </a:pPr>
            <a:r>
              <a:rPr b="1" lang="en-US" sz="25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auth_events</a:t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8505825" y="2952750"/>
            <a:ext cx="29908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Malgun Gothic"/>
              <a:buNone/>
            </a:pPr>
            <a:r>
              <a:rPr b="0" lang="en-US"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성공·실패·시도 제한·로그아웃·계정 변경을 IP·수행자·발생 시각과 함께 누적하는 감사 로그입니다.</a:t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8239125" y="5448300"/>
            <a:ext cx="152400" cy="152400"/>
          </a:xfrm>
          <a:prstGeom prst="ellipse">
            <a:avLst/>
          </a:prstGeom>
          <a:solidFill>
            <a:srgbClr val="D97706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8239125" y="5762625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인증·관리 행위 이력</a:t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400050" y="641985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SKN34-2nd-4Team · CardOps</a:t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400050" y="323850"/>
            <a:ext cx="113919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Malgun Gothic"/>
              <a:buNone/>
            </a:pPr>
            <a:r>
              <a:rPr b="1" lang="en-US" sz="3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폴더구조</a:t>
            </a:r>
            <a:endParaRPr/>
          </a:p>
        </p:txBody>
      </p:sp>
      <p:cxnSp>
        <p:nvCxnSpPr>
          <p:cNvPr id="221" name="Google Shape;221;p13"/>
          <p:cNvCxnSpPr/>
          <p:nvPr/>
        </p:nvCxnSpPr>
        <p:spPr>
          <a:xfrm>
            <a:off x="400050" y="1057275"/>
            <a:ext cx="11391900" cy="0"/>
          </a:xfrm>
          <a:prstGeom prst="straightConnector1">
            <a:avLst/>
          </a:prstGeom>
          <a:noFill/>
          <a:ln cap="flat" cmpd="sng" w="9525">
            <a:solidFill>
              <a:srgbClr val="C9D1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13"/>
          <p:cNvSpPr/>
          <p:nvPr/>
        </p:nvSpPr>
        <p:spPr>
          <a:xfrm>
            <a:off x="400050" y="641985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SKN34-2nd-4Team · CardOps</a:t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Malgun Gothic"/>
              <a:buNone/>
            </a:pPr>
            <a:r>
              <a:rPr b="0" lang="en-US" sz="1125">
                <a:solidFill>
                  <a:srgbClr val="667085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/>
          </a:p>
        </p:txBody>
      </p:sp>
      <p:pic>
        <p:nvPicPr>
          <p:cNvPr id="224" name="Google Shape;224;p13" title="폴더구조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50" y="1123950"/>
            <a:ext cx="9692061" cy="5148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/>
          <p:nvPr/>
        </p:nvSpPr>
        <p:spPr>
          <a:xfrm>
            <a:off x="400050" y="400050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CardOps System Design</a:t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400050" y="1524000"/>
            <a:ext cx="10287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100"/>
              <a:buFont typeface="Malgun Gothic"/>
              <a:buNone/>
            </a:pPr>
            <a:r>
              <a:rPr b="1" lang="en-US" sz="51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/>
          </a:p>
        </p:txBody>
      </p:sp>
      <p:cxnSp>
        <p:nvCxnSpPr>
          <p:cNvPr id="232" name="Google Shape;232;p14"/>
          <p:cNvCxnSpPr/>
          <p:nvPr/>
        </p:nvCxnSpPr>
        <p:spPr>
          <a:xfrm>
            <a:off x="7524750" y="5334000"/>
            <a:ext cx="4267200" cy="0"/>
          </a:xfrm>
          <a:prstGeom prst="straightConnector1">
            <a:avLst/>
          </a:prstGeom>
          <a:noFill/>
          <a:ln cap="flat" cmpd="sng" w="666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4"/>
          <p:cNvSpPr/>
          <p:nvPr/>
        </p:nvSpPr>
        <p:spPr>
          <a:xfrm>
            <a:off x="7524750" y="5600700"/>
            <a:ext cx="426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25"/>
              <a:buFont typeface="Malgun Gothic"/>
              <a:buNone/>
            </a:pPr>
            <a:r>
              <a:rPr b="1" lang="en-US" sz="1725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SKN34-2nd-4Team · 불사조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