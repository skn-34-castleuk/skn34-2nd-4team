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0693400" cy="6013450"/>
  <p:notesSz cx="10693400" cy="6013450"/>
  <p:defaultTextStyle>
    <a:defPPr>
      <a:defRPr kern="0"/>
    </a:def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-1536" y="-84"/>
      </p:cViewPr>
      <p:guideLst>
        <p:guide orient="horz" pos="2880"/>
        <p:guide pos="215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presProps" Target="presProps.xml"  /><Relationship Id="rId11" Type="http://schemas.openxmlformats.org/officeDocument/2006/relationships/viewProps" Target="viewProps.xml"  /><Relationship Id="rId12" Type="http://schemas.openxmlformats.org/officeDocument/2006/relationships/theme" Target="theme/theme1.xml"  /><Relationship Id="rId13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1864169"/>
            <a:ext cx="9089390" cy="12628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3367532"/>
            <a:ext cx="7485380" cy="15033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99A0B4"/>
                </a:solidFill>
                <a:latin typeface="맑은 고딕"/>
                <a:cs typeface="맑은 고딕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분류</a:t>
            </a:r>
            <a:r>
              <a:rPr dirty="0" spc="-5"/>
              <a:t> </a:t>
            </a:r>
            <a:r>
              <a:rPr dirty="0"/>
              <a:t>모델</a:t>
            </a:r>
            <a:r>
              <a:rPr dirty="0" spc="-5"/>
              <a:t> </a:t>
            </a:r>
            <a:r>
              <a:rPr dirty="0"/>
              <a:t>전략</a:t>
            </a:r>
            <a:r>
              <a:rPr dirty="0" spc="-5"/>
              <a:t> </a:t>
            </a:r>
            <a:r>
              <a:rPr dirty="0"/>
              <a:t>발표</a:t>
            </a:r>
            <a:r>
              <a:rPr dirty="0" spc="-5"/>
              <a:t> </a:t>
            </a:r>
            <a:r>
              <a:rPr dirty="0" spc="-25"/>
              <a:t>자료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99A0B4"/>
                </a:solidFill>
                <a:latin typeface="맑은 고딕"/>
                <a:cs typeface="맑은 고딕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B1D25"/>
                </a:solidFill>
                <a:latin typeface="맑은 고딕"/>
                <a:cs typeface="맑은 고딕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99A0B4"/>
                </a:solidFill>
                <a:latin typeface="맑은 고딕"/>
                <a:cs typeface="맑은 고딕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분류</a:t>
            </a:r>
            <a:r>
              <a:rPr dirty="0" spc="-5"/>
              <a:t> </a:t>
            </a:r>
            <a:r>
              <a:rPr dirty="0"/>
              <a:t>모델</a:t>
            </a:r>
            <a:r>
              <a:rPr dirty="0" spc="-5"/>
              <a:t> </a:t>
            </a:r>
            <a:r>
              <a:rPr dirty="0"/>
              <a:t>전략</a:t>
            </a:r>
            <a:r>
              <a:rPr dirty="0" spc="-5"/>
              <a:t> </a:t>
            </a:r>
            <a:r>
              <a:rPr dirty="0"/>
              <a:t>발표</a:t>
            </a:r>
            <a:r>
              <a:rPr dirty="0" spc="-5"/>
              <a:t> </a:t>
            </a:r>
            <a:r>
              <a:rPr dirty="0" spc="-25"/>
              <a:t>자료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99A0B4"/>
                </a:solidFill>
                <a:latin typeface="맑은 고딕"/>
                <a:cs typeface="맑은 고딕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B1D25"/>
                </a:solidFill>
                <a:latin typeface="맑은 고딕"/>
                <a:cs typeface="맑은 고딕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383093"/>
            <a:ext cx="4651629" cy="39688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383093"/>
            <a:ext cx="4651629" cy="39688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99A0B4"/>
                </a:solidFill>
                <a:latin typeface="맑은 고딕"/>
                <a:cs typeface="맑은 고딕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분류</a:t>
            </a:r>
            <a:r>
              <a:rPr dirty="0" spc="-5"/>
              <a:t> </a:t>
            </a:r>
            <a:r>
              <a:rPr dirty="0"/>
              <a:t>모델</a:t>
            </a:r>
            <a:r>
              <a:rPr dirty="0" spc="-5"/>
              <a:t> </a:t>
            </a:r>
            <a:r>
              <a:rPr dirty="0"/>
              <a:t>전략</a:t>
            </a:r>
            <a:r>
              <a:rPr dirty="0" spc="-5"/>
              <a:t> </a:t>
            </a:r>
            <a:r>
              <a:rPr dirty="0"/>
              <a:t>발표</a:t>
            </a:r>
            <a:r>
              <a:rPr dirty="0" spc="-5"/>
              <a:t> </a:t>
            </a:r>
            <a:r>
              <a:rPr dirty="0" spc="-25"/>
              <a:t>자료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99A0B4"/>
                </a:solidFill>
                <a:latin typeface="맑은 고딕"/>
                <a:cs typeface="맑은 고딕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B1D25"/>
                </a:solidFill>
                <a:latin typeface="맑은 고딕"/>
                <a:cs typeface="맑은 고딕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99A0B4"/>
                </a:solidFill>
                <a:latin typeface="맑은 고딕"/>
                <a:cs typeface="맑은 고딕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분류</a:t>
            </a:r>
            <a:r>
              <a:rPr dirty="0" spc="-5"/>
              <a:t> </a:t>
            </a:r>
            <a:r>
              <a:rPr dirty="0"/>
              <a:t>모델</a:t>
            </a:r>
            <a:r>
              <a:rPr dirty="0" spc="-5"/>
              <a:t> </a:t>
            </a:r>
            <a:r>
              <a:rPr dirty="0"/>
              <a:t>전략</a:t>
            </a:r>
            <a:r>
              <a:rPr dirty="0" spc="-5"/>
              <a:t> </a:t>
            </a:r>
            <a:r>
              <a:rPr dirty="0"/>
              <a:t>발표</a:t>
            </a:r>
            <a:r>
              <a:rPr dirty="0" spc="-5"/>
              <a:t> </a:t>
            </a:r>
            <a:r>
              <a:rPr dirty="0" spc="-25"/>
              <a:t>자료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99A0B4"/>
                </a:solidFill>
                <a:latin typeface="맑은 고딕"/>
                <a:cs typeface="맑은 고딕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99A0B4"/>
                </a:solidFill>
                <a:latin typeface="맑은 고딕"/>
                <a:cs typeface="맑은 고딕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분류</a:t>
            </a:r>
            <a:r>
              <a:rPr dirty="0" spc="-5"/>
              <a:t> </a:t>
            </a:r>
            <a:r>
              <a:rPr dirty="0"/>
              <a:t>모델</a:t>
            </a:r>
            <a:r>
              <a:rPr dirty="0" spc="-5"/>
              <a:t> </a:t>
            </a:r>
            <a:r>
              <a:rPr dirty="0"/>
              <a:t>전략</a:t>
            </a:r>
            <a:r>
              <a:rPr dirty="0" spc="-5"/>
              <a:t> </a:t>
            </a:r>
            <a:r>
              <a:rPr dirty="0"/>
              <a:t>발표</a:t>
            </a:r>
            <a:r>
              <a:rPr dirty="0" spc="-5"/>
              <a:t> </a:t>
            </a:r>
            <a:r>
              <a:rPr dirty="0" spc="-25"/>
              <a:t>자료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99A0B4"/>
                </a:solidFill>
                <a:latin typeface="맑은 고딕"/>
                <a:cs typeface="맑은 고딕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1232" y="558690"/>
            <a:ext cx="5521325" cy="954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1B1D25"/>
                </a:solidFill>
                <a:latin typeface="맑은 고딕"/>
                <a:cs typeface="맑은 고딕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383093"/>
            <a:ext cx="9624060" cy="39688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1232" y="5658464"/>
            <a:ext cx="1183639" cy="160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99A0B4"/>
                </a:solidFill>
                <a:latin typeface="맑은 고딕"/>
                <a:cs typeface="맑은 고딕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분류</a:t>
            </a:r>
            <a:r>
              <a:rPr dirty="0" spc="-5"/>
              <a:t> </a:t>
            </a:r>
            <a:r>
              <a:rPr dirty="0"/>
              <a:t>모델</a:t>
            </a:r>
            <a:r>
              <a:rPr dirty="0" spc="-5"/>
              <a:t> </a:t>
            </a:r>
            <a:r>
              <a:rPr dirty="0"/>
              <a:t>전략</a:t>
            </a:r>
            <a:r>
              <a:rPr dirty="0" spc="-5"/>
              <a:t> </a:t>
            </a:r>
            <a:r>
              <a:rPr dirty="0"/>
              <a:t>발표</a:t>
            </a:r>
            <a:r>
              <a:rPr dirty="0" spc="-5"/>
              <a:t> </a:t>
            </a:r>
            <a:r>
              <a:rPr dirty="0" spc="-25"/>
              <a:t>자료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5592508"/>
            <a:ext cx="2459482" cy="3006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093969" y="5658464"/>
            <a:ext cx="145415" cy="160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99A0B4"/>
                </a:solidFill>
                <a:latin typeface="맑은 고딕"/>
                <a:cs typeface="맑은 고딕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jpe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.jpe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91232" y="479456"/>
            <a:ext cx="194500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70" b="1">
                <a:solidFill>
                  <a:srgbClr val="2E3C8F"/>
                </a:solidFill>
                <a:latin typeface="맑은 고딕"/>
                <a:cs typeface="맑은 고딕"/>
              </a:rPr>
              <a:t>SKN</a:t>
            </a:r>
            <a:r>
              <a:rPr dirty="0" sz="1000" spc="-240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1000" spc="55" b="1">
                <a:solidFill>
                  <a:srgbClr val="2E3C8F"/>
                </a:solidFill>
                <a:latin typeface="맑은 고딕"/>
                <a:cs typeface="맑은 고딕"/>
              </a:rPr>
              <a:t>34</a:t>
            </a:r>
            <a:r>
              <a:rPr dirty="0" sz="1000" spc="225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1000" b="1">
                <a:solidFill>
                  <a:srgbClr val="2E3C8F"/>
                </a:solidFill>
                <a:latin typeface="맑은 고딕"/>
                <a:cs typeface="맑은 고딕"/>
              </a:rPr>
              <a:t>2</a:t>
            </a:r>
            <a:r>
              <a:rPr dirty="0" sz="1000" spc="-240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1000" spc="55" b="1">
                <a:solidFill>
                  <a:srgbClr val="2E3C8F"/>
                </a:solidFill>
                <a:latin typeface="맑은 고딕"/>
                <a:cs typeface="맑은 고딕"/>
              </a:rPr>
              <a:t>ND</a:t>
            </a:r>
            <a:r>
              <a:rPr dirty="0" sz="1000" spc="225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1000" spc="90" b="1">
                <a:solidFill>
                  <a:srgbClr val="2E3C8F"/>
                </a:solidFill>
                <a:latin typeface="맑은 고딕"/>
                <a:cs typeface="맑은 고딕"/>
              </a:rPr>
              <a:t>PROJECT</a:t>
            </a:r>
            <a:r>
              <a:rPr dirty="0" sz="1000" spc="220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1000" b="1">
                <a:solidFill>
                  <a:srgbClr val="2E3C8F"/>
                </a:solidFill>
                <a:latin typeface="맑은 고딕"/>
                <a:cs typeface="맑은 고딕"/>
              </a:rPr>
              <a:t>·</a:t>
            </a:r>
            <a:r>
              <a:rPr dirty="0" sz="1000" spc="225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1000" b="1">
                <a:solidFill>
                  <a:srgbClr val="2E3C8F"/>
                </a:solidFill>
                <a:latin typeface="맑은 고딕"/>
                <a:cs typeface="맑은 고딕"/>
              </a:rPr>
              <a:t>4</a:t>
            </a:r>
            <a:r>
              <a:rPr dirty="0" sz="1000" spc="-235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1000" spc="-50" b="1">
                <a:solidFill>
                  <a:srgbClr val="2E3C8F"/>
                </a:solidFill>
                <a:latin typeface="맑은 고딕"/>
                <a:cs typeface="맑은 고딕"/>
              </a:rPr>
              <a:t>팀</a:t>
            </a:r>
            <a:endParaRPr sz="100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3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dirty="0"/>
              <a:t>분류</a:t>
            </a:r>
            <a:r>
              <a:rPr dirty="0" spc="-114"/>
              <a:t> </a:t>
            </a:r>
            <a:r>
              <a:rPr dirty="0"/>
              <a:t>모델</a:t>
            </a:r>
            <a:r>
              <a:rPr dirty="0" spc="-114"/>
              <a:t> </a:t>
            </a:r>
            <a:r>
              <a:rPr dirty="0" spc="-25"/>
              <a:t>전략</a:t>
            </a: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300" b="0">
                <a:solidFill>
                  <a:srgbClr val="5B606F"/>
                </a:solidFill>
                <a:latin typeface="맑은 고딕"/>
                <a:cs typeface="맑은 고딕"/>
              </a:rPr>
              <a:t>고객</a:t>
            </a:r>
            <a:r>
              <a:rPr dirty="0" sz="1300" spc="-5" b="0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300" b="0">
                <a:solidFill>
                  <a:srgbClr val="5B606F"/>
                </a:solidFill>
                <a:latin typeface="맑은 고딕"/>
                <a:cs typeface="맑은 고딕"/>
              </a:rPr>
              <a:t>이탈</a:t>
            </a:r>
            <a:r>
              <a:rPr dirty="0" sz="1300" spc="-5" b="0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300" b="0">
                <a:solidFill>
                  <a:srgbClr val="5B606F"/>
                </a:solidFill>
                <a:latin typeface="맑은 고딕"/>
                <a:cs typeface="맑은 고딕"/>
              </a:rPr>
              <a:t>예측</a:t>
            </a:r>
            <a:r>
              <a:rPr dirty="0" sz="1300" spc="-5" b="0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300" b="0">
                <a:solidFill>
                  <a:srgbClr val="5B606F"/>
                </a:solidFill>
                <a:latin typeface="맑은 고딕"/>
                <a:cs typeface="맑은 고딕"/>
              </a:rPr>
              <a:t>—</a:t>
            </a:r>
            <a:r>
              <a:rPr dirty="0" sz="1300" spc="-5" b="0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300" b="0">
                <a:solidFill>
                  <a:srgbClr val="5B606F"/>
                </a:solidFill>
                <a:latin typeface="맑은 고딕"/>
                <a:cs typeface="맑은 고딕"/>
              </a:rPr>
              <a:t>베이스라인부터</a:t>
            </a:r>
            <a:r>
              <a:rPr dirty="0" sz="1300" spc="-5" b="0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300" b="0">
                <a:solidFill>
                  <a:srgbClr val="5B606F"/>
                </a:solidFill>
                <a:latin typeface="맑은 고딕"/>
                <a:cs typeface="맑은 고딕"/>
              </a:rPr>
              <a:t>최종</a:t>
            </a:r>
            <a:r>
              <a:rPr dirty="0" sz="1300" spc="-5" b="0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300" b="0">
                <a:solidFill>
                  <a:srgbClr val="5B606F"/>
                </a:solidFill>
                <a:latin typeface="맑은 고딕"/>
                <a:cs typeface="맑은 고딕"/>
              </a:rPr>
              <a:t>LightGBM까지의</a:t>
            </a:r>
            <a:r>
              <a:rPr dirty="0" sz="1300" spc="-5" b="0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300" b="0">
                <a:solidFill>
                  <a:srgbClr val="5B606F"/>
                </a:solidFill>
                <a:latin typeface="맑은 고딕"/>
                <a:cs typeface="맑은 고딕"/>
              </a:rPr>
              <a:t>단계적</a:t>
            </a:r>
            <a:r>
              <a:rPr dirty="0" sz="1300" spc="-5" b="0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300" spc="-20" b="0">
                <a:solidFill>
                  <a:srgbClr val="5B606F"/>
                </a:solidFill>
                <a:latin typeface="맑은 고딕"/>
                <a:cs typeface="맑은 고딕"/>
              </a:rPr>
              <a:t>의사결정</a:t>
            </a:r>
            <a:endParaRPr sz="1300">
              <a:latin typeface="맑은 고딕"/>
              <a:cs typeface="맑은 고딕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04824" y="1904999"/>
            <a:ext cx="790575" cy="47625"/>
          </a:xfrm>
          <a:custGeom>
            <a:avLst/>
            <a:gdLst/>
            <a:ahLst/>
            <a:cxnLst/>
            <a:rect l="l" t="t" r="r" b="b"/>
            <a:pathLst>
              <a:path w="790575" h="47625">
                <a:moveTo>
                  <a:pt x="790574" y="47624"/>
                </a:moveTo>
                <a:lnTo>
                  <a:pt x="0" y="47624"/>
                </a:lnTo>
                <a:lnTo>
                  <a:pt x="0" y="0"/>
                </a:lnTo>
                <a:lnTo>
                  <a:pt x="790574" y="0"/>
                </a:lnTo>
                <a:lnTo>
                  <a:pt x="790574" y="47624"/>
                </a:lnTo>
                <a:close/>
              </a:path>
            </a:pathLst>
          </a:custGeom>
          <a:solidFill>
            <a:srgbClr val="2E3C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91232" y="2197100"/>
            <a:ext cx="4672330" cy="812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2E3C8F"/>
                </a:solidFill>
                <a:latin typeface="맑은 고딕"/>
                <a:cs typeface="맑은 고딕"/>
              </a:rPr>
              <a:t>과제 </a:t>
            </a:r>
            <a:r>
              <a:rPr dirty="0" sz="1050" spc="-25" b="1">
                <a:solidFill>
                  <a:srgbClr val="2E3C8F"/>
                </a:solidFill>
                <a:latin typeface="맑은 고딕"/>
                <a:cs typeface="맑은 고딕"/>
              </a:rPr>
              <a:t>정의</a:t>
            </a:r>
            <a:endParaRPr sz="1050">
              <a:latin typeface="맑은 고딕"/>
              <a:cs typeface="맑은 고딕"/>
            </a:endParaRPr>
          </a:p>
          <a:p>
            <a:pPr marL="12700" marR="5080">
              <a:lnSpc>
                <a:spcPct val="131600"/>
              </a:lnSpc>
              <a:spcBef>
                <a:spcPts val="430"/>
              </a:spcBef>
            </a:pP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BankChurners</a:t>
            </a:r>
            <a:r>
              <a:rPr dirty="0" sz="950" spc="3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 b="1">
                <a:solidFill>
                  <a:srgbClr val="1B1D25"/>
                </a:solidFill>
                <a:latin typeface="맑은 고딕"/>
                <a:cs typeface="맑은 고딕"/>
              </a:rPr>
              <a:t>10,127명</a:t>
            </a:r>
            <a:r>
              <a:rPr dirty="0" sz="950" spc="30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 b="1">
                <a:solidFill>
                  <a:srgbClr val="1B1D25"/>
                </a:solidFill>
                <a:latin typeface="맑은 고딕"/>
                <a:cs typeface="맑은 고딕"/>
              </a:rPr>
              <a:t>×</a:t>
            </a:r>
            <a:r>
              <a:rPr dirty="0" sz="950" spc="3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 b="1">
                <a:solidFill>
                  <a:srgbClr val="1B1D25"/>
                </a:solidFill>
                <a:latin typeface="맑은 고딕"/>
                <a:cs typeface="맑은 고딕"/>
              </a:rPr>
              <a:t>20개</a:t>
            </a:r>
            <a:r>
              <a:rPr dirty="0" sz="950" spc="30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 b="1">
                <a:solidFill>
                  <a:srgbClr val="1B1D25"/>
                </a:solidFill>
                <a:latin typeface="맑은 고딕"/>
                <a:cs typeface="맑은 고딕"/>
              </a:rPr>
              <a:t>변수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(이탈률</a:t>
            </a:r>
            <a:r>
              <a:rPr dirty="0" sz="950" spc="3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16.1%)로</a:t>
            </a:r>
            <a:r>
              <a:rPr dirty="0" sz="950" spc="3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고객의</a:t>
            </a:r>
            <a:r>
              <a:rPr dirty="0" sz="950" spc="3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 b="1">
                <a:solidFill>
                  <a:srgbClr val="1B1D25"/>
                </a:solidFill>
                <a:latin typeface="맑은 고딕"/>
                <a:cs typeface="맑은 고딕"/>
              </a:rPr>
              <a:t>이탈</a:t>
            </a:r>
            <a:r>
              <a:rPr dirty="0" sz="950" spc="3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 b="1">
                <a:solidFill>
                  <a:srgbClr val="1B1D25"/>
                </a:solidFill>
                <a:latin typeface="맑은 고딕"/>
                <a:cs typeface="맑은 고딕"/>
              </a:rPr>
              <a:t>여부와</a:t>
            </a:r>
            <a:r>
              <a:rPr dirty="0" sz="950" spc="30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 b="1">
                <a:solidFill>
                  <a:srgbClr val="1B1D25"/>
                </a:solidFill>
                <a:latin typeface="맑은 고딕"/>
                <a:cs typeface="맑은 고딕"/>
              </a:rPr>
              <a:t>확률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을</a:t>
            </a:r>
            <a:r>
              <a:rPr dirty="0" sz="950" spc="3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 spc="-50">
                <a:solidFill>
                  <a:srgbClr val="1B1D25"/>
                </a:solidFill>
                <a:latin typeface="맑은 고딕"/>
                <a:cs typeface="맑은 고딕"/>
              </a:rPr>
              <a:t>예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측해</a:t>
            </a:r>
            <a:r>
              <a:rPr dirty="0" sz="950" spc="2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위험</a:t>
            </a:r>
            <a:r>
              <a:rPr dirty="0" sz="950" spc="2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고객을</a:t>
            </a:r>
            <a:r>
              <a:rPr dirty="0" sz="950" spc="2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우선</a:t>
            </a:r>
            <a:r>
              <a:rPr dirty="0" sz="950" spc="2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관리합니다.</a:t>
            </a:r>
            <a:r>
              <a:rPr dirty="0" sz="950" spc="2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불균형</a:t>
            </a:r>
            <a:r>
              <a:rPr dirty="0" sz="950" spc="2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데이터이므로</a:t>
            </a:r>
            <a:r>
              <a:rPr dirty="0" sz="950" spc="2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정확도</a:t>
            </a:r>
            <a:r>
              <a:rPr dirty="0" sz="950" spc="2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대신</a:t>
            </a:r>
            <a:r>
              <a:rPr dirty="0" sz="950" spc="2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 b="1">
                <a:solidFill>
                  <a:srgbClr val="1B1D25"/>
                </a:solidFill>
                <a:latin typeface="맑은 고딕"/>
                <a:cs typeface="맑은 고딕"/>
              </a:rPr>
              <a:t>F1</a:t>
            </a:r>
            <a:r>
              <a:rPr dirty="0" sz="950" spc="2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 b="1">
                <a:solidFill>
                  <a:srgbClr val="1B1D25"/>
                </a:solidFill>
                <a:latin typeface="맑은 고딕"/>
                <a:cs typeface="맑은 고딕"/>
              </a:rPr>
              <a:t>·</a:t>
            </a:r>
            <a:r>
              <a:rPr dirty="0" sz="950" spc="20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 b="1">
                <a:solidFill>
                  <a:srgbClr val="1B1D25"/>
                </a:solidFill>
                <a:latin typeface="맑은 고딕"/>
                <a:cs typeface="맑은 고딕"/>
              </a:rPr>
              <a:t>Recall</a:t>
            </a:r>
            <a:r>
              <a:rPr dirty="0" sz="950" spc="2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 spc="-50" b="1">
                <a:solidFill>
                  <a:srgbClr val="1B1D25"/>
                </a:solidFill>
                <a:latin typeface="맑은 고딕"/>
                <a:cs typeface="맑은 고딕"/>
              </a:rPr>
              <a:t>· </a:t>
            </a:r>
            <a:r>
              <a:rPr dirty="0" sz="950" b="1">
                <a:solidFill>
                  <a:srgbClr val="1B1D25"/>
                </a:solidFill>
                <a:latin typeface="맑은 고딕"/>
                <a:cs typeface="맑은 고딕"/>
              </a:rPr>
              <a:t>ROC-AUC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를</a:t>
            </a:r>
            <a:r>
              <a:rPr dirty="0" sz="950" spc="2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핵심</a:t>
            </a:r>
            <a:r>
              <a:rPr dirty="0" sz="950" spc="2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지표로</a:t>
            </a:r>
            <a:r>
              <a:rPr dirty="0" sz="950" spc="2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 spc="-10">
                <a:solidFill>
                  <a:srgbClr val="1B1D25"/>
                </a:solidFill>
                <a:latin typeface="맑은 고딕"/>
                <a:cs typeface="맑은 고딕"/>
              </a:rPr>
              <a:t>사용했습니다.</a:t>
            </a:r>
            <a:endParaRPr sz="950">
              <a:latin typeface="맑은 고딕"/>
              <a:cs typeface="맑은 고딕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504824" y="3152774"/>
          <a:ext cx="4657725" cy="24383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9995"/>
                <a:gridCol w="1797685"/>
                <a:gridCol w="1630680"/>
              </a:tblGrid>
              <a:tr h="31369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900" b="1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진행 </a:t>
                      </a:r>
                      <a:r>
                        <a:rPr dirty="0" sz="900" spc="-25" b="1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단계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5725">
                    <a:solidFill>
                      <a:srgbClr val="2E3C8F"/>
                    </a:solidFill>
                  </a:tcPr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내용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5725">
                    <a:solidFill>
                      <a:srgbClr val="2E3C8F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결과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5725">
                    <a:solidFill>
                      <a:srgbClr val="2E3C8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90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① </a:t>
                      </a: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베이스라인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76200">
                    <a:lnB w="9525">
                      <a:solidFill>
                        <a:srgbClr val="E6E7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90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5개 모델 </a:t>
                      </a:r>
                      <a:r>
                        <a:rPr dirty="0" sz="900" spc="-2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비교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76200">
                    <a:lnB w="9525">
                      <a:solidFill>
                        <a:srgbClr val="E6E7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90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LightGBM </a:t>
                      </a:r>
                      <a:r>
                        <a:rPr dirty="0" sz="900" spc="-2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선정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76200">
                    <a:lnB w="9525">
                      <a:solidFill>
                        <a:srgbClr val="E6E7F1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90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② 피처 </a:t>
                      </a: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엔지니어링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90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파생변수 3종 </a:t>
                      </a:r>
                      <a:r>
                        <a:rPr dirty="0" sz="900" spc="-2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실험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90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개선 확인 후 </a:t>
                      </a:r>
                      <a:r>
                        <a:rPr dirty="0" sz="900" spc="-2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미채택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90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③ </a:t>
                      </a: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하이퍼파라미터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90170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90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GridSearchCV</a:t>
                      </a:r>
                      <a:r>
                        <a:rPr dirty="0" sz="900" spc="-1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108조합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90170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90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n_estimators만</a:t>
                      </a:r>
                      <a:r>
                        <a:rPr dirty="0" sz="900" spc="-1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900" spc="-2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변경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90170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900" spc="45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➃</a:t>
                      </a:r>
                      <a:r>
                        <a:rPr dirty="0" sz="90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 앙상블 </a:t>
                      </a:r>
                      <a:r>
                        <a:rPr dirty="0" sz="900" spc="-2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검증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90170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Voting·Stacking</a:t>
                      </a:r>
                      <a:r>
                        <a:rPr dirty="0" sz="900" spc="5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900" spc="-2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비교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90170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90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단독 모델 </a:t>
                      </a:r>
                      <a:r>
                        <a:rPr dirty="0" sz="900" spc="-2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유지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90170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90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⑤ 최종 </a:t>
                      </a:r>
                      <a:r>
                        <a:rPr dirty="0" sz="900" spc="-2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평가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90170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Test</a:t>
                      </a:r>
                      <a:r>
                        <a:rPr dirty="0" sz="900" spc="-3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90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1회</a:t>
                      </a:r>
                      <a:r>
                        <a:rPr dirty="0" sz="900" spc="-3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900" spc="-2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평가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90170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Test</a:t>
                      </a:r>
                      <a:r>
                        <a:rPr dirty="0" sz="900" spc="-3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90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F1</a:t>
                      </a:r>
                      <a:r>
                        <a:rPr dirty="0" sz="900" spc="-3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0.9281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90170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90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⑥ SHAP </a:t>
                      </a:r>
                      <a:r>
                        <a:rPr dirty="0" sz="900" spc="-2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해석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90170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90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기여도 기반 이탈원인 </a:t>
                      </a:r>
                      <a:r>
                        <a:rPr dirty="0" sz="900" spc="-2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유형화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90170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90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거래활동 급감형 </a:t>
                      </a:r>
                      <a:r>
                        <a:rPr dirty="0" sz="900" spc="-2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98%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90170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90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⑦</a:t>
                      </a: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 Lift/Gain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90170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90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타겟팅 효율 </a:t>
                      </a:r>
                      <a:r>
                        <a:rPr dirty="0" sz="900" spc="-2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분석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90170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90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상위 10% → 61.7% </a:t>
                      </a:r>
                      <a:r>
                        <a:rPr dirty="0" sz="900" spc="-2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포착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90170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 descr=""/>
          <p:cNvSpPr txBox="1"/>
          <p:nvPr/>
        </p:nvSpPr>
        <p:spPr>
          <a:xfrm>
            <a:off x="5513139" y="2197100"/>
            <a:ext cx="4641215" cy="621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2E3C8F"/>
                </a:solidFill>
                <a:latin typeface="맑은 고딕"/>
                <a:cs typeface="맑은 고딕"/>
              </a:rPr>
              <a:t>최종 </a:t>
            </a:r>
            <a:r>
              <a:rPr dirty="0" sz="1050" spc="-25" b="1">
                <a:solidFill>
                  <a:srgbClr val="2E3C8F"/>
                </a:solidFill>
                <a:latin typeface="맑은 고딕"/>
                <a:cs typeface="맑은 고딕"/>
              </a:rPr>
              <a:t>결론</a:t>
            </a:r>
            <a:endParaRPr sz="1050">
              <a:latin typeface="맑은 고딕"/>
              <a:cs typeface="맑은 고딕"/>
            </a:endParaRPr>
          </a:p>
          <a:p>
            <a:pPr marL="12700" marR="5080">
              <a:lnSpc>
                <a:spcPct val="131600"/>
              </a:lnSpc>
              <a:spcBef>
                <a:spcPts val="430"/>
              </a:spcBef>
            </a:pPr>
            <a:r>
              <a:rPr dirty="0" sz="950" b="1">
                <a:solidFill>
                  <a:srgbClr val="1B1D25"/>
                </a:solidFill>
                <a:latin typeface="맑은 고딕"/>
                <a:cs typeface="맑은 고딕"/>
              </a:rPr>
              <a:t>원본</a:t>
            </a:r>
            <a:r>
              <a:rPr dirty="0" sz="950" spc="2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 b="1">
                <a:solidFill>
                  <a:srgbClr val="1B1D25"/>
                </a:solidFill>
                <a:latin typeface="맑은 고딕"/>
                <a:cs typeface="맑은 고딕"/>
              </a:rPr>
              <a:t>피처</a:t>
            </a:r>
            <a:r>
              <a:rPr dirty="0" sz="950" spc="30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 b="1">
                <a:solidFill>
                  <a:srgbClr val="1B1D25"/>
                </a:solidFill>
                <a:latin typeface="맑은 고딕"/>
                <a:cs typeface="맑은 고딕"/>
              </a:rPr>
              <a:t>기반</a:t>
            </a:r>
            <a:r>
              <a:rPr dirty="0" sz="950" spc="30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 b="1">
                <a:solidFill>
                  <a:srgbClr val="1B1D25"/>
                </a:solidFill>
                <a:latin typeface="맑은 고딕"/>
                <a:cs typeface="맑은 고딕"/>
              </a:rPr>
              <a:t>튜닝</a:t>
            </a:r>
            <a:r>
              <a:rPr dirty="0" sz="950" spc="2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 b="1">
                <a:solidFill>
                  <a:srgbClr val="1B1D25"/>
                </a:solidFill>
                <a:latin typeface="맑은 고딕"/>
                <a:cs typeface="맑은 고딕"/>
              </a:rPr>
              <a:t>LightGBM</a:t>
            </a:r>
            <a:r>
              <a:rPr dirty="0" sz="950" spc="30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 b="1">
                <a:solidFill>
                  <a:srgbClr val="1B1D25"/>
                </a:solidFill>
                <a:latin typeface="맑은 고딕"/>
                <a:cs typeface="맑은 고딕"/>
              </a:rPr>
              <a:t>단독</a:t>
            </a:r>
            <a:r>
              <a:rPr dirty="0" sz="950" spc="30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 b="1">
                <a:solidFill>
                  <a:srgbClr val="1B1D25"/>
                </a:solidFill>
                <a:latin typeface="맑은 고딕"/>
                <a:cs typeface="맑은 고딕"/>
              </a:rPr>
              <a:t>모델.</a:t>
            </a:r>
            <a:r>
              <a:rPr dirty="0" sz="950" spc="2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앙상블과</a:t>
            </a:r>
            <a:r>
              <a:rPr dirty="0" sz="950" spc="3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파생변수는</a:t>
            </a:r>
            <a:r>
              <a:rPr dirty="0" sz="950" spc="3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실험으로</a:t>
            </a:r>
            <a:r>
              <a:rPr dirty="0" sz="950" spc="2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검증한</a:t>
            </a:r>
            <a:r>
              <a:rPr dirty="0" sz="950" spc="3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 spc="-50">
                <a:solidFill>
                  <a:srgbClr val="1B1D25"/>
                </a:solidFill>
                <a:latin typeface="맑은 고딕"/>
                <a:cs typeface="맑은 고딕"/>
              </a:rPr>
              <a:t>뒤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근거를</a:t>
            </a:r>
            <a:r>
              <a:rPr dirty="0" sz="950" spc="2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남기고</a:t>
            </a:r>
            <a:r>
              <a:rPr dirty="0" sz="950" spc="3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 spc="-10">
                <a:solidFill>
                  <a:srgbClr val="1B1D25"/>
                </a:solidFill>
                <a:latin typeface="맑은 고딕"/>
                <a:cs typeface="맑은 고딕"/>
              </a:rPr>
              <a:t>기각했습니다.</a:t>
            </a:r>
            <a:endParaRPr sz="950">
              <a:latin typeface="맑은 고딕"/>
              <a:cs typeface="맑은 고딕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5524499" y="2962274"/>
            <a:ext cx="1457325" cy="676275"/>
          </a:xfrm>
          <a:custGeom>
            <a:avLst/>
            <a:gdLst/>
            <a:ahLst/>
            <a:cxnLst/>
            <a:rect l="l" t="t" r="r" b="b"/>
            <a:pathLst>
              <a:path w="1457325" h="676275">
                <a:moveTo>
                  <a:pt x="1373234" y="676274"/>
                </a:moveTo>
                <a:lnTo>
                  <a:pt x="84090" y="676274"/>
                </a:lnTo>
                <a:lnTo>
                  <a:pt x="78237" y="675698"/>
                </a:lnTo>
                <a:lnTo>
                  <a:pt x="35084" y="657823"/>
                </a:lnTo>
                <a:lnTo>
                  <a:pt x="9111" y="626175"/>
                </a:lnTo>
                <a:lnTo>
                  <a:pt x="0" y="592184"/>
                </a:lnTo>
                <a:lnTo>
                  <a:pt x="0" y="586274"/>
                </a:lnTo>
                <a:lnTo>
                  <a:pt x="0" y="84090"/>
                </a:lnTo>
                <a:lnTo>
                  <a:pt x="11884" y="44912"/>
                </a:lnTo>
                <a:lnTo>
                  <a:pt x="44911" y="11884"/>
                </a:lnTo>
                <a:lnTo>
                  <a:pt x="84090" y="0"/>
                </a:lnTo>
                <a:lnTo>
                  <a:pt x="1373234" y="0"/>
                </a:lnTo>
                <a:lnTo>
                  <a:pt x="1412411" y="11883"/>
                </a:lnTo>
                <a:lnTo>
                  <a:pt x="1445439" y="44912"/>
                </a:lnTo>
                <a:lnTo>
                  <a:pt x="1457324" y="84090"/>
                </a:lnTo>
                <a:lnTo>
                  <a:pt x="1457324" y="592184"/>
                </a:lnTo>
                <a:lnTo>
                  <a:pt x="1445439" y="631362"/>
                </a:lnTo>
                <a:lnTo>
                  <a:pt x="1412411" y="664389"/>
                </a:lnTo>
                <a:lnTo>
                  <a:pt x="1379087" y="675698"/>
                </a:lnTo>
                <a:lnTo>
                  <a:pt x="1373234" y="676274"/>
                </a:lnTo>
                <a:close/>
              </a:path>
            </a:pathLst>
          </a:custGeom>
          <a:solidFill>
            <a:srgbClr val="F1F4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5929708" y="2943782"/>
            <a:ext cx="653415" cy="585470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600" spc="-20" b="1">
                <a:solidFill>
                  <a:srgbClr val="2E3C8F"/>
                </a:solidFill>
                <a:latin typeface="맑은 고딕"/>
                <a:cs typeface="맑은 고딕"/>
              </a:rPr>
              <a:t>0.9012</a:t>
            </a:r>
            <a:endParaRPr sz="1600">
              <a:latin typeface="맑은 고딕"/>
              <a:cs typeface="맑은 고딕"/>
            </a:endParaRPr>
          </a:p>
          <a:p>
            <a:pPr marL="19685">
              <a:lnSpc>
                <a:spcPct val="100000"/>
              </a:lnSpc>
              <a:spcBef>
                <a:spcPts val="530"/>
              </a:spcBef>
            </a:pPr>
            <a:r>
              <a:rPr dirty="0" sz="800">
                <a:solidFill>
                  <a:srgbClr val="5B606F"/>
                </a:solidFill>
                <a:latin typeface="맑은 고딕"/>
                <a:cs typeface="맑은 고딕"/>
              </a:rPr>
              <a:t>Validation</a:t>
            </a:r>
            <a:r>
              <a:rPr dirty="0" sz="800" spc="10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800" spc="-25">
                <a:solidFill>
                  <a:srgbClr val="5B606F"/>
                </a:solidFill>
                <a:latin typeface="맑은 고딕"/>
                <a:cs typeface="맑은 고딕"/>
              </a:rPr>
              <a:t>F1</a:t>
            </a:r>
            <a:endParaRPr sz="800">
              <a:latin typeface="맑은 고딕"/>
              <a:cs typeface="맑은 고딕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7124699" y="2962274"/>
            <a:ext cx="1457325" cy="676275"/>
          </a:xfrm>
          <a:custGeom>
            <a:avLst/>
            <a:gdLst/>
            <a:ahLst/>
            <a:cxnLst/>
            <a:rect l="l" t="t" r="r" b="b"/>
            <a:pathLst>
              <a:path w="1457325" h="676275">
                <a:moveTo>
                  <a:pt x="1373235" y="676274"/>
                </a:moveTo>
                <a:lnTo>
                  <a:pt x="84090" y="676274"/>
                </a:lnTo>
                <a:lnTo>
                  <a:pt x="78237" y="675698"/>
                </a:lnTo>
                <a:lnTo>
                  <a:pt x="35085" y="657823"/>
                </a:lnTo>
                <a:lnTo>
                  <a:pt x="9111" y="626175"/>
                </a:lnTo>
                <a:lnTo>
                  <a:pt x="0" y="592184"/>
                </a:lnTo>
                <a:lnTo>
                  <a:pt x="0" y="586274"/>
                </a:lnTo>
                <a:lnTo>
                  <a:pt x="0" y="84090"/>
                </a:lnTo>
                <a:lnTo>
                  <a:pt x="11884" y="44912"/>
                </a:lnTo>
                <a:lnTo>
                  <a:pt x="44911" y="11884"/>
                </a:lnTo>
                <a:lnTo>
                  <a:pt x="84090" y="0"/>
                </a:lnTo>
                <a:lnTo>
                  <a:pt x="1373235" y="0"/>
                </a:lnTo>
                <a:lnTo>
                  <a:pt x="1412412" y="11883"/>
                </a:lnTo>
                <a:lnTo>
                  <a:pt x="1445440" y="44912"/>
                </a:lnTo>
                <a:lnTo>
                  <a:pt x="1457324" y="84090"/>
                </a:lnTo>
                <a:lnTo>
                  <a:pt x="1457324" y="592184"/>
                </a:lnTo>
                <a:lnTo>
                  <a:pt x="1445440" y="631362"/>
                </a:lnTo>
                <a:lnTo>
                  <a:pt x="1412412" y="664389"/>
                </a:lnTo>
                <a:lnTo>
                  <a:pt x="1379087" y="675698"/>
                </a:lnTo>
                <a:lnTo>
                  <a:pt x="1373235" y="676274"/>
                </a:lnTo>
                <a:close/>
              </a:path>
            </a:pathLst>
          </a:custGeom>
          <a:solidFill>
            <a:srgbClr val="F1F4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7427813" y="2943782"/>
            <a:ext cx="858519" cy="585470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1095"/>
              </a:spcBef>
            </a:pPr>
            <a:r>
              <a:rPr dirty="0" sz="1600" spc="-10" b="1">
                <a:solidFill>
                  <a:srgbClr val="2E3C8F"/>
                </a:solidFill>
                <a:latin typeface="맑은 고딕"/>
                <a:cs typeface="맑은 고딕"/>
              </a:rPr>
              <a:t>0.9281</a:t>
            </a:r>
            <a:endParaRPr sz="1600">
              <a:latin typeface="맑은 고딕"/>
              <a:cs typeface="맑은 고딕"/>
            </a:endParaRPr>
          </a:p>
          <a:p>
            <a:pPr algn="ctr">
              <a:lnSpc>
                <a:spcPct val="100000"/>
              </a:lnSpc>
              <a:spcBef>
                <a:spcPts val="530"/>
              </a:spcBef>
            </a:pPr>
            <a:r>
              <a:rPr dirty="0" sz="800">
                <a:solidFill>
                  <a:srgbClr val="5B606F"/>
                </a:solidFill>
                <a:latin typeface="맑은 고딕"/>
                <a:cs typeface="맑은 고딕"/>
              </a:rPr>
              <a:t>Test</a:t>
            </a:r>
            <a:r>
              <a:rPr dirty="0" sz="8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5B606F"/>
                </a:solidFill>
                <a:latin typeface="맑은 고딕"/>
                <a:cs typeface="맑은 고딕"/>
              </a:rPr>
              <a:t>F1 (1회 </a:t>
            </a:r>
            <a:r>
              <a:rPr dirty="0" sz="800" spc="-25">
                <a:solidFill>
                  <a:srgbClr val="5B606F"/>
                </a:solidFill>
                <a:latin typeface="맑은 고딕"/>
                <a:cs typeface="맑은 고딕"/>
              </a:rPr>
              <a:t>평가)</a:t>
            </a:r>
            <a:endParaRPr sz="800">
              <a:latin typeface="맑은 고딕"/>
              <a:cs typeface="맑은 고딕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8734424" y="2962274"/>
            <a:ext cx="1457325" cy="676275"/>
          </a:xfrm>
          <a:custGeom>
            <a:avLst/>
            <a:gdLst/>
            <a:ahLst/>
            <a:cxnLst/>
            <a:rect l="l" t="t" r="r" b="b"/>
            <a:pathLst>
              <a:path w="1457325" h="676275">
                <a:moveTo>
                  <a:pt x="1373233" y="676274"/>
                </a:moveTo>
                <a:lnTo>
                  <a:pt x="84090" y="676274"/>
                </a:lnTo>
                <a:lnTo>
                  <a:pt x="78237" y="675698"/>
                </a:lnTo>
                <a:lnTo>
                  <a:pt x="35084" y="657823"/>
                </a:lnTo>
                <a:lnTo>
                  <a:pt x="9111" y="626175"/>
                </a:lnTo>
                <a:lnTo>
                  <a:pt x="0" y="592184"/>
                </a:lnTo>
                <a:lnTo>
                  <a:pt x="0" y="586274"/>
                </a:lnTo>
                <a:lnTo>
                  <a:pt x="0" y="84090"/>
                </a:lnTo>
                <a:lnTo>
                  <a:pt x="11884" y="44912"/>
                </a:lnTo>
                <a:lnTo>
                  <a:pt x="44910" y="11884"/>
                </a:lnTo>
                <a:lnTo>
                  <a:pt x="84090" y="0"/>
                </a:lnTo>
                <a:lnTo>
                  <a:pt x="1373233" y="0"/>
                </a:lnTo>
                <a:lnTo>
                  <a:pt x="1412411" y="11883"/>
                </a:lnTo>
                <a:lnTo>
                  <a:pt x="1445438" y="44912"/>
                </a:lnTo>
                <a:lnTo>
                  <a:pt x="1457324" y="84090"/>
                </a:lnTo>
                <a:lnTo>
                  <a:pt x="1457324" y="592184"/>
                </a:lnTo>
                <a:lnTo>
                  <a:pt x="1445438" y="631362"/>
                </a:lnTo>
                <a:lnTo>
                  <a:pt x="1412411" y="664389"/>
                </a:lnTo>
                <a:lnTo>
                  <a:pt x="1379085" y="675698"/>
                </a:lnTo>
                <a:lnTo>
                  <a:pt x="1373233" y="676274"/>
                </a:lnTo>
                <a:close/>
              </a:path>
            </a:pathLst>
          </a:custGeom>
          <a:solidFill>
            <a:srgbClr val="F1F4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9191277" y="2943782"/>
            <a:ext cx="538480" cy="585470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600" spc="-10" b="1">
                <a:solidFill>
                  <a:srgbClr val="2E3C8F"/>
                </a:solidFill>
                <a:latin typeface="맑은 고딕"/>
                <a:cs typeface="맑은 고딕"/>
              </a:rPr>
              <a:t>0.994</a:t>
            </a:r>
            <a:endParaRPr sz="1600">
              <a:latin typeface="맑은 고딕"/>
              <a:cs typeface="맑은 고딕"/>
            </a:endParaRPr>
          </a:p>
          <a:p>
            <a:pPr marL="38100">
              <a:lnSpc>
                <a:spcPct val="100000"/>
              </a:lnSpc>
              <a:spcBef>
                <a:spcPts val="530"/>
              </a:spcBef>
            </a:pPr>
            <a:r>
              <a:rPr dirty="0" sz="800">
                <a:solidFill>
                  <a:srgbClr val="5B606F"/>
                </a:solidFill>
                <a:latin typeface="맑은 고딕"/>
                <a:cs typeface="맑은 고딕"/>
              </a:rPr>
              <a:t>ROC-</a:t>
            </a:r>
            <a:r>
              <a:rPr dirty="0" sz="800" spc="-25">
                <a:solidFill>
                  <a:srgbClr val="5B606F"/>
                </a:solidFill>
                <a:latin typeface="맑은 고딕"/>
                <a:cs typeface="맑은 고딕"/>
              </a:rPr>
              <a:t>AUC</a:t>
            </a:r>
            <a:endParaRPr sz="800">
              <a:latin typeface="맑은 고딕"/>
              <a:cs typeface="맑은 고딕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5524499" y="3771899"/>
            <a:ext cx="4667250" cy="542925"/>
            <a:chOff x="5524499" y="3771899"/>
            <a:chExt cx="4667250" cy="542925"/>
          </a:xfrm>
        </p:grpSpPr>
        <p:sp>
          <p:nvSpPr>
            <p:cNvPr id="15" name="object 15" descr=""/>
            <p:cNvSpPr/>
            <p:nvPr/>
          </p:nvSpPr>
          <p:spPr>
            <a:xfrm>
              <a:off x="5581649" y="3771899"/>
              <a:ext cx="4610100" cy="542925"/>
            </a:xfrm>
            <a:custGeom>
              <a:avLst/>
              <a:gdLst/>
              <a:ahLst/>
              <a:cxnLst/>
              <a:rect l="l" t="t" r="r" b="b"/>
              <a:pathLst>
                <a:path w="4610100" h="542925">
                  <a:moveTo>
                    <a:pt x="0" y="542924"/>
                  </a:moveTo>
                  <a:lnTo>
                    <a:pt x="4610099" y="542924"/>
                  </a:lnTo>
                  <a:lnTo>
                    <a:pt x="4610099" y="0"/>
                  </a:lnTo>
                  <a:lnTo>
                    <a:pt x="0" y="0"/>
                  </a:lnTo>
                  <a:lnTo>
                    <a:pt x="0" y="542924"/>
                  </a:lnTo>
                  <a:close/>
                </a:path>
              </a:pathLst>
            </a:custGeom>
            <a:solidFill>
              <a:srgbClr val="F4F5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524499" y="3771899"/>
              <a:ext cx="57150" cy="542925"/>
            </a:xfrm>
            <a:custGeom>
              <a:avLst/>
              <a:gdLst/>
              <a:ahLst/>
              <a:cxnLst/>
              <a:rect l="l" t="t" r="r" b="b"/>
              <a:pathLst>
                <a:path w="57150" h="542925">
                  <a:moveTo>
                    <a:pt x="57149" y="542924"/>
                  </a:moveTo>
                  <a:lnTo>
                    <a:pt x="0" y="542924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542924"/>
                  </a:lnTo>
                  <a:close/>
                </a:path>
              </a:pathLst>
            </a:custGeom>
            <a:solidFill>
              <a:srgbClr val="2E3C8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5581649" y="3820655"/>
            <a:ext cx="4610100" cy="387350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0">
              <a:lnSpc>
                <a:spcPct val="100000"/>
              </a:lnSpc>
              <a:spcBef>
                <a:spcPts val="440"/>
              </a:spcBef>
            </a:pP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운용</a:t>
            </a:r>
            <a:r>
              <a:rPr dirty="0" sz="900" spc="3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원칙</a:t>
            </a:r>
            <a:r>
              <a:rPr dirty="0" sz="900" spc="3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—</a:t>
            </a:r>
            <a:r>
              <a:rPr dirty="0" sz="900" spc="3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Validation으로만</a:t>
            </a:r>
            <a:r>
              <a:rPr dirty="0" sz="900" spc="30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모델을</a:t>
            </a:r>
            <a:r>
              <a:rPr dirty="0" sz="900" spc="3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고르고,</a:t>
            </a:r>
            <a:r>
              <a:rPr dirty="0" sz="900" spc="3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Test는</a:t>
            </a:r>
            <a:r>
              <a:rPr dirty="0" sz="900" spc="3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최종</a:t>
            </a:r>
            <a:r>
              <a:rPr dirty="0" sz="900" spc="30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확정</a:t>
            </a:r>
            <a:r>
              <a:rPr dirty="0" sz="900" spc="3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후</a:t>
            </a:r>
            <a:r>
              <a:rPr dirty="0" sz="900" spc="3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딱</a:t>
            </a:r>
            <a:r>
              <a:rPr dirty="0" sz="900" spc="30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한</a:t>
            </a:r>
            <a:r>
              <a:rPr dirty="0" sz="900" spc="3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번</a:t>
            </a:r>
            <a:r>
              <a:rPr dirty="0" sz="900" spc="3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spc="-25" b="1">
                <a:solidFill>
                  <a:srgbClr val="1B1D25"/>
                </a:solidFill>
                <a:latin typeface="맑은 고딕"/>
                <a:cs typeface="맑은 고딕"/>
              </a:rPr>
              <a:t>연다.</a:t>
            </a:r>
            <a:endParaRPr sz="900">
              <a:latin typeface="맑은 고딕"/>
              <a:cs typeface="맑은 고딕"/>
            </a:endParaRPr>
          </a:p>
          <a:p>
            <a:pPr marL="127000">
              <a:lnSpc>
                <a:spcPct val="100000"/>
              </a:lnSpc>
              <a:spcBef>
                <a:spcPts val="345"/>
              </a:spcBef>
            </a:pP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전처리는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Pipeline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안에서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Train에만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fit해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데이터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누수를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spc="-10">
                <a:solidFill>
                  <a:srgbClr val="1B1D25"/>
                </a:solidFill>
                <a:latin typeface="맑은 고딕"/>
                <a:cs typeface="맑은 고딕"/>
              </a:rPr>
              <a:t>차단했다.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분류</a:t>
            </a:r>
            <a:r>
              <a:rPr dirty="0" spc="-5"/>
              <a:t> </a:t>
            </a:r>
            <a:r>
              <a:rPr dirty="0"/>
              <a:t>모델</a:t>
            </a:r>
            <a:r>
              <a:rPr dirty="0" spc="-5"/>
              <a:t> </a:t>
            </a:r>
            <a:r>
              <a:rPr dirty="0"/>
              <a:t>전략</a:t>
            </a:r>
            <a:r>
              <a:rPr dirty="0" spc="-5"/>
              <a:t> </a:t>
            </a:r>
            <a:r>
              <a:rPr dirty="0"/>
              <a:t>발표</a:t>
            </a:r>
            <a:r>
              <a:rPr dirty="0" spc="-5"/>
              <a:t> </a:t>
            </a:r>
            <a:r>
              <a:rPr dirty="0" spc="-25"/>
              <a:t>자료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7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91232" y="403256"/>
            <a:ext cx="146304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55" b="1">
                <a:solidFill>
                  <a:srgbClr val="2E3C8F"/>
                </a:solidFill>
                <a:latin typeface="맑은 고딕"/>
                <a:cs typeface="맑은 고딕"/>
              </a:rPr>
              <a:t>분류</a:t>
            </a:r>
            <a:r>
              <a:rPr dirty="0" sz="1000" spc="220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1000" b="1">
                <a:solidFill>
                  <a:srgbClr val="2E3C8F"/>
                </a:solidFill>
                <a:latin typeface="맑은 고딕"/>
                <a:cs typeface="맑은 고딕"/>
              </a:rPr>
              <a:t>—</a:t>
            </a:r>
            <a:r>
              <a:rPr dirty="0" sz="1000" spc="220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1000" b="1">
                <a:solidFill>
                  <a:srgbClr val="2E3C8F"/>
                </a:solidFill>
                <a:latin typeface="맑은 고딕"/>
                <a:cs typeface="맑은 고딕"/>
              </a:rPr>
              <a:t>①</a:t>
            </a:r>
            <a:r>
              <a:rPr dirty="0" sz="1000" spc="220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1000" spc="65" b="1">
                <a:solidFill>
                  <a:srgbClr val="2E3C8F"/>
                </a:solidFill>
                <a:latin typeface="맑은 고딕"/>
                <a:cs typeface="맑은 고딕"/>
              </a:rPr>
              <a:t>베이스라인</a:t>
            </a:r>
            <a:endParaRPr sz="100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1232" y="647763"/>
            <a:ext cx="4104640" cy="284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/>
              <a:t>5개</a:t>
            </a:r>
            <a:r>
              <a:rPr dirty="0" sz="1700" spc="-85"/>
              <a:t> </a:t>
            </a:r>
            <a:r>
              <a:rPr dirty="0" sz="1700"/>
              <a:t>모델</a:t>
            </a:r>
            <a:r>
              <a:rPr dirty="0" sz="1700" spc="-85"/>
              <a:t> </a:t>
            </a:r>
            <a:r>
              <a:rPr dirty="0" sz="1700"/>
              <a:t>비교</a:t>
            </a:r>
            <a:r>
              <a:rPr dirty="0" sz="1700" spc="-85"/>
              <a:t> </a:t>
            </a:r>
            <a:r>
              <a:rPr dirty="0" sz="1700"/>
              <a:t>—</a:t>
            </a:r>
            <a:r>
              <a:rPr dirty="0" sz="1700" spc="-85"/>
              <a:t> </a:t>
            </a:r>
            <a:r>
              <a:rPr dirty="0" sz="1700" spc="-25"/>
              <a:t>LightGBM이</a:t>
            </a:r>
            <a:r>
              <a:rPr dirty="0" sz="1700" spc="-85"/>
              <a:t> </a:t>
            </a:r>
            <a:r>
              <a:rPr dirty="0" sz="1700"/>
              <a:t>전</a:t>
            </a:r>
            <a:r>
              <a:rPr dirty="0" sz="1700" spc="-85"/>
              <a:t> </a:t>
            </a:r>
            <a:r>
              <a:rPr dirty="0" sz="1700"/>
              <a:t>지표</a:t>
            </a:r>
            <a:r>
              <a:rPr dirty="0" sz="1700" spc="-80"/>
              <a:t> </a:t>
            </a:r>
            <a:r>
              <a:rPr dirty="0" sz="1700" spc="-25"/>
              <a:t>1위</a:t>
            </a:r>
            <a:endParaRPr sz="1700"/>
          </a:p>
        </p:txBody>
      </p:sp>
      <p:sp>
        <p:nvSpPr>
          <p:cNvPr id="4" name="object 4" descr=""/>
          <p:cNvSpPr txBox="1"/>
          <p:nvPr/>
        </p:nvSpPr>
        <p:spPr>
          <a:xfrm>
            <a:off x="491232" y="965231"/>
            <a:ext cx="64643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동일한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분할(60/20/20,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stratify)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·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동일한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전처리 위에서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선형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·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배깅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· 부스팅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·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신경망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계열을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나란히 </a:t>
            </a:r>
            <a:r>
              <a:rPr dirty="0" sz="1000" spc="-10">
                <a:solidFill>
                  <a:srgbClr val="5B606F"/>
                </a:solidFill>
                <a:latin typeface="맑은 고딕"/>
                <a:cs typeface="맑은 고딕"/>
              </a:rPr>
              <a:t>비교했습니다.</a:t>
            </a:r>
            <a:endParaRPr sz="1000">
              <a:latin typeface="맑은 고딕"/>
              <a:cs typeface="맑은 고딕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209" y="1908551"/>
            <a:ext cx="4975167" cy="2906836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814486" y="4972113"/>
            <a:ext cx="459930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모델별</a:t>
            </a:r>
            <a:r>
              <a:rPr dirty="0" sz="800" spc="-25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Validation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성능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—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정확도는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불균형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착시(전부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"유지"로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찍어도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84%)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때문에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의도적으로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 spc="-25">
                <a:solidFill>
                  <a:srgbClr val="8A8F9D"/>
                </a:solidFill>
                <a:latin typeface="맑은 고딕"/>
                <a:cs typeface="맑은 고딕"/>
              </a:rPr>
              <a:t>제외</a:t>
            </a:r>
            <a:endParaRPr sz="800">
              <a:latin typeface="맑은 고딕"/>
              <a:cs typeface="맑은 고딕"/>
            </a:endParaRP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6010274" y="1276349"/>
          <a:ext cx="4181475" cy="1140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3220"/>
                <a:gridCol w="1151890"/>
                <a:gridCol w="773429"/>
                <a:gridCol w="622300"/>
              </a:tblGrid>
              <a:tr h="31369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모델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5725">
                    <a:solidFill>
                      <a:srgbClr val="2E3C8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066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Recall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5725">
                    <a:solidFill>
                      <a:srgbClr val="2E3C8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066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F1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5725">
                    <a:solidFill>
                      <a:srgbClr val="2E3C8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953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AUC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5725">
                    <a:solidFill>
                      <a:srgbClr val="2E3C8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LogisticRegression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76200">
                    <a:lnB w="9525">
                      <a:solidFill>
                        <a:srgbClr val="E6E7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40029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0.843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76200">
                    <a:lnB w="9525">
                      <a:solidFill>
                        <a:srgbClr val="E6E7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4066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0.631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76200">
                    <a:lnB w="9525">
                      <a:solidFill>
                        <a:srgbClr val="E6E7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953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0.926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76200">
                    <a:lnB w="9525">
                      <a:solidFill>
                        <a:srgbClr val="E6E7F1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90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MLP </a:t>
                      </a: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(64,32)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0029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0.766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066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0.764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953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0.958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</a:tr>
              <a:tr h="222885">
                <a:tc>
                  <a:txBody>
                    <a:bodyPr/>
                    <a:lstStyle/>
                    <a:p>
                      <a:pPr marL="94615">
                        <a:lnSpc>
                          <a:spcPts val="1019"/>
                        </a:lnSpc>
                        <a:spcBef>
                          <a:spcPts val="635"/>
                        </a:spcBef>
                      </a:pP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RandomForest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40029">
                        <a:lnSpc>
                          <a:spcPts val="1019"/>
                        </a:lnSpc>
                        <a:spcBef>
                          <a:spcPts val="635"/>
                        </a:spcBef>
                      </a:pP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0.868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40665">
                        <a:lnSpc>
                          <a:spcPts val="1019"/>
                        </a:lnSpc>
                        <a:spcBef>
                          <a:spcPts val="635"/>
                        </a:spcBef>
                      </a:pP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0.851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89535">
                        <a:lnSpc>
                          <a:spcPts val="1019"/>
                        </a:lnSpc>
                        <a:spcBef>
                          <a:spcPts val="635"/>
                        </a:spcBef>
                      </a:pP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0.986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6010274" y="2495549"/>
          <a:ext cx="4181475" cy="608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8910"/>
                <a:gridCol w="1337310"/>
                <a:gridCol w="773430"/>
                <a:gridCol w="631189"/>
              </a:tblGrid>
              <a:tr h="304165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XGBoost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3114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0.908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778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0.897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953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0.993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900" spc="-10" b="1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LightGBM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90170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E7F1E3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3114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900" spc="-10" b="1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0.908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90170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E7F1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900" spc="-10" b="1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0.901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90170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E7F1E3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953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900" spc="-10" b="1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0.994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90170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E7F1E3"/>
                    </a:solidFill>
                  </a:tcPr>
                </a:tc>
              </a:tr>
            </a:tbl>
          </a:graphicData>
        </a:graphic>
      </p:graphicFrame>
      <p:grpSp>
        <p:nvGrpSpPr>
          <p:cNvPr id="9" name="object 9" descr=""/>
          <p:cNvGrpSpPr/>
          <p:nvPr/>
        </p:nvGrpSpPr>
        <p:grpSpPr>
          <a:xfrm>
            <a:off x="6010274" y="3219449"/>
            <a:ext cx="4181475" cy="733425"/>
            <a:chOff x="6010274" y="3219449"/>
            <a:chExt cx="4181475" cy="733425"/>
          </a:xfrm>
        </p:grpSpPr>
        <p:sp>
          <p:nvSpPr>
            <p:cNvPr id="10" name="object 10" descr=""/>
            <p:cNvSpPr/>
            <p:nvPr/>
          </p:nvSpPr>
          <p:spPr>
            <a:xfrm>
              <a:off x="6067424" y="3219449"/>
              <a:ext cx="4124325" cy="733425"/>
            </a:xfrm>
            <a:custGeom>
              <a:avLst/>
              <a:gdLst/>
              <a:ahLst/>
              <a:cxnLst/>
              <a:rect l="l" t="t" r="r" b="b"/>
              <a:pathLst>
                <a:path w="4124325" h="733425">
                  <a:moveTo>
                    <a:pt x="0" y="733424"/>
                  </a:moveTo>
                  <a:lnTo>
                    <a:pt x="4124324" y="733424"/>
                  </a:lnTo>
                  <a:lnTo>
                    <a:pt x="4124324" y="0"/>
                  </a:lnTo>
                  <a:lnTo>
                    <a:pt x="0" y="0"/>
                  </a:lnTo>
                  <a:lnTo>
                    <a:pt x="0" y="733424"/>
                  </a:lnTo>
                  <a:close/>
                </a:path>
              </a:pathLst>
            </a:custGeom>
            <a:solidFill>
              <a:srgbClr val="F4F5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010274" y="3219449"/>
              <a:ext cx="57150" cy="733425"/>
            </a:xfrm>
            <a:custGeom>
              <a:avLst/>
              <a:gdLst/>
              <a:ahLst/>
              <a:cxnLst/>
              <a:rect l="l" t="t" r="r" b="b"/>
              <a:pathLst>
                <a:path w="57150" h="733425">
                  <a:moveTo>
                    <a:pt x="57149" y="733424"/>
                  </a:moveTo>
                  <a:lnTo>
                    <a:pt x="0" y="733424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733424"/>
                  </a:lnTo>
                  <a:close/>
                </a:path>
              </a:pathLst>
            </a:custGeom>
            <a:solidFill>
              <a:srgbClr val="2E3C8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6067424" y="3277730"/>
            <a:ext cx="4124325" cy="568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0" marR="183515">
              <a:lnSpc>
                <a:spcPct val="131900"/>
              </a:lnSpc>
              <a:spcBef>
                <a:spcPts val="95"/>
              </a:spcBef>
            </a:pP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선형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모델의</a:t>
            </a:r>
            <a:r>
              <a:rPr dirty="0" sz="900" spc="5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정밀도가</a:t>
            </a:r>
            <a:r>
              <a:rPr dirty="0" sz="900" spc="5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0.50까지</a:t>
            </a:r>
            <a:r>
              <a:rPr dirty="0" sz="900" spc="5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무너진</a:t>
            </a:r>
            <a:r>
              <a:rPr dirty="0" sz="900" spc="5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것은</a:t>
            </a:r>
            <a:r>
              <a:rPr dirty="0" sz="900" spc="5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이탈</a:t>
            </a:r>
            <a:r>
              <a:rPr dirty="0" sz="900" spc="5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경계가</a:t>
            </a:r>
            <a:r>
              <a:rPr dirty="0" sz="900" spc="5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선형</a:t>
            </a:r>
            <a:r>
              <a:rPr dirty="0" sz="900" spc="5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spc="-20" b="1">
                <a:solidFill>
                  <a:srgbClr val="1B1D25"/>
                </a:solidFill>
                <a:latin typeface="맑은 고딕"/>
                <a:cs typeface="맑은 고딕"/>
              </a:rPr>
              <a:t>분리면이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아니라는</a:t>
            </a:r>
            <a:r>
              <a:rPr dirty="0" sz="900" spc="50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신호.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트리</a:t>
            </a:r>
            <a:r>
              <a:rPr dirty="0" sz="900" spc="5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부스팅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두</a:t>
            </a:r>
            <a:r>
              <a:rPr dirty="0" sz="900" spc="5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종이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나란히</a:t>
            </a:r>
            <a:r>
              <a:rPr dirty="0" sz="900" spc="5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F1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0.90에</a:t>
            </a:r>
            <a:r>
              <a:rPr dirty="0" sz="900" spc="5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붙었으므로,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spc="-25">
                <a:solidFill>
                  <a:srgbClr val="1B1D25"/>
                </a:solidFill>
                <a:latin typeface="맑은 고딕"/>
                <a:cs typeface="맑은 고딕"/>
              </a:rPr>
              <a:t>이후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튜닝</a:t>
            </a:r>
            <a:r>
              <a:rPr dirty="0" sz="900" spc="6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자원을</a:t>
            </a:r>
            <a:r>
              <a:rPr dirty="0" sz="900" spc="6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LightGBM</a:t>
            </a:r>
            <a:r>
              <a:rPr dirty="0" sz="900" spc="6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하나에</a:t>
            </a:r>
            <a:r>
              <a:rPr dirty="0" sz="900" spc="70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집중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합니다</a:t>
            </a:r>
            <a:r>
              <a:rPr dirty="0" sz="900" spc="6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(학습</a:t>
            </a:r>
            <a:r>
              <a:rPr dirty="0" sz="900" spc="6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속도·범주형</a:t>
            </a:r>
            <a:r>
              <a:rPr dirty="0" sz="900" spc="6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처리</a:t>
            </a:r>
            <a:r>
              <a:rPr dirty="0" sz="900" spc="7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spc="-20">
                <a:solidFill>
                  <a:srgbClr val="1B1D25"/>
                </a:solidFill>
                <a:latin typeface="맑은 고딕"/>
                <a:cs typeface="맑은 고딕"/>
              </a:rPr>
              <a:t>이점).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분류</a:t>
            </a:r>
            <a:r>
              <a:rPr dirty="0" spc="-5"/>
              <a:t> </a:t>
            </a:r>
            <a:r>
              <a:rPr dirty="0"/>
              <a:t>모델</a:t>
            </a:r>
            <a:r>
              <a:rPr dirty="0" spc="-5"/>
              <a:t> </a:t>
            </a:r>
            <a:r>
              <a:rPr dirty="0"/>
              <a:t>전략</a:t>
            </a:r>
            <a:r>
              <a:rPr dirty="0" spc="-5"/>
              <a:t> </a:t>
            </a:r>
            <a:r>
              <a:rPr dirty="0"/>
              <a:t>발표</a:t>
            </a:r>
            <a:r>
              <a:rPr dirty="0" spc="-5"/>
              <a:t> </a:t>
            </a:r>
            <a:r>
              <a:rPr dirty="0" spc="-25"/>
              <a:t>자료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7</a:t>
            </a:fld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91232" y="403256"/>
            <a:ext cx="180403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55" b="1">
                <a:solidFill>
                  <a:srgbClr val="2E3C8F"/>
                </a:solidFill>
                <a:latin typeface="맑은 고딕"/>
                <a:cs typeface="맑은 고딕"/>
              </a:rPr>
              <a:t>분류</a:t>
            </a:r>
            <a:r>
              <a:rPr dirty="0" sz="1000" spc="220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1000" b="1">
                <a:solidFill>
                  <a:srgbClr val="2E3C8F"/>
                </a:solidFill>
                <a:latin typeface="맑은 고딕"/>
                <a:cs typeface="맑은 고딕"/>
              </a:rPr>
              <a:t>—</a:t>
            </a:r>
            <a:r>
              <a:rPr dirty="0" sz="1000" spc="220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1000" b="1">
                <a:solidFill>
                  <a:srgbClr val="2E3C8F"/>
                </a:solidFill>
                <a:latin typeface="맑은 고딕"/>
                <a:cs typeface="맑은 고딕"/>
              </a:rPr>
              <a:t>②</a:t>
            </a:r>
            <a:r>
              <a:rPr dirty="0" sz="1000" spc="220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1000" spc="55" b="1">
                <a:solidFill>
                  <a:srgbClr val="2E3C8F"/>
                </a:solidFill>
                <a:latin typeface="맑은 고딕"/>
                <a:cs typeface="맑은 고딕"/>
              </a:rPr>
              <a:t>피처</a:t>
            </a:r>
            <a:r>
              <a:rPr dirty="0" sz="1000" spc="220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1000" spc="75" b="1">
                <a:solidFill>
                  <a:srgbClr val="2E3C8F"/>
                </a:solidFill>
                <a:latin typeface="맑은 고딕"/>
                <a:cs typeface="맑은 고딕"/>
              </a:rPr>
              <a:t>엔지니어링</a:t>
            </a:r>
            <a:endParaRPr sz="100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491232" y="647763"/>
            <a:ext cx="5041265" cy="266637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700" spc="-10"/>
              <a:t>파생변수</a:t>
            </a:r>
            <a:r>
              <a:rPr sz="1700" spc="-110"/>
              <a:t> </a:t>
            </a:r>
            <a:r>
              <a:rPr sz="1700"/>
              <a:t>3종</a:t>
            </a:r>
            <a:r>
              <a:rPr sz="1700" spc="-110"/>
              <a:t> </a:t>
            </a:r>
            <a:r>
              <a:rPr sz="1700"/>
              <a:t>—</a:t>
            </a:r>
            <a:r>
              <a:rPr sz="1700" spc="-104"/>
              <a:t> </a:t>
            </a:r>
            <a:r>
              <a:rPr sz="1700"/>
              <a:t>개선을</a:t>
            </a:r>
            <a:r>
              <a:rPr sz="1700" spc="-110"/>
              <a:t> </a:t>
            </a:r>
            <a:r>
              <a:rPr lang="ko-KR" altLang="en-US" sz="1700" spc="-10"/>
              <a:t>확인했지만</a:t>
            </a:r>
            <a:r>
              <a:rPr sz="1700" spc="-110"/>
              <a:t> </a:t>
            </a:r>
            <a:r>
              <a:rPr sz="1700" spc="-10"/>
              <a:t>채택하지</a:t>
            </a:r>
            <a:r>
              <a:rPr sz="1700" spc="-104"/>
              <a:t> </a:t>
            </a:r>
            <a:r>
              <a:rPr sz="1700" spc="-25"/>
              <a:t>않았다</a:t>
            </a:r>
            <a:endParaRPr sz="1700" spc="-25"/>
          </a:p>
        </p:txBody>
      </p:sp>
      <p:sp>
        <p:nvSpPr>
          <p:cNvPr id="4" name="object 4" descr=""/>
          <p:cNvSpPr txBox="1"/>
          <p:nvPr/>
        </p:nvSpPr>
        <p:spPr>
          <a:xfrm>
            <a:off x="491232" y="965231"/>
            <a:ext cx="607695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도메인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지식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기반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비율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파생변수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3종을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추가하고,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동일한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튜닝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LightGBM으로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효과만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분리해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 spc="-10">
                <a:solidFill>
                  <a:srgbClr val="5B606F"/>
                </a:solidFill>
                <a:latin typeface="맑은 고딕"/>
                <a:cs typeface="맑은 고딕"/>
              </a:rPr>
              <a:t>비교했습니다.</a:t>
            </a:r>
            <a:endParaRPr sz="1000">
              <a:latin typeface="맑은 고딕"/>
              <a:cs typeface="맑은 고딕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91232" y="1273175"/>
            <a:ext cx="100584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2E3C8F"/>
                </a:solidFill>
                <a:latin typeface="맑은 고딕"/>
                <a:cs typeface="맑은 고딕"/>
              </a:rPr>
              <a:t>추가한 </a:t>
            </a:r>
            <a:r>
              <a:rPr dirty="0" sz="1050" spc="-20" b="1">
                <a:solidFill>
                  <a:srgbClr val="2E3C8F"/>
                </a:solidFill>
                <a:latin typeface="맑은 고딕"/>
                <a:cs typeface="맑은 고딕"/>
              </a:rPr>
              <a:t>파생변수</a:t>
            </a:r>
            <a:endParaRPr sz="1050">
              <a:latin typeface="맑은 고딕"/>
              <a:cs typeface="맑은 고딕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504824" y="1523999"/>
            <a:ext cx="4695825" cy="342900"/>
            <a:chOff x="504824" y="1523999"/>
            <a:chExt cx="4695825" cy="342900"/>
          </a:xfrm>
        </p:grpSpPr>
        <p:sp>
          <p:nvSpPr>
            <p:cNvPr id="7" name="object 7" descr=""/>
            <p:cNvSpPr/>
            <p:nvPr/>
          </p:nvSpPr>
          <p:spPr>
            <a:xfrm>
              <a:off x="509587" y="1528761"/>
              <a:ext cx="4686300" cy="333375"/>
            </a:xfrm>
            <a:custGeom>
              <a:avLst/>
              <a:gdLst/>
              <a:ahLst/>
              <a:cxnLst/>
              <a:rect l="l" t="t" r="r" b="b"/>
              <a:pathLst>
                <a:path w="4686300" h="333375">
                  <a:moveTo>
                    <a:pt x="4623477" y="333374"/>
                  </a:moveTo>
                  <a:lnTo>
                    <a:pt x="62822" y="333374"/>
                  </a:lnTo>
                  <a:lnTo>
                    <a:pt x="58450" y="332943"/>
                  </a:lnTo>
                  <a:lnTo>
                    <a:pt x="22815" y="316801"/>
                  </a:lnTo>
                  <a:lnTo>
                    <a:pt x="2153" y="283585"/>
                  </a:lnTo>
                  <a:lnTo>
                    <a:pt x="0" y="270552"/>
                  </a:lnTo>
                  <a:lnTo>
                    <a:pt x="0" y="266137"/>
                  </a:lnTo>
                  <a:lnTo>
                    <a:pt x="0" y="62822"/>
                  </a:lnTo>
                  <a:lnTo>
                    <a:pt x="13784" y="26210"/>
                  </a:lnTo>
                  <a:lnTo>
                    <a:pt x="45585" y="3427"/>
                  </a:lnTo>
                  <a:lnTo>
                    <a:pt x="62822" y="0"/>
                  </a:lnTo>
                  <a:lnTo>
                    <a:pt x="4623477" y="0"/>
                  </a:lnTo>
                  <a:lnTo>
                    <a:pt x="4660088" y="13782"/>
                  </a:lnTo>
                  <a:lnTo>
                    <a:pt x="4682870" y="45583"/>
                  </a:lnTo>
                  <a:lnTo>
                    <a:pt x="4686299" y="62822"/>
                  </a:lnTo>
                  <a:lnTo>
                    <a:pt x="4686299" y="270552"/>
                  </a:lnTo>
                  <a:lnTo>
                    <a:pt x="4672514" y="307161"/>
                  </a:lnTo>
                  <a:lnTo>
                    <a:pt x="4640713" y="329944"/>
                  </a:lnTo>
                  <a:lnTo>
                    <a:pt x="4627849" y="332944"/>
                  </a:lnTo>
                  <a:lnTo>
                    <a:pt x="4623477" y="333374"/>
                  </a:lnTo>
                  <a:close/>
                </a:path>
              </a:pathLst>
            </a:custGeom>
            <a:solidFill>
              <a:srgbClr val="F4F5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09587" y="1528761"/>
              <a:ext cx="4686300" cy="333375"/>
            </a:xfrm>
            <a:custGeom>
              <a:avLst/>
              <a:gdLst/>
              <a:ahLst/>
              <a:cxnLst/>
              <a:rect l="l" t="t" r="r" b="b"/>
              <a:pathLst>
                <a:path w="4686300" h="333375">
                  <a:moveTo>
                    <a:pt x="0" y="266137"/>
                  </a:moveTo>
                  <a:lnTo>
                    <a:pt x="0" y="67237"/>
                  </a:lnTo>
                  <a:lnTo>
                    <a:pt x="0" y="62822"/>
                  </a:lnTo>
                  <a:lnTo>
                    <a:pt x="430" y="58449"/>
                  </a:lnTo>
                  <a:lnTo>
                    <a:pt x="1291" y="54118"/>
                  </a:lnTo>
                  <a:lnTo>
                    <a:pt x="2153" y="49787"/>
                  </a:lnTo>
                  <a:lnTo>
                    <a:pt x="3428" y="45583"/>
                  </a:lnTo>
                  <a:lnTo>
                    <a:pt x="5118" y="41505"/>
                  </a:lnTo>
                  <a:lnTo>
                    <a:pt x="6807" y="37425"/>
                  </a:lnTo>
                  <a:lnTo>
                    <a:pt x="8878" y="33551"/>
                  </a:lnTo>
                  <a:lnTo>
                    <a:pt x="11331" y="29880"/>
                  </a:lnTo>
                  <a:lnTo>
                    <a:pt x="13784" y="26210"/>
                  </a:lnTo>
                  <a:lnTo>
                    <a:pt x="16571" y="22813"/>
                  </a:lnTo>
                  <a:lnTo>
                    <a:pt x="19693" y="19692"/>
                  </a:lnTo>
                  <a:lnTo>
                    <a:pt x="22815" y="16571"/>
                  </a:lnTo>
                  <a:lnTo>
                    <a:pt x="26211" y="13782"/>
                  </a:lnTo>
                  <a:lnTo>
                    <a:pt x="29882" y="11330"/>
                  </a:lnTo>
                  <a:lnTo>
                    <a:pt x="33553" y="8877"/>
                  </a:lnTo>
                  <a:lnTo>
                    <a:pt x="54120" y="1291"/>
                  </a:lnTo>
                  <a:lnTo>
                    <a:pt x="58450" y="430"/>
                  </a:lnTo>
                  <a:lnTo>
                    <a:pt x="62822" y="0"/>
                  </a:lnTo>
                  <a:lnTo>
                    <a:pt x="67237" y="0"/>
                  </a:lnTo>
                  <a:lnTo>
                    <a:pt x="4619061" y="0"/>
                  </a:lnTo>
                  <a:lnTo>
                    <a:pt x="4623477" y="0"/>
                  </a:lnTo>
                  <a:lnTo>
                    <a:pt x="4627849" y="430"/>
                  </a:lnTo>
                  <a:lnTo>
                    <a:pt x="4632179" y="1291"/>
                  </a:lnTo>
                  <a:lnTo>
                    <a:pt x="4636509" y="2153"/>
                  </a:lnTo>
                  <a:lnTo>
                    <a:pt x="4640713" y="3427"/>
                  </a:lnTo>
                  <a:lnTo>
                    <a:pt x="4644792" y="5117"/>
                  </a:lnTo>
                  <a:lnTo>
                    <a:pt x="4648871" y="6806"/>
                  </a:lnTo>
                  <a:lnTo>
                    <a:pt x="4652745" y="8877"/>
                  </a:lnTo>
                  <a:lnTo>
                    <a:pt x="4656417" y="11330"/>
                  </a:lnTo>
                  <a:lnTo>
                    <a:pt x="4660088" y="13782"/>
                  </a:lnTo>
                  <a:lnTo>
                    <a:pt x="4663484" y="16571"/>
                  </a:lnTo>
                  <a:lnTo>
                    <a:pt x="4666606" y="19692"/>
                  </a:lnTo>
                  <a:lnTo>
                    <a:pt x="4669727" y="22813"/>
                  </a:lnTo>
                  <a:lnTo>
                    <a:pt x="4672515" y="26210"/>
                  </a:lnTo>
                  <a:lnTo>
                    <a:pt x="4674967" y="29880"/>
                  </a:lnTo>
                  <a:lnTo>
                    <a:pt x="4677420" y="33551"/>
                  </a:lnTo>
                  <a:lnTo>
                    <a:pt x="4679491" y="37425"/>
                  </a:lnTo>
                  <a:lnTo>
                    <a:pt x="4681180" y="41505"/>
                  </a:lnTo>
                  <a:lnTo>
                    <a:pt x="4682870" y="45583"/>
                  </a:lnTo>
                  <a:lnTo>
                    <a:pt x="4686299" y="67237"/>
                  </a:lnTo>
                  <a:lnTo>
                    <a:pt x="4686299" y="266137"/>
                  </a:lnTo>
                  <a:lnTo>
                    <a:pt x="4686299" y="270552"/>
                  </a:lnTo>
                  <a:lnTo>
                    <a:pt x="4685868" y="274925"/>
                  </a:lnTo>
                  <a:lnTo>
                    <a:pt x="4685007" y="279253"/>
                  </a:lnTo>
                  <a:lnTo>
                    <a:pt x="4684146" y="283583"/>
                  </a:lnTo>
                  <a:lnTo>
                    <a:pt x="4682870" y="287788"/>
                  </a:lnTo>
                  <a:lnTo>
                    <a:pt x="4681180" y="291865"/>
                  </a:lnTo>
                  <a:lnTo>
                    <a:pt x="4679491" y="295944"/>
                  </a:lnTo>
                  <a:lnTo>
                    <a:pt x="4666606" y="313679"/>
                  </a:lnTo>
                  <a:lnTo>
                    <a:pt x="4663484" y="316801"/>
                  </a:lnTo>
                  <a:lnTo>
                    <a:pt x="4644792" y="328255"/>
                  </a:lnTo>
                  <a:lnTo>
                    <a:pt x="4640713" y="329944"/>
                  </a:lnTo>
                  <a:lnTo>
                    <a:pt x="4636509" y="331221"/>
                  </a:lnTo>
                  <a:lnTo>
                    <a:pt x="4632179" y="332083"/>
                  </a:lnTo>
                  <a:lnTo>
                    <a:pt x="4627849" y="332944"/>
                  </a:lnTo>
                  <a:lnTo>
                    <a:pt x="4623477" y="333374"/>
                  </a:lnTo>
                  <a:lnTo>
                    <a:pt x="4619061" y="333374"/>
                  </a:lnTo>
                  <a:lnTo>
                    <a:pt x="67237" y="333374"/>
                  </a:lnTo>
                  <a:lnTo>
                    <a:pt x="62822" y="333374"/>
                  </a:lnTo>
                  <a:lnTo>
                    <a:pt x="58450" y="332943"/>
                  </a:lnTo>
                  <a:lnTo>
                    <a:pt x="54120" y="332082"/>
                  </a:lnTo>
                  <a:lnTo>
                    <a:pt x="49790" y="331220"/>
                  </a:lnTo>
                  <a:lnTo>
                    <a:pt x="45585" y="329944"/>
                  </a:lnTo>
                  <a:lnTo>
                    <a:pt x="41506" y="328255"/>
                  </a:lnTo>
                  <a:lnTo>
                    <a:pt x="37427" y="326566"/>
                  </a:lnTo>
                  <a:lnTo>
                    <a:pt x="19693" y="313679"/>
                  </a:lnTo>
                  <a:lnTo>
                    <a:pt x="16571" y="310557"/>
                  </a:lnTo>
                  <a:lnTo>
                    <a:pt x="5118" y="291867"/>
                  </a:lnTo>
                  <a:lnTo>
                    <a:pt x="3428" y="287789"/>
                  </a:lnTo>
                  <a:lnTo>
                    <a:pt x="2153" y="283585"/>
                  </a:lnTo>
                  <a:lnTo>
                    <a:pt x="1291" y="279253"/>
                  </a:lnTo>
                  <a:lnTo>
                    <a:pt x="430" y="274925"/>
                  </a:lnTo>
                  <a:lnTo>
                    <a:pt x="0" y="270552"/>
                  </a:lnTo>
                  <a:lnTo>
                    <a:pt x="0" y="266137"/>
                  </a:lnTo>
                  <a:close/>
                </a:path>
              </a:pathLst>
            </a:custGeom>
            <a:ln w="9524">
              <a:solidFill>
                <a:srgbClr val="DEE3F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626665" y="1613598"/>
            <a:ext cx="3256915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 b="1">
                <a:solidFill>
                  <a:srgbClr val="2E3C8F"/>
                </a:solidFill>
                <a:latin typeface="맑은 고딕"/>
                <a:cs typeface="맑은 고딕"/>
              </a:rPr>
              <a:t>거래건당_평균금액</a:t>
            </a:r>
            <a:r>
              <a:rPr dirty="0" sz="900" spc="260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Consolas"/>
                <a:cs typeface="Consolas"/>
              </a:rPr>
              <a:t>=</a:t>
            </a:r>
            <a:r>
              <a:rPr dirty="0" sz="900" spc="90">
                <a:solidFill>
                  <a:srgbClr val="1B1D25"/>
                </a:solidFill>
                <a:latin typeface="Consolas"/>
                <a:cs typeface="Consolas"/>
              </a:rPr>
              <a:t> </a:t>
            </a:r>
            <a:r>
              <a:rPr dirty="0" sz="900">
                <a:solidFill>
                  <a:srgbClr val="1B1D25"/>
                </a:solidFill>
                <a:latin typeface="Consolas"/>
                <a:cs typeface="Consolas"/>
              </a:rPr>
              <a:t>Total_Trans_Amt</a:t>
            </a:r>
            <a:r>
              <a:rPr dirty="0" sz="900" spc="90">
                <a:solidFill>
                  <a:srgbClr val="1B1D25"/>
                </a:solidFill>
                <a:latin typeface="Consolas"/>
                <a:cs typeface="Consolas"/>
              </a:rPr>
              <a:t> </a:t>
            </a:r>
            <a:r>
              <a:rPr dirty="0" sz="900">
                <a:solidFill>
                  <a:srgbClr val="1B1D25"/>
                </a:solidFill>
                <a:latin typeface="Consolas"/>
                <a:cs typeface="Consolas"/>
              </a:rPr>
              <a:t>/</a:t>
            </a:r>
            <a:r>
              <a:rPr dirty="0" sz="900" spc="90">
                <a:solidFill>
                  <a:srgbClr val="1B1D25"/>
                </a:solidFill>
                <a:latin typeface="Consolas"/>
                <a:cs typeface="Consolas"/>
              </a:rPr>
              <a:t> </a:t>
            </a:r>
            <a:r>
              <a:rPr dirty="0" sz="900" spc="-10">
                <a:solidFill>
                  <a:srgbClr val="1B1D25"/>
                </a:solidFill>
                <a:latin typeface="Consolas"/>
                <a:cs typeface="Consolas"/>
              </a:rPr>
              <a:t>Total_Trans_Ct</a:t>
            </a:r>
            <a:endParaRPr sz="900">
              <a:latin typeface="Consolas"/>
              <a:cs typeface="Consolas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504824" y="1933574"/>
            <a:ext cx="4695825" cy="342900"/>
            <a:chOff x="504824" y="1933574"/>
            <a:chExt cx="4695825" cy="342900"/>
          </a:xfrm>
        </p:grpSpPr>
        <p:sp>
          <p:nvSpPr>
            <p:cNvPr id="11" name="object 11" descr=""/>
            <p:cNvSpPr/>
            <p:nvPr/>
          </p:nvSpPr>
          <p:spPr>
            <a:xfrm>
              <a:off x="509587" y="1938336"/>
              <a:ext cx="4686300" cy="333375"/>
            </a:xfrm>
            <a:custGeom>
              <a:avLst/>
              <a:gdLst/>
              <a:ahLst/>
              <a:cxnLst/>
              <a:rect l="l" t="t" r="r" b="b"/>
              <a:pathLst>
                <a:path w="4686300" h="333375">
                  <a:moveTo>
                    <a:pt x="4623477" y="333374"/>
                  </a:moveTo>
                  <a:lnTo>
                    <a:pt x="62822" y="333374"/>
                  </a:lnTo>
                  <a:lnTo>
                    <a:pt x="58450" y="332943"/>
                  </a:lnTo>
                  <a:lnTo>
                    <a:pt x="22815" y="316802"/>
                  </a:lnTo>
                  <a:lnTo>
                    <a:pt x="2153" y="283582"/>
                  </a:lnTo>
                  <a:lnTo>
                    <a:pt x="0" y="270552"/>
                  </a:lnTo>
                  <a:lnTo>
                    <a:pt x="0" y="266137"/>
                  </a:lnTo>
                  <a:lnTo>
                    <a:pt x="0" y="62822"/>
                  </a:lnTo>
                  <a:lnTo>
                    <a:pt x="13784" y="26211"/>
                  </a:lnTo>
                  <a:lnTo>
                    <a:pt x="45585" y="3426"/>
                  </a:lnTo>
                  <a:lnTo>
                    <a:pt x="62822" y="0"/>
                  </a:lnTo>
                  <a:lnTo>
                    <a:pt x="4623477" y="0"/>
                  </a:lnTo>
                  <a:lnTo>
                    <a:pt x="4660088" y="13782"/>
                  </a:lnTo>
                  <a:lnTo>
                    <a:pt x="4682870" y="45584"/>
                  </a:lnTo>
                  <a:lnTo>
                    <a:pt x="4686299" y="62822"/>
                  </a:lnTo>
                  <a:lnTo>
                    <a:pt x="4686299" y="270552"/>
                  </a:lnTo>
                  <a:lnTo>
                    <a:pt x="4672514" y="307162"/>
                  </a:lnTo>
                  <a:lnTo>
                    <a:pt x="4640713" y="329944"/>
                  </a:lnTo>
                  <a:lnTo>
                    <a:pt x="4627849" y="332943"/>
                  </a:lnTo>
                  <a:lnTo>
                    <a:pt x="4623477" y="333374"/>
                  </a:lnTo>
                  <a:close/>
                </a:path>
              </a:pathLst>
            </a:custGeom>
            <a:solidFill>
              <a:srgbClr val="F4F5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09587" y="1938336"/>
              <a:ext cx="4686300" cy="333375"/>
            </a:xfrm>
            <a:custGeom>
              <a:avLst/>
              <a:gdLst/>
              <a:ahLst/>
              <a:cxnLst/>
              <a:rect l="l" t="t" r="r" b="b"/>
              <a:pathLst>
                <a:path w="4686300" h="333375">
                  <a:moveTo>
                    <a:pt x="0" y="266137"/>
                  </a:moveTo>
                  <a:lnTo>
                    <a:pt x="0" y="67237"/>
                  </a:lnTo>
                  <a:lnTo>
                    <a:pt x="0" y="62822"/>
                  </a:lnTo>
                  <a:lnTo>
                    <a:pt x="430" y="58449"/>
                  </a:lnTo>
                  <a:lnTo>
                    <a:pt x="16571" y="22814"/>
                  </a:lnTo>
                  <a:lnTo>
                    <a:pt x="29882" y="11330"/>
                  </a:lnTo>
                  <a:lnTo>
                    <a:pt x="33553" y="8877"/>
                  </a:lnTo>
                  <a:lnTo>
                    <a:pt x="54120" y="1291"/>
                  </a:lnTo>
                  <a:lnTo>
                    <a:pt x="58450" y="430"/>
                  </a:lnTo>
                  <a:lnTo>
                    <a:pt x="62822" y="0"/>
                  </a:lnTo>
                  <a:lnTo>
                    <a:pt x="67237" y="0"/>
                  </a:lnTo>
                  <a:lnTo>
                    <a:pt x="4619061" y="0"/>
                  </a:lnTo>
                  <a:lnTo>
                    <a:pt x="4623477" y="0"/>
                  </a:lnTo>
                  <a:lnTo>
                    <a:pt x="4627849" y="430"/>
                  </a:lnTo>
                  <a:lnTo>
                    <a:pt x="4632179" y="1291"/>
                  </a:lnTo>
                  <a:lnTo>
                    <a:pt x="4636509" y="2152"/>
                  </a:lnTo>
                  <a:lnTo>
                    <a:pt x="4640713" y="3426"/>
                  </a:lnTo>
                  <a:lnTo>
                    <a:pt x="4644792" y="5115"/>
                  </a:lnTo>
                  <a:lnTo>
                    <a:pt x="4648871" y="6805"/>
                  </a:lnTo>
                  <a:lnTo>
                    <a:pt x="4652745" y="8877"/>
                  </a:lnTo>
                  <a:lnTo>
                    <a:pt x="4656417" y="11330"/>
                  </a:lnTo>
                  <a:lnTo>
                    <a:pt x="4660088" y="13782"/>
                  </a:lnTo>
                  <a:lnTo>
                    <a:pt x="4663484" y="16571"/>
                  </a:lnTo>
                  <a:lnTo>
                    <a:pt x="4666606" y="19692"/>
                  </a:lnTo>
                  <a:lnTo>
                    <a:pt x="4669727" y="22814"/>
                  </a:lnTo>
                  <a:lnTo>
                    <a:pt x="4685868" y="58449"/>
                  </a:lnTo>
                  <a:lnTo>
                    <a:pt x="4686299" y="67237"/>
                  </a:lnTo>
                  <a:lnTo>
                    <a:pt x="4686299" y="266137"/>
                  </a:lnTo>
                  <a:lnTo>
                    <a:pt x="4674967" y="303491"/>
                  </a:lnTo>
                  <a:lnTo>
                    <a:pt x="4666606" y="313680"/>
                  </a:lnTo>
                  <a:lnTo>
                    <a:pt x="4663484" y="316802"/>
                  </a:lnTo>
                  <a:lnTo>
                    <a:pt x="4644792" y="328255"/>
                  </a:lnTo>
                  <a:lnTo>
                    <a:pt x="4640713" y="329944"/>
                  </a:lnTo>
                  <a:lnTo>
                    <a:pt x="4636509" y="331220"/>
                  </a:lnTo>
                  <a:lnTo>
                    <a:pt x="4632179" y="332082"/>
                  </a:lnTo>
                  <a:lnTo>
                    <a:pt x="4627849" y="332943"/>
                  </a:lnTo>
                  <a:lnTo>
                    <a:pt x="4623477" y="333374"/>
                  </a:lnTo>
                  <a:lnTo>
                    <a:pt x="4619061" y="333374"/>
                  </a:lnTo>
                  <a:lnTo>
                    <a:pt x="67237" y="333374"/>
                  </a:lnTo>
                  <a:lnTo>
                    <a:pt x="62822" y="333374"/>
                  </a:lnTo>
                  <a:lnTo>
                    <a:pt x="58450" y="332943"/>
                  </a:lnTo>
                  <a:lnTo>
                    <a:pt x="54120" y="332082"/>
                  </a:lnTo>
                  <a:lnTo>
                    <a:pt x="49790" y="331220"/>
                  </a:lnTo>
                  <a:lnTo>
                    <a:pt x="45585" y="329944"/>
                  </a:lnTo>
                  <a:lnTo>
                    <a:pt x="41506" y="328255"/>
                  </a:lnTo>
                  <a:lnTo>
                    <a:pt x="37427" y="326566"/>
                  </a:lnTo>
                  <a:lnTo>
                    <a:pt x="33553" y="324494"/>
                  </a:lnTo>
                  <a:lnTo>
                    <a:pt x="29882" y="322040"/>
                  </a:lnTo>
                  <a:lnTo>
                    <a:pt x="26211" y="319588"/>
                  </a:lnTo>
                  <a:lnTo>
                    <a:pt x="22815" y="316802"/>
                  </a:lnTo>
                  <a:lnTo>
                    <a:pt x="19693" y="313680"/>
                  </a:lnTo>
                  <a:lnTo>
                    <a:pt x="16571" y="310558"/>
                  </a:lnTo>
                  <a:lnTo>
                    <a:pt x="430" y="274923"/>
                  </a:lnTo>
                  <a:lnTo>
                    <a:pt x="0" y="270552"/>
                  </a:lnTo>
                  <a:lnTo>
                    <a:pt x="0" y="266137"/>
                  </a:lnTo>
                  <a:close/>
                </a:path>
              </a:pathLst>
            </a:custGeom>
            <a:ln w="9524">
              <a:solidFill>
                <a:srgbClr val="DEE3F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626665" y="2023173"/>
            <a:ext cx="4077335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 b="1">
                <a:solidFill>
                  <a:srgbClr val="2E3C8F"/>
                </a:solidFill>
                <a:latin typeface="맑은 고딕"/>
                <a:cs typeface="맑은 고딕"/>
              </a:rPr>
              <a:t>문의_대비_거래활동</a:t>
            </a:r>
            <a:r>
              <a:rPr dirty="0" sz="900" spc="275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Consolas"/>
                <a:cs typeface="Consolas"/>
              </a:rPr>
              <a:t>=</a:t>
            </a:r>
            <a:r>
              <a:rPr dirty="0" sz="900" spc="100">
                <a:solidFill>
                  <a:srgbClr val="1B1D25"/>
                </a:solidFill>
                <a:latin typeface="Consolas"/>
                <a:cs typeface="Consolas"/>
              </a:rPr>
              <a:t> </a:t>
            </a:r>
            <a:r>
              <a:rPr dirty="0" sz="900">
                <a:solidFill>
                  <a:srgbClr val="1B1D25"/>
                </a:solidFill>
                <a:latin typeface="Consolas"/>
                <a:cs typeface="Consolas"/>
              </a:rPr>
              <a:t>Contacts_Count_12_mon</a:t>
            </a:r>
            <a:r>
              <a:rPr dirty="0" sz="900" spc="100">
                <a:solidFill>
                  <a:srgbClr val="1B1D25"/>
                </a:solidFill>
                <a:latin typeface="Consolas"/>
                <a:cs typeface="Consolas"/>
              </a:rPr>
              <a:t> </a:t>
            </a:r>
            <a:r>
              <a:rPr dirty="0" sz="900">
                <a:solidFill>
                  <a:srgbClr val="1B1D25"/>
                </a:solidFill>
                <a:latin typeface="Consolas"/>
                <a:cs typeface="Consolas"/>
              </a:rPr>
              <a:t>/</a:t>
            </a:r>
            <a:r>
              <a:rPr dirty="0" sz="900" spc="100">
                <a:solidFill>
                  <a:srgbClr val="1B1D25"/>
                </a:solidFill>
                <a:latin typeface="Consolas"/>
                <a:cs typeface="Consolas"/>
              </a:rPr>
              <a:t> </a:t>
            </a:r>
            <a:r>
              <a:rPr dirty="0" sz="900">
                <a:solidFill>
                  <a:srgbClr val="1B1D25"/>
                </a:solidFill>
                <a:latin typeface="Consolas"/>
                <a:cs typeface="Consolas"/>
              </a:rPr>
              <a:t>(Total_Trans_Ct</a:t>
            </a:r>
            <a:r>
              <a:rPr dirty="0" sz="900" spc="100">
                <a:solidFill>
                  <a:srgbClr val="1B1D25"/>
                </a:solidFill>
                <a:latin typeface="Consolas"/>
                <a:cs typeface="Consolas"/>
              </a:rPr>
              <a:t> </a:t>
            </a:r>
            <a:r>
              <a:rPr dirty="0" sz="900">
                <a:solidFill>
                  <a:srgbClr val="1B1D25"/>
                </a:solidFill>
                <a:latin typeface="Consolas"/>
                <a:cs typeface="Consolas"/>
              </a:rPr>
              <a:t>+</a:t>
            </a:r>
            <a:r>
              <a:rPr dirty="0" sz="900" spc="105">
                <a:solidFill>
                  <a:srgbClr val="1B1D25"/>
                </a:solidFill>
                <a:latin typeface="Consolas"/>
                <a:cs typeface="Consolas"/>
              </a:rPr>
              <a:t> </a:t>
            </a:r>
            <a:r>
              <a:rPr dirty="0" sz="900" spc="-25">
                <a:solidFill>
                  <a:srgbClr val="1B1D25"/>
                </a:solidFill>
                <a:latin typeface="Consolas"/>
                <a:cs typeface="Consolas"/>
              </a:rPr>
              <a:t>1)</a:t>
            </a:r>
            <a:endParaRPr sz="900">
              <a:latin typeface="Consolas"/>
              <a:cs typeface="Consolas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504824" y="2352674"/>
            <a:ext cx="4695825" cy="342900"/>
            <a:chOff x="504824" y="2352674"/>
            <a:chExt cx="4695825" cy="342900"/>
          </a:xfrm>
        </p:grpSpPr>
        <p:sp>
          <p:nvSpPr>
            <p:cNvPr id="15" name="object 15" descr=""/>
            <p:cNvSpPr/>
            <p:nvPr/>
          </p:nvSpPr>
          <p:spPr>
            <a:xfrm>
              <a:off x="509587" y="2357436"/>
              <a:ext cx="4686300" cy="333375"/>
            </a:xfrm>
            <a:custGeom>
              <a:avLst/>
              <a:gdLst/>
              <a:ahLst/>
              <a:cxnLst/>
              <a:rect l="l" t="t" r="r" b="b"/>
              <a:pathLst>
                <a:path w="4686300" h="333375">
                  <a:moveTo>
                    <a:pt x="4623477" y="333373"/>
                  </a:moveTo>
                  <a:lnTo>
                    <a:pt x="62822" y="333373"/>
                  </a:lnTo>
                  <a:lnTo>
                    <a:pt x="58450" y="332943"/>
                  </a:lnTo>
                  <a:lnTo>
                    <a:pt x="22815" y="316802"/>
                  </a:lnTo>
                  <a:lnTo>
                    <a:pt x="2153" y="283582"/>
                  </a:lnTo>
                  <a:lnTo>
                    <a:pt x="0" y="270552"/>
                  </a:lnTo>
                  <a:lnTo>
                    <a:pt x="0" y="266137"/>
                  </a:lnTo>
                  <a:lnTo>
                    <a:pt x="0" y="62822"/>
                  </a:lnTo>
                  <a:lnTo>
                    <a:pt x="13784" y="26210"/>
                  </a:lnTo>
                  <a:lnTo>
                    <a:pt x="45585" y="3426"/>
                  </a:lnTo>
                  <a:lnTo>
                    <a:pt x="62822" y="0"/>
                  </a:lnTo>
                  <a:lnTo>
                    <a:pt x="4623477" y="0"/>
                  </a:lnTo>
                  <a:lnTo>
                    <a:pt x="4660088" y="13781"/>
                  </a:lnTo>
                  <a:lnTo>
                    <a:pt x="4682870" y="45584"/>
                  </a:lnTo>
                  <a:lnTo>
                    <a:pt x="4686299" y="62822"/>
                  </a:lnTo>
                  <a:lnTo>
                    <a:pt x="4686299" y="270552"/>
                  </a:lnTo>
                  <a:lnTo>
                    <a:pt x="4672514" y="307161"/>
                  </a:lnTo>
                  <a:lnTo>
                    <a:pt x="4640713" y="329944"/>
                  </a:lnTo>
                  <a:lnTo>
                    <a:pt x="4627849" y="332943"/>
                  </a:lnTo>
                  <a:lnTo>
                    <a:pt x="4623477" y="333373"/>
                  </a:lnTo>
                  <a:close/>
                </a:path>
              </a:pathLst>
            </a:custGeom>
            <a:solidFill>
              <a:srgbClr val="F4F5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09587" y="2357436"/>
              <a:ext cx="4686300" cy="333375"/>
            </a:xfrm>
            <a:custGeom>
              <a:avLst/>
              <a:gdLst/>
              <a:ahLst/>
              <a:cxnLst/>
              <a:rect l="l" t="t" r="r" b="b"/>
              <a:pathLst>
                <a:path w="4686300" h="333375">
                  <a:moveTo>
                    <a:pt x="0" y="266137"/>
                  </a:moveTo>
                  <a:lnTo>
                    <a:pt x="0" y="67237"/>
                  </a:lnTo>
                  <a:lnTo>
                    <a:pt x="0" y="62822"/>
                  </a:lnTo>
                  <a:lnTo>
                    <a:pt x="430" y="58449"/>
                  </a:lnTo>
                  <a:lnTo>
                    <a:pt x="16571" y="22813"/>
                  </a:lnTo>
                  <a:lnTo>
                    <a:pt x="19693" y="19691"/>
                  </a:lnTo>
                  <a:lnTo>
                    <a:pt x="22815" y="16569"/>
                  </a:lnTo>
                  <a:lnTo>
                    <a:pt x="26211" y="13781"/>
                  </a:lnTo>
                  <a:lnTo>
                    <a:pt x="29882" y="11329"/>
                  </a:lnTo>
                  <a:lnTo>
                    <a:pt x="33553" y="8876"/>
                  </a:lnTo>
                  <a:lnTo>
                    <a:pt x="54120" y="1291"/>
                  </a:lnTo>
                  <a:lnTo>
                    <a:pt x="58450" y="430"/>
                  </a:lnTo>
                  <a:lnTo>
                    <a:pt x="62822" y="0"/>
                  </a:lnTo>
                  <a:lnTo>
                    <a:pt x="67237" y="0"/>
                  </a:lnTo>
                  <a:lnTo>
                    <a:pt x="4619061" y="0"/>
                  </a:lnTo>
                  <a:lnTo>
                    <a:pt x="4623477" y="0"/>
                  </a:lnTo>
                  <a:lnTo>
                    <a:pt x="4627849" y="430"/>
                  </a:lnTo>
                  <a:lnTo>
                    <a:pt x="4632179" y="1291"/>
                  </a:lnTo>
                  <a:lnTo>
                    <a:pt x="4636509" y="2152"/>
                  </a:lnTo>
                  <a:lnTo>
                    <a:pt x="4640713" y="3426"/>
                  </a:lnTo>
                  <a:lnTo>
                    <a:pt x="4644792" y="5115"/>
                  </a:lnTo>
                  <a:lnTo>
                    <a:pt x="4648871" y="6805"/>
                  </a:lnTo>
                  <a:lnTo>
                    <a:pt x="4652745" y="8876"/>
                  </a:lnTo>
                  <a:lnTo>
                    <a:pt x="4656417" y="11329"/>
                  </a:lnTo>
                  <a:lnTo>
                    <a:pt x="4660088" y="13781"/>
                  </a:lnTo>
                  <a:lnTo>
                    <a:pt x="4663484" y="16569"/>
                  </a:lnTo>
                  <a:lnTo>
                    <a:pt x="4666606" y="19691"/>
                  </a:lnTo>
                  <a:lnTo>
                    <a:pt x="4669727" y="22813"/>
                  </a:lnTo>
                  <a:lnTo>
                    <a:pt x="4672515" y="26210"/>
                  </a:lnTo>
                  <a:lnTo>
                    <a:pt x="4674967" y="29880"/>
                  </a:lnTo>
                  <a:lnTo>
                    <a:pt x="4677420" y="33551"/>
                  </a:lnTo>
                  <a:lnTo>
                    <a:pt x="4686299" y="67237"/>
                  </a:lnTo>
                  <a:lnTo>
                    <a:pt x="4686299" y="266137"/>
                  </a:lnTo>
                  <a:lnTo>
                    <a:pt x="4681180" y="291867"/>
                  </a:lnTo>
                  <a:lnTo>
                    <a:pt x="4679491" y="295944"/>
                  </a:lnTo>
                  <a:lnTo>
                    <a:pt x="4656417" y="322040"/>
                  </a:lnTo>
                  <a:lnTo>
                    <a:pt x="4652745" y="324494"/>
                  </a:lnTo>
                  <a:lnTo>
                    <a:pt x="4648871" y="326566"/>
                  </a:lnTo>
                  <a:lnTo>
                    <a:pt x="4644792" y="328255"/>
                  </a:lnTo>
                  <a:lnTo>
                    <a:pt x="4640713" y="329944"/>
                  </a:lnTo>
                  <a:lnTo>
                    <a:pt x="4636509" y="331220"/>
                  </a:lnTo>
                  <a:lnTo>
                    <a:pt x="4632179" y="332082"/>
                  </a:lnTo>
                  <a:lnTo>
                    <a:pt x="4627849" y="332943"/>
                  </a:lnTo>
                  <a:lnTo>
                    <a:pt x="4623477" y="333373"/>
                  </a:lnTo>
                  <a:lnTo>
                    <a:pt x="4619061" y="333374"/>
                  </a:lnTo>
                  <a:lnTo>
                    <a:pt x="67237" y="333374"/>
                  </a:lnTo>
                  <a:lnTo>
                    <a:pt x="29882" y="322041"/>
                  </a:lnTo>
                  <a:lnTo>
                    <a:pt x="5118" y="291865"/>
                  </a:lnTo>
                  <a:lnTo>
                    <a:pt x="3428" y="287787"/>
                  </a:lnTo>
                  <a:lnTo>
                    <a:pt x="2153" y="283582"/>
                  </a:lnTo>
                  <a:lnTo>
                    <a:pt x="1291" y="279253"/>
                  </a:lnTo>
                  <a:lnTo>
                    <a:pt x="430" y="274923"/>
                  </a:lnTo>
                  <a:lnTo>
                    <a:pt x="0" y="270552"/>
                  </a:lnTo>
                  <a:lnTo>
                    <a:pt x="0" y="266137"/>
                  </a:lnTo>
                  <a:close/>
                </a:path>
              </a:pathLst>
            </a:custGeom>
            <a:ln w="9524">
              <a:solidFill>
                <a:srgbClr val="DEE3F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626665" y="2442273"/>
            <a:ext cx="3355975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 b="1">
                <a:solidFill>
                  <a:srgbClr val="2E3C8F"/>
                </a:solidFill>
                <a:latin typeface="맑은 고딕"/>
                <a:cs typeface="맑은 고딕"/>
              </a:rPr>
              <a:t>비활성_비율</a:t>
            </a:r>
            <a:r>
              <a:rPr dirty="0" sz="900" spc="265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Consolas"/>
                <a:cs typeface="Consolas"/>
              </a:rPr>
              <a:t>=</a:t>
            </a:r>
            <a:r>
              <a:rPr dirty="0" sz="900" spc="95">
                <a:solidFill>
                  <a:srgbClr val="1B1D25"/>
                </a:solidFill>
                <a:latin typeface="Consolas"/>
                <a:cs typeface="Consolas"/>
              </a:rPr>
              <a:t> </a:t>
            </a:r>
            <a:r>
              <a:rPr dirty="0" sz="900">
                <a:solidFill>
                  <a:srgbClr val="1B1D25"/>
                </a:solidFill>
                <a:latin typeface="Consolas"/>
                <a:cs typeface="Consolas"/>
              </a:rPr>
              <a:t>Months_Inactive_12_mon</a:t>
            </a:r>
            <a:r>
              <a:rPr dirty="0" sz="900" spc="95">
                <a:solidFill>
                  <a:srgbClr val="1B1D25"/>
                </a:solidFill>
                <a:latin typeface="Consolas"/>
                <a:cs typeface="Consolas"/>
              </a:rPr>
              <a:t> </a:t>
            </a:r>
            <a:r>
              <a:rPr dirty="0" sz="900">
                <a:solidFill>
                  <a:srgbClr val="1B1D25"/>
                </a:solidFill>
                <a:latin typeface="Consolas"/>
                <a:cs typeface="Consolas"/>
              </a:rPr>
              <a:t>/</a:t>
            </a:r>
            <a:r>
              <a:rPr dirty="0" sz="900" spc="95">
                <a:solidFill>
                  <a:srgbClr val="1B1D25"/>
                </a:solidFill>
                <a:latin typeface="Consolas"/>
                <a:cs typeface="Consolas"/>
              </a:rPr>
              <a:t> </a:t>
            </a:r>
            <a:r>
              <a:rPr dirty="0" sz="900" spc="-10">
                <a:solidFill>
                  <a:srgbClr val="1B1D25"/>
                </a:solidFill>
                <a:latin typeface="Consolas"/>
                <a:cs typeface="Consolas"/>
              </a:rPr>
              <a:t>Months_on_book</a:t>
            </a:r>
            <a:endParaRPr sz="900">
              <a:latin typeface="Consolas"/>
              <a:cs typeface="Consolas"/>
            </a:endParaRPr>
          </a:p>
        </p:txBody>
      </p:sp>
      <p:graphicFrame>
        <p:nvGraphicFramePr>
          <p:cNvPr id="18" name="object 18" descr=""/>
          <p:cNvGraphicFramePr>
            <a:graphicFrameLocks noGrp="1"/>
          </p:cNvGraphicFramePr>
          <p:nvPr/>
        </p:nvGraphicFramePr>
        <p:xfrm>
          <a:off x="504824" y="2871786"/>
          <a:ext cx="4695825" cy="917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0515"/>
                <a:gridCol w="909955"/>
                <a:gridCol w="861695"/>
                <a:gridCol w="714375"/>
                <a:gridCol w="629920"/>
              </a:tblGrid>
              <a:tr h="31369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900" b="1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Validation</a:t>
                      </a:r>
                      <a:r>
                        <a:rPr dirty="0" sz="900" spc="-75" b="1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900" spc="-25" b="1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입력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5725">
                    <a:solidFill>
                      <a:srgbClr val="2E3C8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8796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피처수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5725">
                    <a:solidFill>
                      <a:srgbClr val="2E3C8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Precision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5725">
                    <a:solidFill>
                      <a:srgbClr val="2E3C8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F1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5725">
                    <a:solidFill>
                      <a:srgbClr val="2E3C8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445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AUC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5725">
                    <a:solidFill>
                      <a:srgbClr val="2E3C8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900" b="1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원본 피처 (최종 </a:t>
                      </a:r>
                      <a:r>
                        <a:rPr dirty="0" sz="900" spc="-25" b="1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채택)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76200"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E7F1E3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8796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900" spc="-25" b="1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32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76200"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E7F1E3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900" spc="-10" b="1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0.9040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76200"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E7F1E3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900" spc="-10" b="1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0.9012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76200"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E7F1E3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445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900" spc="-10" b="1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0.9941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76200"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E7F1E3"/>
                    </a:solidFill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90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원본 + 파생변수 </a:t>
                      </a:r>
                      <a:r>
                        <a:rPr dirty="0" sz="900" spc="-2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3개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8796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900" spc="-2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35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0.9154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0.9068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445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0.9941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  <p:sp>
        <p:nvSpPr>
          <p:cNvPr id="19" name="object 19" descr=""/>
          <p:cNvSpPr txBox="1"/>
          <p:nvPr/>
        </p:nvSpPr>
        <p:spPr>
          <a:xfrm>
            <a:off x="5477271" y="1273175"/>
            <a:ext cx="4651375" cy="621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2E3C8F"/>
                </a:solidFill>
                <a:latin typeface="맑은 고딕"/>
                <a:cs typeface="맑은 고딕"/>
              </a:rPr>
              <a:t>미채택 판단 </a:t>
            </a:r>
            <a:r>
              <a:rPr dirty="0" sz="1050" spc="-25" b="1">
                <a:solidFill>
                  <a:srgbClr val="2E3C8F"/>
                </a:solidFill>
                <a:latin typeface="맑은 고딕"/>
                <a:cs typeface="맑은 고딕"/>
              </a:rPr>
              <a:t>근거</a:t>
            </a:r>
            <a:endParaRPr sz="1050">
              <a:latin typeface="맑은 고딕"/>
              <a:cs typeface="맑은 고딕"/>
            </a:endParaRPr>
          </a:p>
          <a:p>
            <a:pPr marL="12700" marR="5080">
              <a:lnSpc>
                <a:spcPct val="131600"/>
              </a:lnSpc>
              <a:spcBef>
                <a:spcPts val="430"/>
              </a:spcBef>
            </a:pP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Validation</a:t>
            </a:r>
            <a:r>
              <a:rPr dirty="0" sz="950" spc="2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F1이</a:t>
            </a:r>
            <a:r>
              <a:rPr dirty="0" sz="950" spc="2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 b="1">
                <a:solidFill>
                  <a:srgbClr val="1B1D25"/>
                </a:solidFill>
                <a:latin typeface="맑은 고딕"/>
                <a:cs typeface="맑은 고딕"/>
              </a:rPr>
              <a:t>0.9012</a:t>
            </a:r>
            <a:r>
              <a:rPr dirty="0" sz="950" spc="20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 b="1">
                <a:solidFill>
                  <a:srgbClr val="1B1D25"/>
                </a:solidFill>
                <a:latin typeface="맑은 고딕"/>
                <a:cs typeface="맑은 고딕"/>
              </a:rPr>
              <a:t>→</a:t>
            </a:r>
            <a:r>
              <a:rPr dirty="0" sz="950" spc="2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 b="1">
                <a:solidFill>
                  <a:srgbClr val="1B1D25"/>
                </a:solidFill>
                <a:latin typeface="맑은 고딕"/>
                <a:cs typeface="맑은 고딕"/>
              </a:rPr>
              <a:t>0.9068</a:t>
            </a:r>
            <a:r>
              <a:rPr dirty="0" sz="950" spc="20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 b="1">
                <a:solidFill>
                  <a:srgbClr val="1B1D25"/>
                </a:solidFill>
                <a:latin typeface="맑은 고딕"/>
                <a:cs typeface="맑은 고딕"/>
              </a:rPr>
              <a:t>(+0.0056)</a:t>
            </a:r>
            <a:r>
              <a:rPr dirty="0" sz="950" spc="20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올랐음에도</a:t>
            </a:r>
            <a:r>
              <a:rPr dirty="0" sz="950" spc="2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최종</a:t>
            </a:r>
            <a:r>
              <a:rPr dirty="0" sz="950" spc="2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모델에</a:t>
            </a:r>
            <a:r>
              <a:rPr dirty="0" sz="950" spc="2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넣지</a:t>
            </a:r>
            <a:r>
              <a:rPr dirty="0" sz="950" spc="2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 spc="-20">
                <a:solidFill>
                  <a:srgbClr val="1B1D25"/>
                </a:solidFill>
                <a:latin typeface="맑은 고딕"/>
                <a:cs typeface="맑은 고딕"/>
              </a:rPr>
              <a:t>않았습니 </a:t>
            </a:r>
            <a:r>
              <a:rPr dirty="0" sz="950" spc="-25">
                <a:solidFill>
                  <a:srgbClr val="1B1D25"/>
                </a:solidFill>
                <a:latin typeface="맑은 고딕"/>
                <a:cs typeface="맑은 고딕"/>
              </a:rPr>
              <a:t>다.</a:t>
            </a:r>
            <a:endParaRPr sz="950">
              <a:latin typeface="맑은 고딕"/>
              <a:cs typeface="맑은 고딕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5486399" y="2447924"/>
            <a:ext cx="4705350" cy="466725"/>
            <a:chOff x="5486399" y="2447924"/>
            <a:chExt cx="4705350" cy="466725"/>
          </a:xfrm>
        </p:grpSpPr>
        <p:sp>
          <p:nvSpPr>
            <p:cNvPr id="21" name="object 21" descr=""/>
            <p:cNvSpPr/>
            <p:nvPr/>
          </p:nvSpPr>
          <p:spPr>
            <a:xfrm>
              <a:off x="5486387" y="2457449"/>
              <a:ext cx="4705350" cy="457200"/>
            </a:xfrm>
            <a:custGeom>
              <a:avLst/>
              <a:gdLst/>
              <a:ahLst/>
              <a:cxnLst/>
              <a:rect l="l" t="t" r="r" b="b"/>
              <a:pathLst>
                <a:path w="4705350" h="457200">
                  <a:moveTo>
                    <a:pt x="4705350" y="0"/>
                  </a:moveTo>
                  <a:lnTo>
                    <a:pt x="1314450" y="0"/>
                  </a:lnTo>
                  <a:lnTo>
                    <a:pt x="0" y="0"/>
                  </a:lnTo>
                  <a:lnTo>
                    <a:pt x="0" y="457200"/>
                  </a:lnTo>
                  <a:lnTo>
                    <a:pt x="1314450" y="457200"/>
                  </a:lnTo>
                  <a:lnTo>
                    <a:pt x="4705350" y="457200"/>
                  </a:lnTo>
                  <a:lnTo>
                    <a:pt x="4705350" y="0"/>
                  </a:lnTo>
                  <a:close/>
                </a:path>
              </a:pathLst>
            </a:custGeom>
            <a:solidFill>
              <a:srgbClr val="F6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486387" y="2447924"/>
              <a:ext cx="4705350" cy="466725"/>
            </a:xfrm>
            <a:custGeom>
              <a:avLst/>
              <a:gdLst/>
              <a:ahLst/>
              <a:cxnLst/>
              <a:rect l="l" t="t" r="r" b="b"/>
              <a:pathLst>
                <a:path w="4705350" h="466725">
                  <a:moveTo>
                    <a:pt x="4705350" y="457200"/>
                  </a:moveTo>
                  <a:lnTo>
                    <a:pt x="1314450" y="457200"/>
                  </a:lnTo>
                  <a:lnTo>
                    <a:pt x="0" y="457200"/>
                  </a:lnTo>
                  <a:lnTo>
                    <a:pt x="0" y="466725"/>
                  </a:lnTo>
                  <a:lnTo>
                    <a:pt x="1314450" y="466725"/>
                  </a:lnTo>
                  <a:lnTo>
                    <a:pt x="4705350" y="466725"/>
                  </a:lnTo>
                  <a:lnTo>
                    <a:pt x="4705350" y="457200"/>
                  </a:lnTo>
                  <a:close/>
                </a:path>
                <a:path w="4705350" h="466725">
                  <a:moveTo>
                    <a:pt x="4705350" y="0"/>
                  </a:moveTo>
                  <a:lnTo>
                    <a:pt x="1314450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1314450" y="9525"/>
                  </a:lnTo>
                  <a:lnTo>
                    <a:pt x="4705350" y="9525"/>
                  </a:lnTo>
                  <a:lnTo>
                    <a:pt x="4705350" y="0"/>
                  </a:lnTo>
                  <a:close/>
                </a:path>
              </a:pathLst>
            </a:custGeom>
            <a:solidFill>
              <a:srgbClr val="E6E7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5570735" y="2063750"/>
            <a:ext cx="5295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AUC</a:t>
            </a:r>
            <a:r>
              <a:rPr dirty="0" sz="900" spc="-20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spc="-25" b="1">
                <a:solidFill>
                  <a:srgbClr val="1B1D25"/>
                </a:solidFill>
                <a:latin typeface="맑은 고딕"/>
                <a:cs typeface="맑은 고딕"/>
              </a:rPr>
              <a:t>동일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886078" y="2048510"/>
            <a:ext cx="316103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0.9941로 완전히 같음 — 확률 순위를 매기는 능력은 전혀 </a:t>
            </a:r>
            <a:r>
              <a:rPr dirty="0" sz="900" spc="-50">
                <a:solidFill>
                  <a:srgbClr val="1B1D25"/>
                </a:solidFill>
                <a:latin typeface="맑은 고딕"/>
                <a:cs typeface="맑은 고딕"/>
              </a:rPr>
              <a:t>나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아지지 않았고, F1 상승은 임계값 부근 소수 샘플의 분류 </a:t>
            </a:r>
            <a:r>
              <a:rPr dirty="0" sz="900" spc="-25">
                <a:solidFill>
                  <a:srgbClr val="1B1D25"/>
                </a:solidFill>
                <a:latin typeface="맑은 고딕"/>
                <a:cs typeface="맑은 고딕"/>
              </a:rPr>
              <a:t>변화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583435" y="2530475"/>
            <a:ext cx="5105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사용 </a:t>
            </a:r>
            <a:r>
              <a:rPr dirty="0" sz="900" spc="-25" b="1">
                <a:solidFill>
                  <a:srgbClr val="1B1D25"/>
                </a:solidFill>
                <a:latin typeface="맑은 고딕"/>
                <a:cs typeface="맑은 고딕"/>
              </a:rPr>
              <a:t>방식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6898778" y="2515235"/>
            <a:ext cx="312293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11100"/>
              </a:lnSpc>
              <a:spcBef>
                <a:spcPts val="100"/>
              </a:spcBef>
            </a:pP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실사용은</a:t>
            </a:r>
            <a:r>
              <a:rPr dirty="0" sz="900" spc="-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확률 상위 K%를</a:t>
            </a:r>
            <a:r>
              <a:rPr dirty="0" sz="900" spc="-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뽑는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랭킹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—</a:t>
            </a:r>
            <a:r>
              <a:rPr dirty="0" sz="900" spc="-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랭킹 품질(AUC)이 </a:t>
            </a:r>
            <a:r>
              <a:rPr dirty="0" sz="900" spc="-50">
                <a:solidFill>
                  <a:srgbClr val="1B1D25"/>
                </a:solidFill>
                <a:latin typeface="맑은 고딕"/>
                <a:cs typeface="맑은 고딕"/>
              </a:rPr>
              <a:t>안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움직였다면 실무 효용 </a:t>
            </a:r>
            <a:r>
              <a:rPr dirty="0" sz="900" spc="-25">
                <a:solidFill>
                  <a:srgbClr val="1B1D25"/>
                </a:solidFill>
                <a:latin typeface="맑은 고딕"/>
                <a:cs typeface="맑은 고딕"/>
              </a:rPr>
              <a:t>없음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473699" y="2972434"/>
            <a:ext cx="4757420" cy="76136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424940" marR="168910" indent="-1315720">
              <a:lnSpc>
                <a:spcPct val="111100"/>
              </a:lnSpc>
              <a:spcBef>
                <a:spcPts val="100"/>
              </a:spcBef>
              <a:tabLst>
                <a:tab pos="1424940" algn="l"/>
              </a:tabLst>
              <a:defRPr/>
            </a:pPr>
            <a:r>
              <a:rPr sz="900" b="1">
                <a:solidFill>
                  <a:srgbClr val="1b1d25"/>
                </a:solidFill>
                <a:latin typeface="맑은 고딕"/>
                <a:ea typeface="+mj-ea"/>
                <a:cs typeface="맑은 고딕"/>
              </a:rPr>
              <a:t>운영 </a:t>
            </a:r>
            <a:r>
              <a:rPr sz="900" b="1" spc="-25">
                <a:solidFill>
                  <a:srgbClr val="1b1d25"/>
                </a:solidFill>
                <a:latin typeface="맑은 고딕"/>
                <a:ea typeface="+mj-ea"/>
                <a:cs typeface="맑은 고딕"/>
              </a:rPr>
              <a:t>리스크</a:t>
            </a:r>
            <a:r>
              <a:rPr sz="900" b="1">
                <a:solidFill>
                  <a:srgbClr val="1b1d25"/>
                </a:solidFill>
                <a:latin typeface="맑은 고딕"/>
                <a:ea typeface="+mj-ea"/>
                <a:cs typeface="맑은 고딕"/>
              </a:rPr>
              <a:t>	</a:t>
            </a:r>
            <a:r>
              <a:rPr sz="900">
                <a:solidFill>
                  <a:srgbClr val="1b1d25"/>
                </a:solidFill>
                <a:latin typeface="맑은 고딕"/>
                <a:ea typeface="+mj-ea"/>
                <a:cs typeface="맑은 고딕"/>
              </a:rPr>
              <a:t>매</a:t>
            </a:r>
            <a:r>
              <a:rPr sz="900" spc="-5">
                <a:solidFill>
                  <a:srgbClr val="1b1d25"/>
                </a:solidFill>
                <a:latin typeface="맑은 고딕"/>
                <a:ea typeface="+mj-ea"/>
                <a:cs typeface="맑은 고딕"/>
              </a:rPr>
              <a:t> </a:t>
            </a:r>
            <a:r>
              <a:rPr sz="900">
                <a:solidFill>
                  <a:srgbClr val="1b1d25"/>
                </a:solidFill>
                <a:latin typeface="맑은 고딕"/>
                <a:ea typeface="+mj-ea"/>
                <a:cs typeface="맑은 고딕"/>
              </a:rPr>
              <a:t>배치</a:t>
            </a:r>
            <a:r>
              <a:rPr sz="900" spc="-5">
                <a:solidFill>
                  <a:srgbClr val="1b1d25"/>
                </a:solidFill>
                <a:latin typeface="맑은 고딕"/>
                <a:ea typeface="+mj-ea"/>
                <a:cs typeface="맑은 고딕"/>
              </a:rPr>
              <a:t> </a:t>
            </a:r>
            <a:r>
              <a:rPr sz="900">
                <a:solidFill>
                  <a:srgbClr val="1b1d25"/>
                </a:solidFill>
                <a:latin typeface="맑은 고딕"/>
                <a:ea typeface="+mj-ea"/>
                <a:cs typeface="맑은 고딕"/>
              </a:rPr>
              <a:t>재계산</a:t>
            </a:r>
            <a:r>
              <a:rPr sz="900" spc="-5">
                <a:solidFill>
                  <a:srgbClr val="1b1d25"/>
                </a:solidFill>
                <a:latin typeface="맑은 고딕"/>
                <a:ea typeface="+mj-ea"/>
                <a:cs typeface="맑은 고딕"/>
              </a:rPr>
              <a:t> </a:t>
            </a:r>
            <a:r>
              <a:rPr sz="900">
                <a:solidFill>
                  <a:srgbClr val="1b1d25"/>
                </a:solidFill>
                <a:latin typeface="맑은 고딕"/>
                <a:ea typeface="+mj-ea"/>
                <a:cs typeface="맑은 고딕"/>
              </a:rPr>
              <a:t>필요 +</a:t>
            </a:r>
            <a:r>
              <a:rPr sz="900" spc="-5">
                <a:solidFill>
                  <a:srgbClr val="1b1d25"/>
                </a:solidFill>
                <a:latin typeface="맑은 고딕"/>
                <a:ea typeface="+mj-ea"/>
                <a:cs typeface="맑은 고딕"/>
              </a:rPr>
              <a:t> </a:t>
            </a:r>
            <a:r>
              <a:rPr sz="900" spc="-10">
                <a:solidFill>
                  <a:srgbClr val="1b1d25"/>
                </a:solidFill>
                <a:latin typeface="맑은 고딕"/>
                <a:ea typeface="+mj-ea"/>
                <a:cs typeface="맑은 고딕"/>
              </a:rPr>
              <a:t>Total_Trans_Ct=0</a:t>
            </a:r>
            <a:r>
              <a:rPr sz="900" spc="-5">
                <a:solidFill>
                  <a:srgbClr val="1b1d25"/>
                </a:solidFill>
                <a:latin typeface="맑은 고딕"/>
                <a:ea typeface="+mj-ea"/>
                <a:cs typeface="맑은 고딕"/>
              </a:rPr>
              <a:t> </a:t>
            </a:r>
            <a:r>
              <a:rPr sz="900">
                <a:solidFill>
                  <a:srgbClr val="1b1d25"/>
                </a:solidFill>
                <a:latin typeface="맑은 고딕"/>
                <a:ea typeface="+mj-ea"/>
                <a:cs typeface="맑은 고딕"/>
              </a:rPr>
              <a:t>고객에서</a:t>
            </a:r>
            <a:r>
              <a:rPr sz="900" spc="-5">
                <a:solidFill>
                  <a:srgbClr val="1b1d25"/>
                </a:solidFill>
                <a:latin typeface="맑은 고딕"/>
                <a:ea typeface="+mj-ea"/>
                <a:cs typeface="맑은 고딕"/>
              </a:rPr>
              <a:t> </a:t>
            </a:r>
            <a:r>
              <a:rPr sz="900">
                <a:solidFill>
                  <a:srgbClr val="1b1d25"/>
                </a:solidFill>
                <a:latin typeface="맑은 고딕"/>
                <a:ea typeface="+mj-ea"/>
                <a:cs typeface="맑은 고딕"/>
              </a:rPr>
              <a:t>0으로 </a:t>
            </a:r>
            <a:r>
              <a:rPr sz="900" spc="-25">
                <a:solidFill>
                  <a:srgbClr val="1b1d25"/>
                </a:solidFill>
                <a:latin typeface="맑은 고딕"/>
                <a:ea typeface="+mj-ea"/>
                <a:cs typeface="맑은 고딕"/>
              </a:rPr>
              <a:t>나누 </a:t>
            </a:r>
            <a:r>
              <a:rPr sz="900">
                <a:solidFill>
                  <a:srgbClr val="1b1d25"/>
                </a:solidFill>
                <a:latin typeface="맑은 고딕"/>
                <a:ea typeface="+mj-ea"/>
                <a:cs typeface="맑은 고딕"/>
              </a:rPr>
              <a:t>기 </a:t>
            </a:r>
            <a:r>
              <a:rPr sz="900" spc="-25">
                <a:solidFill>
                  <a:srgbClr val="1b1d25"/>
                </a:solidFill>
                <a:latin typeface="맑은 고딕"/>
                <a:ea typeface="+mj-ea"/>
                <a:cs typeface="맑은 고딕"/>
              </a:rPr>
              <a:t>발생</a:t>
            </a:r>
            <a:endParaRPr sz="900" spc="-25">
              <a:solidFill>
                <a:srgbClr val="1b1d25"/>
              </a:solidFill>
              <a:latin typeface="맑은 고딕"/>
              <a:ea typeface="+mj-ea"/>
              <a:cs typeface="맑은 고딕"/>
            </a:endParaRPr>
          </a:p>
          <a:p>
            <a:pPr marL="12700">
              <a:lnSpc>
                <a:spcPts val="900"/>
              </a:lnSpc>
              <a:tabLst>
                <a:tab pos="4744085" algn="l"/>
              </a:tabLst>
              <a:defRPr/>
            </a:pPr>
            <a:r>
              <a:rPr sz="900" u="sng">
                <a:solidFill>
                  <a:srgbClr val="1b1d25"/>
                </a:solidFill>
                <a:uFill>
                  <a:solidFill>
                    <a:srgbClr val="e6e7f1"/>
                  </a:solidFill>
                </a:uFill>
                <a:latin typeface="Times New Roman"/>
                <a:cs typeface="Times New Roman"/>
              </a:rPr>
              <a:t>	</a:t>
            </a:r>
            <a:endParaRPr sz="900" u="sng">
              <a:solidFill>
                <a:srgbClr val="1b1d25"/>
              </a:solidFill>
              <a:uFill>
                <a:solidFill>
                  <a:srgbClr val="e6e7f1"/>
                </a:solidFill>
              </a:u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defRPr/>
            </a:pPr>
            <a:endParaRPr sz="950">
              <a:latin typeface="Times New Roman"/>
              <a:cs typeface="Times New Roman"/>
            </a:endParaRPr>
          </a:p>
          <a:p>
            <a:pPr marL="198755" marR="174625">
              <a:lnSpc>
                <a:spcPct val="131900"/>
              </a:lnSpc>
              <a:defRPr/>
            </a:pPr>
            <a:endParaRPr sz="900">
              <a:latin typeface="맑은 고딕"/>
              <a:ea typeface="+mj-ea"/>
              <a:cs typeface="맑은 고딕"/>
            </a:endParaRPr>
          </a:p>
        </p:txBody>
      </p:sp>
      <p:sp>
        <p:nvSpPr>
          <p:cNvPr id="31" name="object 3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분류</a:t>
            </a:r>
            <a:r>
              <a:rPr dirty="0" spc="-5"/>
              <a:t> </a:t>
            </a:r>
            <a:r>
              <a:rPr dirty="0"/>
              <a:t>모델</a:t>
            </a:r>
            <a:r>
              <a:rPr dirty="0" spc="-5"/>
              <a:t> </a:t>
            </a:r>
            <a:r>
              <a:rPr dirty="0"/>
              <a:t>전략</a:t>
            </a:r>
            <a:r>
              <a:rPr dirty="0" spc="-5"/>
              <a:t> </a:t>
            </a:r>
            <a:r>
              <a:rPr dirty="0"/>
              <a:t>발표</a:t>
            </a:r>
            <a:r>
              <a:rPr dirty="0" spc="-5"/>
              <a:t> </a:t>
            </a:r>
            <a:r>
              <a:rPr dirty="0" spc="-25"/>
              <a:t>자료</a:t>
            </a:r>
          </a:p>
        </p:txBody>
      </p:sp>
      <p:sp>
        <p:nvSpPr>
          <p:cNvPr id="32" name="object 3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7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91232" y="403256"/>
            <a:ext cx="208661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55" b="1">
                <a:solidFill>
                  <a:srgbClr val="2E3C8F"/>
                </a:solidFill>
                <a:latin typeface="맑은 고딕"/>
                <a:cs typeface="맑은 고딕"/>
              </a:rPr>
              <a:t>분류</a:t>
            </a:r>
            <a:r>
              <a:rPr dirty="0" sz="1000" spc="225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1000" b="1">
                <a:solidFill>
                  <a:srgbClr val="2E3C8F"/>
                </a:solidFill>
                <a:latin typeface="맑은 고딕"/>
                <a:cs typeface="맑은 고딕"/>
              </a:rPr>
              <a:t>—</a:t>
            </a:r>
            <a:r>
              <a:rPr dirty="0" sz="1000" spc="229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1000" b="1">
                <a:solidFill>
                  <a:srgbClr val="2E3C8F"/>
                </a:solidFill>
                <a:latin typeface="맑은 고딕"/>
                <a:cs typeface="맑은 고딕"/>
              </a:rPr>
              <a:t>③</a:t>
            </a:r>
            <a:r>
              <a:rPr dirty="0" sz="1000" spc="225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1000" spc="90" b="1">
                <a:solidFill>
                  <a:srgbClr val="2E3C8F"/>
                </a:solidFill>
                <a:latin typeface="맑은 고딕"/>
                <a:cs typeface="맑은 고딕"/>
              </a:rPr>
              <a:t>하이퍼파라미터</a:t>
            </a:r>
            <a:r>
              <a:rPr dirty="0" sz="1000" spc="229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1000" spc="30" b="1">
                <a:solidFill>
                  <a:srgbClr val="2E3C8F"/>
                </a:solidFill>
                <a:latin typeface="맑은 고딕"/>
                <a:cs typeface="맑은 고딕"/>
              </a:rPr>
              <a:t>튜닝</a:t>
            </a:r>
            <a:endParaRPr sz="100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1232" y="647763"/>
            <a:ext cx="5150485" cy="284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0"/>
              <a:t>GridSearchCV</a:t>
            </a:r>
            <a:r>
              <a:rPr dirty="0" sz="1700" spc="-100"/>
              <a:t> </a:t>
            </a:r>
            <a:r>
              <a:rPr dirty="0" sz="1700" spc="-10"/>
              <a:t>108조합</a:t>
            </a:r>
            <a:r>
              <a:rPr dirty="0" sz="1700" spc="-95"/>
              <a:t> </a:t>
            </a:r>
            <a:r>
              <a:rPr dirty="0" sz="1700"/>
              <a:t>—</a:t>
            </a:r>
            <a:r>
              <a:rPr dirty="0" sz="1700" spc="-100"/>
              <a:t> </a:t>
            </a:r>
            <a:r>
              <a:rPr dirty="0" sz="1700"/>
              <a:t>사실상</a:t>
            </a:r>
            <a:r>
              <a:rPr dirty="0" sz="1700" spc="-95"/>
              <a:t> </a:t>
            </a:r>
            <a:r>
              <a:rPr dirty="0" sz="1700"/>
              <a:t>트리</a:t>
            </a:r>
            <a:r>
              <a:rPr dirty="0" sz="1700" spc="-100"/>
              <a:t> </a:t>
            </a:r>
            <a:r>
              <a:rPr dirty="0" sz="1700"/>
              <a:t>개수만</a:t>
            </a:r>
            <a:r>
              <a:rPr dirty="0" sz="1700" spc="-95"/>
              <a:t> </a:t>
            </a:r>
            <a:r>
              <a:rPr dirty="0" sz="1700" spc="-25"/>
              <a:t>늘었다</a:t>
            </a:r>
            <a:endParaRPr sz="1700"/>
          </a:p>
        </p:txBody>
      </p:sp>
      <p:sp>
        <p:nvSpPr>
          <p:cNvPr id="4" name="object 4" descr=""/>
          <p:cNvSpPr txBox="1"/>
          <p:nvPr/>
        </p:nvSpPr>
        <p:spPr>
          <a:xfrm>
            <a:off x="491232" y="965231"/>
            <a:ext cx="461200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4개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축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×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108개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조합을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5-fold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CV(scoring=f1)로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탐색했습니다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—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총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540회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 spc="-25">
                <a:solidFill>
                  <a:srgbClr val="5B606F"/>
                </a:solidFill>
                <a:latin typeface="맑은 고딕"/>
                <a:cs typeface="맑은 고딕"/>
              </a:rPr>
              <a:t>학습.</a:t>
            </a:r>
            <a:endParaRPr sz="1000">
              <a:latin typeface="맑은 고딕"/>
              <a:cs typeface="맑은 고딕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504824" y="1271586"/>
          <a:ext cx="5029200" cy="927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4420"/>
                <a:gridCol w="1600834"/>
                <a:gridCol w="887095"/>
                <a:gridCol w="1466214"/>
              </a:tblGrid>
              <a:tr h="31369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파라미터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5725">
                    <a:solidFill>
                      <a:srgbClr val="2E3C8F"/>
                    </a:solidFill>
                  </a:tcPr>
                </a:tc>
                <a:tc>
                  <a:txBody>
                    <a:bodyPr/>
                    <a:lstStyle/>
                    <a:p>
                      <a:pPr marL="29210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900" b="1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탐색 </a:t>
                      </a:r>
                      <a:r>
                        <a:rPr dirty="0" sz="900" spc="-25" b="1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범위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5725">
                    <a:solidFill>
                      <a:srgbClr val="2E3C8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선택값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5725">
                    <a:solidFill>
                      <a:srgbClr val="2E3C8F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900" b="1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기본값 </a:t>
                      </a:r>
                      <a:r>
                        <a:rPr dirty="0" sz="900" spc="-25" b="1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대비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5725">
                    <a:solidFill>
                      <a:srgbClr val="2E3C8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900" spc="-10" b="1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n_estimators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76200"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E7F1E3"/>
                    </a:solidFill>
                  </a:tcPr>
                </a:tc>
                <a:tc>
                  <a:txBody>
                    <a:bodyPr/>
                    <a:lstStyle/>
                    <a:p>
                      <a:pPr marL="2921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900" b="1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200 / 300 / </a:t>
                      </a:r>
                      <a:r>
                        <a:rPr dirty="0" sz="900" spc="-25" b="1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500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76200"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E7F1E3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900" spc="-25" b="1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500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76200"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E7F1E3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900" b="1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변경 (기본 </a:t>
                      </a:r>
                      <a:r>
                        <a:rPr dirty="0" sz="900" spc="-20" b="1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100)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76200"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E7F1E3"/>
                    </a:solidFil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max_depth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29210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90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5 / 7 / 10 / </a:t>
                      </a:r>
                      <a:r>
                        <a:rPr dirty="0" sz="900" spc="-25">
                          <a:solidFill>
                            <a:srgbClr val="1B1D25"/>
                          </a:solidFill>
                          <a:latin typeface="Arial"/>
                          <a:cs typeface="Arial"/>
                        </a:rPr>
                        <a:t>−</a:t>
                      </a:r>
                      <a:r>
                        <a:rPr dirty="0" sz="900" spc="-2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1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90170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900" spc="-25">
                          <a:solidFill>
                            <a:srgbClr val="1B1D25"/>
                          </a:solidFill>
                          <a:latin typeface="Arial"/>
                          <a:cs typeface="Arial"/>
                        </a:rPr>
                        <a:t>−</a:t>
                      </a:r>
                      <a:r>
                        <a:rPr dirty="0" sz="900" spc="-2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1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90170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90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기본값 </a:t>
                      </a:r>
                      <a:r>
                        <a:rPr dirty="0" sz="900" spc="-2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유지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504824" y="2275898"/>
          <a:ext cx="5029200" cy="5378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2990"/>
                <a:gridCol w="1694814"/>
                <a:gridCol w="805179"/>
                <a:gridCol w="1466214"/>
              </a:tblGrid>
              <a:tr h="23367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learning_rate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10160">
                    <a:lnB w="9525">
                      <a:solidFill>
                        <a:srgbClr val="E6E7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90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0.01 / 0.05 / </a:t>
                      </a:r>
                      <a:r>
                        <a:rPr dirty="0" sz="900" spc="-2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0.1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10160">
                    <a:lnB w="9525">
                      <a:solidFill>
                        <a:srgbClr val="E6E7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900" spc="-2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0.1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10160">
                    <a:lnB w="9525">
                      <a:solidFill>
                        <a:srgbClr val="E6E7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90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기본값 </a:t>
                      </a:r>
                      <a:r>
                        <a:rPr dirty="0" sz="900" spc="-2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유지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10160">
                    <a:lnB w="9525">
                      <a:solidFill>
                        <a:srgbClr val="E6E7F1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num_leaves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90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31 / 50 / </a:t>
                      </a:r>
                      <a:r>
                        <a:rPr dirty="0" sz="900" spc="-2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70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900" spc="-2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31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90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기본값 </a:t>
                      </a:r>
                      <a:r>
                        <a:rPr dirty="0" sz="900" spc="-2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유지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  <p:sp>
        <p:nvSpPr>
          <p:cNvPr id="7" name="object 7" descr=""/>
          <p:cNvSpPr/>
          <p:nvPr/>
        </p:nvSpPr>
        <p:spPr>
          <a:xfrm>
            <a:off x="504824" y="2943224"/>
            <a:ext cx="2438400" cy="685800"/>
          </a:xfrm>
          <a:custGeom>
            <a:avLst/>
            <a:gdLst/>
            <a:ahLst/>
            <a:cxnLst/>
            <a:rect l="l" t="t" r="r" b="b"/>
            <a:pathLst>
              <a:path w="2438400" h="685800">
                <a:moveTo>
                  <a:pt x="2354309" y="685799"/>
                </a:moveTo>
                <a:lnTo>
                  <a:pt x="84090" y="685799"/>
                </a:lnTo>
                <a:lnTo>
                  <a:pt x="78237" y="685223"/>
                </a:lnTo>
                <a:lnTo>
                  <a:pt x="35085" y="667347"/>
                </a:lnTo>
                <a:lnTo>
                  <a:pt x="9112" y="635700"/>
                </a:lnTo>
                <a:lnTo>
                  <a:pt x="0" y="601709"/>
                </a:lnTo>
                <a:lnTo>
                  <a:pt x="0" y="595801"/>
                </a:lnTo>
                <a:lnTo>
                  <a:pt x="0" y="84090"/>
                </a:lnTo>
                <a:lnTo>
                  <a:pt x="11884" y="44908"/>
                </a:lnTo>
                <a:lnTo>
                  <a:pt x="44912" y="11883"/>
                </a:lnTo>
                <a:lnTo>
                  <a:pt x="84090" y="0"/>
                </a:lnTo>
                <a:lnTo>
                  <a:pt x="2354309" y="0"/>
                </a:lnTo>
                <a:lnTo>
                  <a:pt x="2393487" y="11883"/>
                </a:lnTo>
                <a:lnTo>
                  <a:pt x="2426515" y="44908"/>
                </a:lnTo>
                <a:lnTo>
                  <a:pt x="2438399" y="84090"/>
                </a:lnTo>
                <a:lnTo>
                  <a:pt x="2438399" y="601709"/>
                </a:lnTo>
                <a:lnTo>
                  <a:pt x="2426514" y="640886"/>
                </a:lnTo>
                <a:lnTo>
                  <a:pt x="2393487" y="673912"/>
                </a:lnTo>
                <a:lnTo>
                  <a:pt x="2360161" y="685223"/>
                </a:lnTo>
                <a:lnTo>
                  <a:pt x="2354309" y="685799"/>
                </a:lnTo>
                <a:close/>
              </a:path>
            </a:pathLst>
          </a:custGeom>
          <a:solidFill>
            <a:srgbClr val="F1F4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173757" y="2934257"/>
            <a:ext cx="1101725" cy="585470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1095"/>
              </a:spcBef>
            </a:pPr>
            <a:r>
              <a:rPr dirty="0" sz="1600" spc="-10" b="1">
                <a:solidFill>
                  <a:srgbClr val="2E3C8F"/>
                </a:solidFill>
                <a:latin typeface="맑은 고딕"/>
                <a:cs typeface="맑은 고딕"/>
              </a:rPr>
              <a:t>0.9215</a:t>
            </a:r>
            <a:endParaRPr sz="1600">
              <a:latin typeface="맑은 고딕"/>
              <a:cs typeface="맑은 고딕"/>
            </a:endParaRPr>
          </a:p>
          <a:p>
            <a:pPr algn="ctr">
              <a:lnSpc>
                <a:spcPct val="100000"/>
              </a:lnSpc>
              <a:spcBef>
                <a:spcPts val="530"/>
              </a:spcBef>
            </a:pPr>
            <a:r>
              <a:rPr dirty="0" sz="800">
                <a:solidFill>
                  <a:srgbClr val="5B606F"/>
                </a:solidFill>
                <a:latin typeface="맑은 고딕"/>
                <a:cs typeface="맑은 고딕"/>
              </a:rPr>
              <a:t>CV</a:t>
            </a:r>
            <a:r>
              <a:rPr dirty="0" sz="800" spc="30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5B606F"/>
                </a:solidFill>
                <a:latin typeface="맑은 고딕"/>
                <a:cs typeface="맑은 고딕"/>
              </a:rPr>
              <a:t>평균</a:t>
            </a:r>
            <a:r>
              <a:rPr dirty="0" sz="800" spc="30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5B606F"/>
                </a:solidFill>
                <a:latin typeface="맑은 고딕"/>
                <a:cs typeface="맑은 고딕"/>
              </a:rPr>
              <a:t>F1</a:t>
            </a:r>
            <a:r>
              <a:rPr dirty="0" sz="800" spc="30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5B606F"/>
                </a:solidFill>
                <a:latin typeface="맑은 고딕"/>
                <a:cs typeface="맑은 고딕"/>
              </a:rPr>
              <a:t>(탐색</a:t>
            </a:r>
            <a:r>
              <a:rPr dirty="0" sz="800" spc="3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800" spc="-25">
                <a:solidFill>
                  <a:srgbClr val="5B606F"/>
                </a:solidFill>
                <a:latin typeface="맑은 고딕"/>
                <a:cs typeface="맑은 고딕"/>
              </a:rPr>
              <a:t>기준)</a:t>
            </a:r>
            <a:endParaRPr sz="800">
              <a:latin typeface="맑은 고딕"/>
              <a:cs typeface="맑은 고딕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3086099" y="2943224"/>
            <a:ext cx="2447925" cy="685800"/>
          </a:xfrm>
          <a:custGeom>
            <a:avLst/>
            <a:gdLst/>
            <a:ahLst/>
            <a:cxnLst/>
            <a:rect l="l" t="t" r="r" b="b"/>
            <a:pathLst>
              <a:path w="2447925" h="685800">
                <a:moveTo>
                  <a:pt x="2363834" y="685799"/>
                </a:moveTo>
                <a:lnTo>
                  <a:pt x="84090" y="685799"/>
                </a:lnTo>
                <a:lnTo>
                  <a:pt x="78237" y="685223"/>
                </a:lnTo>
                <a:lnTo>
                  <a:pt x="35085" y="667347"/>
                </a:lnTo>
                <a:lnTo>
                  <a:pt x="9111" y="635700"/>
                </a:lnTo>
                <a:lnTo>
                  <a:pt x="0" y="601709"/>
                </a:lnTo>
                <a:lnTo>
                  <a:pt x="0" y="595801"/>
                </a:lnTo>
                <a:lnTo>
                  <a:pt x="0" y="84090"/>
                </a:lnTo>
                <a:lnTo>
                  <a:pt x="11884" y="44908"/>
                </a:lnTo>
                <a:lnTo>
                  <a:pt x="44911" y="11883"/>
                </a:lnTo>
                <a:lnTo>
                  <a:pt x="84090" y="0"/>
                </a:lnTo>
                <a:lnTo>
                  <a:pt x="2363834" y="0"/>
                </a:lnTo>
                <a:lnTo>
                  <a:pt x="2403011" y="11883"/>
                </a:lnTo>
                <a:lnTo>
                  <a:pt x="2436039" y="44908"/>
                </a:lnTo>
                <a:lnTo>
                  <a:pt x="2447924" y="84090"/>
                </a:lnTo>
                <a:lnTo>
                  <a:pt x="2447924" y="601709"/>
                </a:lnTo>
                <a:lnTo>
                  <a:pt x="2436039" y="640886"/>
                </a:lnTo>
                <a:lnTo>
                  <a:pt x="2403011" y="673912"/>
                </a:lnTo>
                <a:lnTo>
                  <a:pt x="2369686" y="685223"/>
                </a:lnTo>
                <a:lnTo>
                  <a:pt x="2363834" y="685799"/>
                </a:lnTo>
                <a:close/>
              </a:path>
            </a:pathLst>
          </a:custGeom>
          <a:solidFill>
            <a:srgbClr val="F1F4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3502917" y="2934257"/>
            <a:ext cx="1615440" cy="585470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95"/>
              </a:spcBef>
            </a:pPr>
            <a:r>
              <a:rPr dirty="0" sz="1600" spc="-10" b="1">
                <a:solidFill>
                  <a:srgbClr val="2E3C8F"/>
                </a:solidFill>
                <a:latin typeface="맑은 고딕"/>
                <a:cs typeface="맑은 고딕"/>
              </a:rPr>
              <a:t>0.9008</a:t>
            </a:r>
            <a:r>
              <a:rPr dirty="0" sz="1600" spc="-85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1600" b="1">
                <a:solidFill>
                  <a:srgbClr val="2E3C8F"/>
                </a:solidFill>
                <a:latin typeface="맑은 고딕"/>
                <a:cs typeface="맑은 고딕"/>
              </a:rPr>
              <a:t>→</a:t>
            </a:r>
            <a:r>
              <a:rPr dirty="0" sz="1600" spc="-80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1600" spc="-10" b="1">
                <a:solidFill>
                  <a:srgbClr val="2E3C8F"/>
                </a:solidFill>
                <a:latin typeface="맑은 고딕"/>
                <a:cs typeface="맑은 고딕"/>
              </a:rPr>
              <a:t>0.9012</a:t>
            </a:r>
            <a:endParaRPr sz="1600">
              <a:latin typeface="맑은 고딕"/>
              <a:cs typeface="맑은 고딕"/>
            </a:endParaRPr>
          </a:p>
          <a:p>
            <a:pPr algn="ctr">
              <a:lnSpc>
                <a:spcPct val="100000"/>
              </a:lnSpc>
              <a:spcBef>
                <a:spcPts val="530"/>
              </a:spcBef>
            </a:pPr>
            <a:r>
              <a:rPr dirty="0" sz="800">
                <a:solidFill>
                  <a:srgbClr val="5B606F"/>
                </a:solidFill>
                <a:latin typeface="맑은 고딕"/>
                <a:cs typeface="맑은 고딕"/>
              </a:rPr>
              <a:t>Validation</a:t>
            </a:r>
            <a:r>
              <a:rPr dirty="0" sz="800" spc="20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5B606F"/>
                </a:solidFill>
                <a:latin typeface="맑은 고딕"/>
                <a:cs typeface="맑은 고딕"/>
              </a:rPr>
              <a:t>F1</a:t>
            </a:r>
            <a:r>
              <a:rPr dirty="0" sz="800" spc="2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5B606F"/>
                </a:solidFill>
                <a:latin typeface="맑은 고딕"/>
                <a:cs typeface="맑은 고딕"/>
              </a:rPr>
              <a:t>(튜닝</a:t>
            </a:r>
            <a:r>
              <a:rPr dirty="0" sz="800" spc="2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5B606F"/>
                </a:solidFill>
                <a:latin typeface="맑은 고딕"/>
                <a:cs typeface="맑은 고딕"/>
              </a:rPr>
              <a:t>전</a:t>
            </a:r>
            <a:r>
              <a:rPr dirty="0" sz="800" spc="20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5B606F"/>
                </a:solidFill>
                <a:latin typeface="맑은 고딕"/>
                <a:cs typeface="맑은 고딕"/>
              </a:rPr>
              <a:t>→</a:t>
            </a:r>
            <a:r>
              <a:rPr dirty="0" sz="800" spc="2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800" spc="-25">
                <a:solidFill>
                  <a:srgbClr val="5B606F"/>
                </a:solidFill>
                <a:latin typeface="맑은 고딕"/>
                <a:cs typeface="맑은 고딕"/>
              </a:rPr>
              <a:t>후)</a:t>
            </a:r>
            <a:endParaRPr sz="800">
              <a:latin typeface="맑은 고딕"/>
              <a:cs typeface="맑은 고딕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504824" y="3752848"/>
            <a:ext cx="5029200" cy="552450"/>
            <a:chOff x="504824" y="3752848"/>
            <a:chExt cx="5029200" cy="552450"/>
          </a:xfrm>
        </p:grpSpPr>
        <p:sp>
          <p:nvSpPr>
            <p:cNvPr id="12" name="object 12" descr=""/>
            <p:cNvSpPr/>
            <p:nvPr/>
          </p:nvSpPr>
          <p:spPr>
            <a:xfrm>
              <a:off x="561974" y="3752848"/>
              <a:ext cx="4972050" cy="552450"/>
            </a:xfrm>
            <a:custGeom>
              <a:avLst/>
              <a:gdLst/>
              <a:ahLst/>
              <a:cxnLst/>
              <a:rect l="l" t="t" r="r" b="b"/>
              <a:pathLst>
                <a:path w="4972050" h="552450">
                  <a:moveTo>
                    <a:pt x="0" y="552449"/>
                  </a:moveTo>
                  <a:lnTo>
                    <a:pt x="4972049" y="552449"/>
                  </a:lnTo>
                  <a:lnTo>
                    <a:pt x="4972049" y="0"/>
                  </a:lnTo>
                  <a:lnTo>
                    <a:pt x="0" y="0"/>
                  </a:lnTo>
                  <a:lnTo>
                    <a:pt x="0" y="552449"/>
                  </a:lnTo>
                  <a:close/>
                </a:path>
              </a:pathLst>
            </a:custGeom>
            <a:solidFill>
              <a:srgbClr val="F4F5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04824" y="3752848"/>
              <a:ext cx="57150" cy="552450"/>
            </a:xfrm>
            <a:custGeom>
              <a:avLst/>
              <a:gdLst/>
              <a:ahLst/>
              <a:cxnLst/>
              <a:rect l="l" t="t" r="r" b="b"/>
              <a:pathLst>
                <a:path w="57150" h="552450">
                  <a:moveTo>
                    <a:pt x="57149" y="552449"/>
                  </a:moveTo>
                  <a:lnTo>
                    <a:pt x="0" y="552449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552449"/>
                  </a:lnTo>
                  <a:close/>
                </a:path>
              </a:pathLst>
            </a:custGeom>
            <a:solidFill>
              <a:srgbClr val="2E3C8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561974" y="3811130"/>
            <a:ext cx="4972050" cy="3873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4460" marR="173990">
              <a:lnSpc>
                <a:spcPct val="131900"/>
              </a:lnSpc>
              <a:spcBef>
                <a:spcPts val="95"/>
              </a:spcBef>
            </a:pP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class_weight="balanced"는</a:t>
            </a:r>
            <a:r>
              <a:rPr dirty="0" sz="900" spc="6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전</a:t>
            </a:r>
            <a:r>
              <a:rPr dirty="0" sz="900" spc="6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후보</a:t>
            </a:r>
            <a:r>
              <a:rPr dirty="0" sz="900" spc="6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공통</a:t>
            </a:r>
            <a:r>
              <a:rPr dirty="0" sz="900" spc="6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적용</a:t>
            </a:r>
            <a:r>
              <a:rPr dirty="0" sz="900" spc="6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—</a:t>
            </a:r>
            <a:r>
              <a:rPr dirty="0" sz="900" spc="6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이탈</a:t>
            </a:r>
            <a:r>
              <a:rPr dirty="0" sz="900" spc="6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16%의</a:t>
            </a:r>
            <a:r>
              <a:rPr dirty="0" sz="900" spc="6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불균형을</a:t>
            </a:r>
            <a:r>
              <a:rPr dirty="0" sz="900" spc="6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학습</a:t>
            </a:r>
            <a:r>
              <a:rPr dirty="0" sz="900" spc="6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단계에서</a:t>
            </a:r>
            <a:r>
              <a:rPr dirty="0" sz="900" spc="6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spc="-50">
                <a:solidFill>
                  <a:srgbClr val="1B1D25"/>
                </a:solidFill>
                <a:latin typeface="맑은 고딕"/>
                <a:cs typeface="맑은 고딕"/>
              </a:rPr>
              <a:t>보 </a:t>
            </a:r>
            <a:r>
              <a:rPr dirty="0" sz="900" spc="-10">
                <a:solidFill>
                  <a:srgbClr val="1B1D25"/>
                </a:solidFill>
                <a:latin typeface="맑은 고딕"/>
                <a:cs typeface="맑은 고딕"/>
              </a:rPr>
              <a:t>정합니다.</a:t>
            </a:r>
            <a:endParaRPr sz="900">
              <a:latin typeface="맑은 고딕"/>
              <a:cs typeface="맑은 고딕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5819774" y="2886074"/>
            <a:ext cx="4371975" cy="733425"/>
            <a:chOff x="5819774" y="2886074"/>
            <a:chExt cx="4371975" cy="733425"/>
          </a:xfrm>
        </p:grpSpPr>
        <p:sp>
          <p:nvSpPr>
            <p:cNvPr id="16" name="object 16" descr=""/>
            <p:cNvSpPr/>
            <p:nvPr/>
          </p:nvSpPr>
          <p:spPr>
            <a:xfrm>
              <a:off x="5876924" y="2886074"/>
              <a:ext cx="4314825" cy="733425"/>
            </a:xfrm>
            <a:custGeom>
              <a:avLst/>
              <a:gdLst/>
              <a:ahLst/>
              <a:cxnLst/>
              <a:rect l="l" t="t" r="r" b="b"/>
              <a:pathLst>
                <a:path w="4314825" h="733425">
                  <a:moveTo>
                    <a:pt x="0" y="733424"/>
                  </a:moveTo>
                  <a:lnTo>
                    <a:pt x="4314824" y="733424"/>
                  </a:lnTo>
                  <a:lnTo>
                    <a:pt x="4314824" y="0"/>
                  </a:lnTo>
                  <a:lnTo>
                    <a:pt x="0" y="0"/>
                  </a:lnTo>
                  <a:lnTo>
                    <a:pt x="0" y="733424"/>
                  </a:lnTo>
                  <a:close/>
                </a:path>
              </a:pathLst>
            </a:custGeom>
            <a:solidFill>
              <a:srgbClr val="F4F5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819774" y="2886074"/>
              <a:ext cx="57150" cy="733425"/>
            </a:xfrm>
            <a:custGeom>
              <a:avLst/>
              <a:gdLst/>
              <a:ahLst/>
              <a:cxnLst/>
              <a:rect l="l" t="t" r="r" b="b"/>
              <a:pathLst>
                <a:path w="57150" h="733425">
                  <a:moveTo>
                    <a:pt x="57149" y="733424"/>
                  </a:moveTo>
                  <a:lnTo>
                    <a:pt x="0" y="733424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733424"/>
                  </a:lnTo>
                  <a:close/>
                </a:path>
              </a:pathLst>
            </a:custGeom>
            <a:solidFill>
              <a:srgbClr val="2E3C8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5804991" y="1273175"/>
            <a:ext cx="4387215" cy="2239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2E3C8F"/>
                </a:solidFill>
                <a:latin typeface="맑은 고딕"/>
                <a:cs typeface="맑은 고딕"/>
              </a:rPr>
              <a:t>튜닝을 여기서 끊은 </a:t>
            </a:r>
            <a:r>
              <a:rPr dirty="0" sz="1050" spc="-25" b="1">
                <a:solidFill>
                  <a:srgbClr val="2E3C8F"/>
                </a:solidFill>
                <a:latin typeface="맑은 고딕"/>
                <a:cs typeface="맑은 고딕"/>
              </a:rPr>
              <a:t>이유</a:t>
            </a:r>
            <a:endParaRPr sz="1050">
              <a:latin typeface="맑은 고딕"/>
              <a:cs typeface="맑은 고딕"/>
            </a:endParaRPr>
          </a:p>
          <a:p>
            <a:pPr marL="12700" marR="52069">
              <a:lnSpc>
                <a:spcPct val="131600"/>
              </a:lnSpc>
              <a:spcBef>
                <a:spcPts val="430"/>
              </a:spcBef>
            </a:pP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4개</a:t>
            </a:r>
            <a:r>
              <a:rPr dirty="0" sz="950" spc="2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축</a:t>
            </a:r>
            <a:r>
              <a:rPr dirty="0" sz="950" spc="2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중</a:t>
            </a:r>
            <a:r>
              <a:rPr dirty="0" sz="950" spc="2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 b="1">
                <a:solidFill>
                  <a:srgbClr val="1B1D25"/>
                </a:solidFill>
                <a:latin typeface="맑은 고딕"/>
                <a:cs typeface="맑은 고딕"/>
              </a:rPr>
              <a:t>3개가</a:t>
            </a:r>
            <a:r>
              <a:rPr dirty="0" sz="950" spc="2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 b="1">
                <a:solidFill>
                  <a:srgbClr val="1B1D25"/>
                </a:solidFill>
                <a:latin typeface="맑은 고딕"/>
                <a:cs typeface="맑은 고딕"/>
              </a:rPr>
              <a:t>기본값으로</a:t>
            </a:r>
            <a:r>
              <a:rPr dirty="0" sz="950" spc="2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 b="1">
                <a:solidFill>
                  <a:srgbClr val="1B1D25"/>
                </a:solidFill>
                <a:latin typeface="맑은 고딕"/>
                <a:cs typeface="맑은 고딕"/>
              </a:rPr>
              <a:t>돌아왔다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는</a:t>
            </a:r>
            <a:r>
              <a:rPr dirty="0" sz="950" spc="2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것은</a:t>
            </a:r>
            <a:r>
              <a:rPr dirty="0" sz="950" spc="2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탐색</a:t>
            </a:r>
            <a:r>
              <a:rPr dirty="0" sz="950" spc="2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공간의</a:t>
            </a:r>
            <a:r>
              <a:rPr dirty="0" sz="950" spc="2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중심이</a:t>
            </a:r>
            <a:r>
              <a:rPr dirty="0" sz="950" spc="2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이미</a:t>
            </a:r>
            <a:r>
              <a:rPr dirty="0" sz="950" spc="2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 spc="-25">
                <a:solidFill>
                  <a:srgbClr val="1B1D25"/>
                </a:solidFill>
                <a:latin typeface="맑은 고딕"/>
                <a:cs typeface="맑은 고딕"/>
              </a:rPr>
              <a:t>최적점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근처라는</a:t>
            </a:r>
            <a:r>
              <a:rPr dirty="0" sz="950" spc="3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뜻입니다.</a:t>
            </a:r>
            <a:r>
              <a:rPr dirty="0" sz="950" spc="3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그리드를</a:t>
            </a:r>
            <a:r>
              <a:rPr dirty="0" sz="950" spc="3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넓혀도</a:t>
            </a:r>
            <a:r>
              <a:rPr dirty="0" sz="950" spc="3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소득은</a:t>
            </a:r>
            <a:r>
              <a:rPr dirty="0" sz="950" spc="3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소수점</a:t>
            </a:r>
            <a:r>
              <a:rPr dirty="0" sz="950" spc="3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넷째</a:t>
            </a:r>
            <a:r>
              <a:rPr dirty="0" sz="950" spc="3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자리에서</a:t>
            </a:r>
            <a:r>
              <a:rPr dirty="0" sz="950" spc="3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움직일</a:t>
            </a:r>
            <a:r>
              <a:rPr dirty="0" sz="950" spc="3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 spc="-25">
                <a:solidFill>
                  <a:srgbClr val="1B1D25"/>
                </a:solidFill>
                <a:latin typeface="맑은 고딕"/>
                <a:cs typeface="맑은 고딕"/>
              </a:rPr>
              <a:t>가능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성이</a:t>
            </a:r>
            <a:r>
              <a:rPr dirty="0" sz="950" spc="2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높고,</a:t>
            </a:r>
            <a:r>
              <a:rPr dirty="0" sz="950" spc="2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그</a:t>
            </a:r>
            <a:r>
              <a:rPr dirty="0" sz="950" spc="2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정도</a:t>
            </a:r>
            <a:r>
              <a:rPr dirty="0" sz="950" spc="2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차이는</a:t>
            </a:r>
            <a:r>
              <a:rPr dirty="0" sz="950" spc="2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분할이</a:t>
            </a:r>
            <a:r>
              <a:rPr dirty="0" sz="950" spc="2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바뀌면</a:t>
            </a:r>
            <a:r>
              <a:rPr dirty="0" sz="950" spc="2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 spc="-10">
                <a:solidFill>
                  <a:srgbClr val="1B1D25"/>
                </a:solidFill>
                <a:latin typeface="맑은 고딕"/>
                <a:cs typeface="맑은 고딕"/>
              </a:rPr>
              <a:t>뒤집힙니다.</a:t>
            </a:r>
            <a:endParaRPr sz="950">
              <a:latin typeface="맑은 고딕"/>
              <a:cs typeface="맑은 고딕"/>
            </a:endParaRPr>
          </a:p>
          <a:p>
            <a:pPr marL="12700" marR="78740">
              <a:lnSpc>
                <a:spcPct val="134900"/>
              </a:lnSpc>
              <a:spcBef>
                <a:spcPts val="710"/>
              </a:spcBef>
            </a:pP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남은</a:t>
            </a:r>
            <a:r>
              <a:rPr dirty="0" sz="950" spc="3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개선</a:t>
            </a:r>
            <a:r>
              <a:rPr dirty="0" sz="950" spc="3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여지는</a:t>
            </a:r>
            <a:r>
              <a:rPr dirty="0" sz="950" spc="3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하이퍼파라미터가</a:t>
            </a:r>
            <a:r>
              <a:rPr dirty="0" sz="950" spc="3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아니라</a:t>
            </a:r>
            <a:r>
              <a:rPr dirty="0" sz="950" spc="3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다른</a:t>
            </a:r>
            <a:r>
              <a:rPr dirty="0" sz="950" spc="3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곳에</a:t>
            </a:r>
            <a:r>
              <a:rPr dirty="0" sz="950" spc="3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있다고</a:t>
            </a:r>
            <a:r>
              <a:rPr dirty="0" sz="950" spc="3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판단하고</a:t>
            </a:r>
            <a:r>
              <a:rPr dirty="0" sz="950" spc="3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 spc="-25">
                <a:solidFill>
                  <a:srgbClr val="1B1D25"/>
                </a:solidFill>
                <a:latin typeface="맑은 고딕"/>
                <a:cs typeface="맑은 고딕"/>
              </a:rPr>
              <a:t>튜닝을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종료</a:t>
            </a:r>
            <a:r>
              <a:rPr dirty="0" sz="950" spc="2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—</a:t>
            </a:r>
            <a:r>
              <a:rPr dirty="0" sz="950" spc="2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이</a:t>
            </a:r>
            <a:r>
              <a:rPr dirty="0" sz="950" spc="2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판단이</a:t>
            </a:r>
            <a:r>
              <a:rPr dirty="0" sz="950" spc="2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맞았는지는</a:t>
            </a:r>
            <a:r>
              <a:rPr dirty="0" sz="950" spc="2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다음</a:t>
            </a:r>
            <a:r>
              <a:rPr dirty="0" sz="950" spc="2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두</a:t>
            </a:r>
            <a:r>
              <a:rPr dirty="0" sz="950" spc="2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단계(앙상블</a:t>
            </a:r>
            <a:r>
              <a:rPr dirty="0" sz="950" spc="2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·</a:t>
            </a:r>
            <a:r>
              <a:rPr dirty="0" sz="950" spc="2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피처</a:t>
            </a:r>
            <a:r>
              <a:rPr dirty="0" sz="950" spc="2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>
                <a:solidFill>
                  <a:srgbClr val="1B1D25"/>
                </a:solidFill>
                <a:latin typeface="맑은 고딕"/>
                <a:cs typeface="맑은 고딕"/>
              </a:rPr>
              <a:t>실험)에서</a:t>
            </a:r>
            <a:r>
              <a:rPr dirty="0" sz="950" spc="2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50" spc="-20">
                <a:solidFill>
                  <a:srgbClr val="1B1D25"/>
                </a:solidFill>
                <a:latin typeface="맑은 고딕"/>
                <a:cs typeface="맑은 고딕"/>
              </a:rPr>
              <a:t>검증됩니 </a:t>
            </a:r>
            <a:r>
              <a:rPr dirty="0" sz="950" spc="-25">
                <a:solidFill>
                  <a:srgbClr val="1B1D25"/>
                </a:solidFill>
                <a:latin typeface="맑은 고딕"/>
                <a:cs typeface="맑은 고딕"/>
              </a:rPr>
              <a:t>다.</a:t>
            </a:r>
            <a:endParaRPr sz="95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00">
              <a:latin typeface="맑은 고딕"/>
              <a:cs typeface="맑은 고딕"/>
            </a:endParaRPr>
          </a:p>
          <a:p>
            <a:pPr marL="195580" marR="265430">
              <a:lnSpc>
                <a:spcPct val="131900"/>
              </a:lnSpc>
            </a:pP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확정된</a:t>
            </a:r>
            <a:r>
              <a:rPr dirty="0" sz="900" spc="6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최적값은</a:t>
            </a:r>
            <a:r>
              <a:rPr dirty="0" sz="900" spc="6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BEST_PARAMS</a:t>
            </a:r>
            <a:r>
              <a:rPr dirty="0" sz="900" spc="6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상수로</a:t>
            </a:r>
            <a:r>
              <a:rPr dirty="0" sz="900" spc="6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코드에</a:t>
            </a:r>
            <a:r>
              <a:rPr dirty="0" sz="900" spc="60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spc="-25" b="1">
                <a:solidFill>
                  <a:srgbClr val="1B1D25"/>
                </a:solidFill>
                <a:latin typeface="맑은 고딕"/>
                <a:cs typeface="맑은 고딕"/>
              </a:rPr>
              <a:t>고정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(src/hyperparameter/classification_search.py)</a:t>
            </a:r>
            <a:r>
              <a:rPr dirty="0" sz="900" spc="12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—</a:t>
            </a:r>
            <a:r>
              <a:rPr dirty="0" sz="900" spc="12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최종</a:t>
            </a:r>
            <a:r>
              <a:rPr dirty="0" sz="900" spc="12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파이프라인은</a:t>
            </a:r>
            <a:r>
              <a:rPr dirty="0" sz="900" spc="12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spc="-25">
                <a:solidFill>
                  <a:srgbClr val="1B1D25"/>
                </a:solidFill>
                <a:latin typeface="맑은 고딕"/>
                <a:cs typeface="맑은 고딕"/>
              </a:rPr>
              <a:t>재탐색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없이</a:t>
            </a:r>
            <a:r>
              <a:rPr dirty="0" sz="900" spc="4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이</a:t>
            </a:r>
            <a:r>
              <a:rPr dirty="0" sz="900" spc="4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값만</a:t>
            </a:r>
            <a:r>
              <a:rPr dirty="0" sz="900" spc="4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읽어</a:t>
            </a:r>
            <a:r>
              <a:rPr dirty="0" sz="900" spc="4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재현성을</a:t>
            </a:r>
            <a:r>
              <a:rPr dirty="0" sz="900" spc="4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spc="-10">
                <a:solidFill>
                  <a:srgbClr val="1B1D25"/>
                </a:solidFill>
                <a:latin typeface="맑은 고딕"/>
                <a:cs typeface="맑은 고딕"/>
              </a:rPr>
              <a:t>보장합니다.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19" name="object 1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분류</a:t>
            </a:r>
            <a:r>
              <a:rPr dirty="0" spc="-5"/>
              <a:t> </a:t>
            </a:r>
            <a:r>
              <a:rPr dirty="0"/>
              <a:t>모델</a:t>
            </a:r>
            <a:r>
              <a:rPr dirty="0" spc="-5"/>
              <a:t> </a:t>
            </a:r>
            <a:r>
              <a:rPr dirty="0"/>
              <a:t>전략</a:t>
            </a:r>
            <a:r>
              <a:rPr dirty="0" spc="-5"/>
              <a:t> </a:t>
            </a:r>
            <a:r>
              <a:rPr dirty="0"/>
              <a:t>발표</a:t>
            </a:r>
            <a:r>
              <a:rPr dirty="0" spc="-5"/>
              <a:t> </a:t>
            </a:r>
            <a:r>
              <a:rPr dirty="0" spc="-25"/>
              <a:t>자료</a:t>
            </a:r>
          </a:p>
        </p:txBody>
      </p: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7</a:t>
            </a:fld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91232" y="403256"/>
            <a:ext cx="15214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55" b="1">
                <a:solidFill>
                  <a:srgbClr val="2E3C8F"/>
                </a:solidFill>
                <a:latin typeface="맑은 고딕"/>
                <a:cs typeface="맑은 고딕"/>
              </a:rPr>
              <a:t>분류</a:t>
            </a:r>
            <a:r>
              <a:rPr dirty="0" sz="1000" spc="220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1000" b="1">
                <a:solidFill>
                  <a:srgbClr val="2E3C8F"/>
                </a:solidFill>
                <a:latin typeface="맑은 고딕"/>
                <a:cs typeface="맑은 고딕"/>
              </a:rPr>
              <a:t>—</a:t>
            </a:r>
            <a:r>
              <a:rPr dirty="0" sz="1000" spc="225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1000" b="1">
                <a:solidFill>
                  <a:srgbClr val="2E3C8F"/>
                </a:solidFill>
                <a:latin typeface="맑은 고딕"/>
                <a:cs typeface="맑은 고딕"/>
              </a:rPr>
              <a:t>④</a:t>
            </a:r>
            <a:r>
              <a:rPr dirty="0" sz="1000" spc="220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1000" spc="70" b="1">
                <a:solidFill>
                  <a:srgbClr val="2E3C8F"/>
                </a:solidFill>
                <a:latin typeface="맑은 고딕"/>
                <a:cs typeface="맑은 고딕"/>
              </a:rPr>
              <a:t>앙상블</a:t>
            </a:r>
            <a:r>
              <a:rPr dirty="0" sz="1000" spc="225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1000" spc="30" b="1">
                <a:solidFill>
                  <a:srgbClr val="2E3C8F"/>
                </a:solidFill>
                <a:latin typeface="맑은 고딕"/>
                <a:cs typeface="맑은 고딕"/>
              </a:rPr>
              <a:t>검증</a:t>
            </a:r>
            <a:endParaRPr sz="100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491232" y="647763"/>
            <a:ext cx="5046345" cy="266637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700" spc="-40"/>
              <a:t>Voting</a:t>
            </a:r>
            <a:r>
              <a:rPr sz="1700" spc="-104"/>
              <a:t> </a:t>
            </a:r>
            <a:r>
              <a:rPr sz="1700"/>
              <a:t>·</a:t>
            </a:r>
            <a:r>
              <a:rPr sz="1700" spc="-95"/>
              <a:t> </a:t>
            </a:r>
            <a:r>
              <a:rPr sz="1700" spc="-30"/>
              <a:t>Stacking</a:t>
            </a:r>
            <a:r>
              <a:rPr sz="1700" spc="-95"/>
              <a:t> </a:t>
            </a:r>
            <a:r>
              <a:rPr sz="1700"/>
              <a:t>—</a:t>
            </a:r>
            <a:r>
              <a:rPr sz="1700" spc="-95"/>
              <a:t> </a:t>
            </a:r>
            <a:r>
              <a:rPr sz="1700" spc="-10"/>
              <a:t>시도했</a:t>
            </a:r>
            <a:r>
              <a:rPr lang="ko-KR" altLang="en-US" sz="1700" spc="-10"/>
              <a:t>지만</a:t>
            </a:r>
            <a:r>
              <a:rPr sz="1700" spc="-95"/>
              <a:t> </a:t>
            </a:r>
            <a:r>
              <a:rPr sz="1700"/>
              <a:t>단독</a:t>
            </a:r>
            <a:r>
              <a:rPr sz="1700" spc="-95"/>
              <a:t> </a:t>
            </a:r>
            <a:r>
              <a:rPr sz="1700"/>
              <a:t>모델</a:t>
            </a:r>
            <a:r>
              <a:rPr lang="ko-KR" altLang="en-US" sz="1700" spc="-25"/>
              <a:t>이 이겼다</a:t>
            </a:r>
            <a:endParaRPr lang="ko-KR" altLang="en-US" sz="1700" spc="-25"/>
          </a:p>
        </p:txBody>
      </p:sp>
      <p:sp>
        <p:nvSpPr>
          <p:cNvPr id="4" name="object 4" descr=""/>
          <p:cNvSpPr txBox="1"/>
          <p:nvPr/>
        </p:nvSpPr>
        <p:spPr>
          <a:xfrm>
            <a:off x="491232" y="965231"/>
            <a:ext cx="677608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RF</a:t>
            </a:r>
            <a:r>
              <a:rPr dirty="0" sz="1000" spc="-30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+</a:t>
            </a:r>
            <a:r>
              <a:rPr dirty="0" sz="1000" spc="-20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XGBoost</a:t>
            </a:r>
            <a:r>
              <a:rPr dirty="0" sz="1000" spc="-20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+</a:t>
            </a:r>
            <a:r>
              <a:rPr dirty="0" sz="1000" spc="-1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튜닝</a:t>
            </a:r>
            <a:r>
              <a:rPr dirty="0" sz="1000" spc="-20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LightGBM으로</a:t>
            </a:r>
            <a:r>
              <a:rPr dirty="0" sz="1000" spc="-20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Soft</a:t>
            </a:r>
            <a:r>
              <a:rPr dirty="0" sz="1000" spc="-1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Voting과</a:t>
            </a:r>
            <a:r>
              <a:rPr dirty="0" sz="1000" spc="-20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Stacking(메타</a:t>
            </a:r>
            <a:r>
              <a:rPr dirty="0" sz="1000" spc="-20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=</a:t>
            </a:r>
            <a:r>
              <a:rPr dirty="0" sz="1000" spc="-1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LogisticRegression,</a:t>
            </a:r>
            <a:r>
              <a:rPr dirty="0" sz="1000" spc="-20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cv=5)을</a:t>
            </a:r>
            <a:r>
              <a:rPr dirty="0" sz="1000" spc="-20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구성해</a:t>
            </a:r>
            <a:r>
              <a:rPr dirty="0" sz="1000" spc="-1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 spc="-10">
                <a:solidFill>
                  <a:srgbClr val="5B606F"/>
                </a:solidFill>
                <a:latin typeface="맑은 고딕"/>
                <a:cs typeface="맑은 고딕"/>
              </a:rPr>
              <a:t>비교했습니다.</a:t>
            </a:r>
            <a:endParaRPr sz="1000">
              <a:latin typeface="맑은 고딕"/>
              <a:cs typeface="맑은 고딕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8205" y="1935996"/>
            <a:ext cx="4862945" cy="2842647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359197" y="4934013"/>
            <a:ext cx="350964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최종</a:t>
            </a:r>
            <a:r>
              <a:rPr dirty="0" sz="800" spc="-25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모델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후보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비교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(Validation)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—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두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앙상블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모두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튜닝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단독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모델보다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 spc="-25">
                <a:solidFill>
                  <a:srgbClr val="8A8F9D"/>
                </a:solidFill>
                <a:latin typeface="맑은 고딕"/>
                <a:cs typeface="맑은 고딕"/>
              </a:rPr>
              <a:t>낮음</a:t>
            </a:r>
            <a:endParaRPr sz="800">
              <a:latin typeface="맑은 고딕"/>
              <a:cs typeface="맑은 고딕"/>
            </a:endParaRP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6010274" y="1271586"/>
          <a:ext cx="4181475" cy="917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12289"/>
                <a:gridCol w="964564"/>
                <a:gridCol w="751204"/>
                <a:gridCol w="653414"/>
              </a:tblGrid>
              <a:tr h="31369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후보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5725">
                    <a:solidFill>
                      <a:srgbClr val="2E3C8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Recall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5725">
                    <a:solidFill>
                      <a:srgbClr val="2E3C8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F1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5725">
                    <a:solidFill>
                      <a:srgbClr val="2E3C8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953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AUC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5725">
                    <a:solidFill>
                      <a:srgbClr val="2E3C8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900" b="1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LightGBM</a:t>
                      </a:r>
                      <a:r>
                        <a:rPr dirty="0" sz="900" spc="-45" b="1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900" b="1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(Tuned)</a:t>
                      </a:r>
                      <a:r>
                        <a:rPr dirty="0" sz="900" spc="-35" b="1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900" spc="-25" b="1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단독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76200"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E7F1E3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900" spc="-10" b="1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0.898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76200"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E7F1E3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900" spc="-10" b="1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0.9012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76200"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E7F1E3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953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900" spc="-10" b="1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0.9941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76200"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E7F1E3"/>
                    </a:solidFill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90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Voting</a:t>
                      </a:r>
                      <a:r>
                        <a:rPr dirty="0" sz="900" spc="-7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(soft)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0.902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0.8960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953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0.9912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  <p:sp>
        <p:nvSpPr>
          <p:cNvPr id="8" name="object 8" descr=""/>
          <p:cNvSpPr/>
          <p:nvPr/>
        </p:nvSpPr>
        <p:spPr>
          <a:xfrm>
            <a:off x="6010262" y="2495549"/>
            <a:ext cx="4181475" cy="9525"/>
          </a:xfrm>
          <a:custGeom>
            <a:avLst/>
            <a:gdLst/>
            <a:ahLst/>
            <a:cxnLst/>
            <a:rect l="l" t="t" r="r" b="b"/>
            <a:pathLst>
              <a:path w="4181475" h="9525">
                <a:moveTo>
                  <a:pt x="4181475" y="0"/>
                </a:moveTo>
                <a:lnTo>
                  <a:pt x="3429000" y="0"/>
                </a:lnTo>
                <a:lnTo>
                  <a:pt x="2676525" y="0"/>
                </a:lnTo>
                <a:lnTo>
                  <a:pt x="1990725" y="0"/>
                </a:lnTo>
                <a:lnTo>
                  <a:pt x="0" y="0"/>
                </a:lnTo>
                <a:lnTo>
                  <a:pt x="0" y="9525"/>
                </a:lnTo>
                <a:lnTo>
                  <a:pt x="1990725" y="9525"/>
                </a:lnTo>
                <a:lnTo>
                  <a:pt x="2676525" y="9525"/>
                </a:lnTo>
                <a:lnTo>
                  <a:pt x="3429000" y="9525"/>
                </a:lnTo>
                <a:lnTo>
                  <a:pt x="4181475" y="9525"/>
                </a:lnTo>
                <a:lnTo>
                  <a:pt x="4181475" y="0"/>
                </a:lnTo>
                <a:close/>
              </a:path>
            </a:pathLst>
          </a:custGeom>
          <a:solidFill>
            <a:srgbClr val="E6E7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6092675" y="2263775"/>
            <a:ext cx="9925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Stacking</a:t>
            </a:r>
            <a:r>
              <a:rPr dirty="0" sz="900" spc="-2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(LR</a:t>
            </a:r>
            <a:r>
              <a:rPr dirty="0" sz="900" spc="-1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spc="-10">
                <a:solidFill>
                  <a:srgbClr val="1B1D25"/>
                </a:solidFill>
                <a:latin typeface="맑은 고딕"/>
                <a:cs typeface="맑은 고딕"/>
              </a:rPr>
              <a:t>meta)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302625" y="2263775"/>
            <a:ext cx="3022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1B1D25"/>
                </a:solidFill>
                <a:latin typeface="맑은 고딕"/>
                <a:cs typeface="맑은 고딕"/>
              </a:rPr>
              <a:t>0.886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990657" y="2263775"/>
            <a:ext cx="3657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1B1D25"/>
                </a:solidFill>
                <a:latin typeface="맑은 고딕"/>
                <a:cs typeface="맑은 고딕"/>
              </a:rPr>
              <a:t>0.8930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742089" y="2263775"/>
            <a:ext cx="3657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1B1D25"/>
                </a:solidFill>
                <a:latin typeface="맑은 고딕"/>
                <a:cs typeface="맑은 고딕"/>
              </a:rPr>
              <a:t>0.9907</a:t>
            </a:r>
            <a:endParaRPr sz="900">
              <a:latin typeface="맑은 고딕"/>
              <a:cs typeface="맑은 고딕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010274" y="2609848"/>
            <a:ext cx="4181475" cy="733425"/>
            <a:chOff x="6010274" y="2609848"/>
            <a:chExt cx="4181475" cy="733425"/>
          </a:xfrm>
        </p:grpSpPr>
        <p:sp>
          <p:nvSpPr>
            <p:cNvPr id="14" name="object 14" descr=""/>
            <p:cNvSpPr/>
            <p:nvPr/>
          </p:nvSpPr>
          <p:spPr>
            <a:xfrm>
              <a:off x="6067424" y="2609848"/>
              <a:ext cx="4124325" cy="733425"/>
            </a:xfrm>
            <a:custGeom>
              <a:avLst/>
              <a:gdLst/>
              <a:ahLst/>
              <a:cxnLst/>
              <a:rect l="l" t="t" r="r" b="b"/>
              <a:pathLst>
                <a:path w="4124325" h="733425">
                  <a:moveTo>
                    <a:pt x="0" y="733424"/>
                  </a:moveTo>
                  <a:lnTo>
                    <a:pt x="4124324" y="733424"/>
                  </a:lnTo>
                  <a:lnTo>
                    <a:pt x="4124324" y="0"/>
                  </a:lnTo>
                  <a:lnTo>
                    <a:pt x="0" y="0"/>
                  </a:lnTo>
                  <a:lnTo>
                    <a:pt x="0" y="733424"/>
                  </a:lnTo>
                  <a:close/>
                </a:path>
              </a:pathLst>
            </a:custGeom>
            <a:solidFill>
              <a:srgbClr val="F4F5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010274" y="2609848"/>
              <a:ext cx="57150" cy="733425"/>
            </a:xfrm>
            <a:custGeom>
              <a:avLst/>
              <a:gdLst/>
              <a:ahLst/>
              <a:cxnLst/>
              <a:rect l="l" t="t" r="r" b="b"/>
              <a:pathLst>
                <a:path w="57150" h="733425">
                  <a:moveTo>
                    <a:pt x="57149" y="733424"/>
                  </a:moveTo>
                  <a:lnTo>
                    <a:pt x="0" y="733424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733424"/>
                  </a:lnTo>
                  <a:close/>
                </a:path>
              </a:pathLst>
            </a:custGeom>
            <a:solidFill>
              <a:srgbClr val="2E3C8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6010274" y="3448048"/>
            <a:ext cx="4181475" cy="733425"/>
            <a:chOff x="6010274" y="3448048"/>
            <a:chExt cx="4181475" cy="733425"/>
          </a:xfrm>
        </p:grpSpPr>
        <p:sp>
          <p:nvSpPr>
            <p:cNvPr id="17" name="object 17" descr=""/>
            <p:cNvSpPr/>
            <p:nvPr/>
          </p:nvSpPr>
          <p:spPr>
            <a:xfrm>
              <a:off x="6067424" y="3448048"/>
              <a:ext cx="4124325" cy="733425"/>
            </a:xfrm>
            <a:custGeom>
              <a:avLst/>
              <a:gdLst/>
              <a:ahLst/>
              <a:cxnLst/>
              <a:rect l="l" t="t" r="r" b="b"/>
              <a:pathLst>
                <a:path w="4124325" h="733425">
                  <a:moveTo>
                    <a:pt x="0" y="733424"/>
                  </a:moveTo>
                  <a:lnTo>
                    <a:pt x="4124324" y="733424"/>
                  </a:lnTo>
                  <a:lnTo>
                    <a:pt x="4124324" y="0"/>
                  </a:lnTo>
                  <a:lnTo>
                    <a:pt x="0" y="0"/>
                  </a:lnTo>
                  <a:lnTo>
                    <a:pt x="0" y="733424"/>
                  </a:lnTo>
                  <a:close/>
                </a:path>
              </a:pathLst>
            </a:custGeom>
            <a:solidFill>
              <a:srgbClr val="F4F5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010274" y="3448048"/>
              <a:ext cx="57150" cy="733425"/>
            </a:xfrm>
            <a:custGeom>
              <a:avLst/>
              <a:gdLst/>
              <a:ahLst/>
              <a:cxnLst/>
              <a:rect l="l" t="t" r="r" b="b"/>
              <a:pathLst>
                <a:path w="57150" h="733425">
                  <a:moveTo>
                    <a:pt x="57149" y="733424"/>
                  </a:moveTo>
                  <a:lnTo>
                    <a:pt x="0" y="733424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733424"/>
                  </a:lnTo>
                  <a:close/>
                </a:path>
              </a:pathLst>
            </a:custGeom>
            <a:solidFill>
              <a:srgbClr val="2E3C8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6067424" y="2668130"/>
            <a:ext cx="4124325" cy="14065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0" marR="125095">
              <a:lnSpc>
                <a:spcPct val="131900"/>
              </a:lnSpc>
              <a:spcBef>
                <a:spcPts val="95"/>
              </a:spcBef>
            </a:pP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앙상블은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구성원의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오차가</a:t>
            </a:r>
            <a:r>
              <a:rPr dirty="0" sz="900" spc="50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서로</a:t>
            </a:r>
            <a:r>
              <a:rPr dirty="0" sz="900" spc="50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다른</a:t>
            </a:r>
            <a:r>
              <a:rPr dirty="0" sz="900" spc="5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방향일</a:t>
            </a:r>
            <a:r>
              <a:rPr dirty="0" sz="900" spc="50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때</a:t>
            </a:r>
            <a:r>
              <a:rPr dirty="0" sz="900" spc="50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이득이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나는데,</a:t>
            </a:r>
            <a:r>
              <a:rPr dirty="0" sz="900" spc="5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세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모델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spc="-50">
                <a:solidFill>
                  <a:srgbClr val="1B1D25"/>
                </a:solidFill>
                <a:latin typeface="맑은 고딕"/>
                <a:cs typeface="맑은 고딕"/>
              </a:rPr>
              <a:t>모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두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트리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계열이라</a:t>
            </a:r>
            <a:r>
              <a:rPr dirty="0" sz="900" spc="5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비슷한</a:t>
            </a:r>
            <a:r>
              <a:rPr dirty="0" sz="900" spc="50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곳에서</a:t>
            </a:r>
            <a:r>
              <a:rPr dirty="0" sz="900" spc="5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같이</a:t>
            </a:r>
            <a:r>
              <a:rPr dirty="0" sz="900" spc="50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틀립니다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.</a:t>
            </a:r>
            <a:r>
              <a:rPr dirty="0" sz="900" spc="5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평균을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내면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약한</a:t>
            </a:r>
            <a:r>
              <a:rPr dirty="0" sz="900" spc="5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spc="-25">
                <a:solidFill>
                  <a:srgbClr val="1B1D25"/>
                </a:solidFill>
                <a:latin typeface="맑은 고딕"/>
                <a:cs typeface="맑은 고딕"/>
              </a:rPr>
              <a:t>구성원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이</a:t>
            </a:r>
            <a:r>
              <a:rPr dirty="0" sz="900" spc="4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강한</a:t>
            </a:r>
            <a:r>
              <a:rPr dirty="0" sz="900" spc="4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구성원을</a:t>
            </a:r>
            <a:r>
              <a:rPr dirty="0" sz="900" spc="4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끌어내릴</a:t>
            </a:r>
            <a:r>
              <a:rPr dirty="0" sz="900" spc="4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뿐</a:t>
            </a:r>
            <a:r>
              <a:rPr dirty="0" sz="900" spc="4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—</a:t>
            </a:r>
            <a:r>
              <a:rPr dirty="0" sz="900" spc="4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F1이</a:t>
            </a:r>
            <a:r>
              <a:rPr dirty="0" sz="900" spc="4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0.005</a:t>
            </a:r>
            <a:r>
              <a:rPr dirty="0" sz="900" spc="4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spc="-10">
                <a:solidFill>
                  <a:srgbClr val="1B1D25"/>
                </a:solidFill>
                <a:latin typeface="맑은 고딕"/>
                <a:cs typeface="맑은 고딕"/>
              </a:rPr>
              <a:t>하락했습니다.</a:t>
            </a:r>
            <a:endParaRPr sz="90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250">
              <a:latin typeface="맑은 고딕"/>
              <a:cs typeface="맑은 고딕"/>
            </a:endParaRPr>
          </a:p>
          <a:p>
            <a:pPr algn="just" marL="127000" marR="207010">
              <a:lnSpc>
                <a:spcPct val="131900"/>
              </a:lnSpc>
            </a:pP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부수</a:t>
            </a:r>
            <a:r>
              <a:rPr dirty="0" sz="900" spc="5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효과</a:t>
            </a:r>
            <a:r>
              <a:rPr dirty="0" sz="900" spc="6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—</a:t>
            </a:r>
            <a:r>
              <a:rPr dirty="0" sz="900" spc="6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단독</a:t>
            </a:r>
            <a:r>
              <a:rPr dirty="0" sz="900" spc="6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유지로</a:t>
            </a:r>
            <a:r>
              <a:rPr dirty="0" sz="900" spc="6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추론</a:t>
            </a:r>
            <a:r>
              <a:rPr dirty="0" sz="900" spc="5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비용</a:t>
            </a:r>
            <a:r>
              <a:rPr dirty="0" sz="900" spc="60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1/3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,</a:t>
            </a:r>
            <a:r>
              <a:rPr dirty="0" sz="900" spc="6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feature_importances_와</a:t>
            </a:r>
            <a:r>
              <a:rPr dirty="0" sz="900" spc="6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spc="-20">
                <a:solidFill>
                  <a:srgbClr val="1B1D25"/>
                </a:solidFill>
                <a:latin typeface="맑은 고딕"/>
                <a:cs typeface="맑은 고딕"/>
              </a:rPr>
              <a:t>SHAP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설명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가능성도</a:t>
            </a:r>
            <a:r>
              <a:rPr dirty="0" sz="900" spc="5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그대로</a:t>
            </a:r>
            <a:r>
              <a:rPr dirty="0" sz="900" spc="5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확보.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근거를</a:t>
            </a:r>
            <a:r>
              <a:rPr dirty="0" sz="900" spc="5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화면에</a:t>
            </a:r>
            <a:r>
              <a:rPr dirty="0" sz="900" spc="5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표시해야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하는</a:t>
            </a:r>
            <a:r>
              <a:rPr dirty="0" sz="900" spc="5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이</a:t>
            </a:r>
            <a:r>
              <a:rPr dirty="0" sz="900" spc="5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spc="-10">
                <a:solidFill>
                  <a:srgbClr val="1B1D25"/>
                </a:solidFill>
                <a:latin typeface="맑은 고딕"/>
                <a:cs typeface="맑은 고딕"/>
              </a:rPr>
              <a:t>프로젝트에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는</a:t>
            </a:r>
            <a:r>
              <a:rPr dirty="0" sz="900" spc="4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실질적</a:t>
            </a:r>
            <a:r>
              <a:rPr dirty="0" sz="900" spc="4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spc="-10">
                <a:solidFill>
                  <a:srgbClr val="1B1D25"/>
                </a:solidFill>
                <a:latin typeface="맑은 고딕"/>
                <a:cs typeface="맑은 고딕"/>
              </a:rPr>
              <a:t>이득입니다.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분류</a:t>
            </a:r>
            <a:r>
              <a:rPr dirty="0" spc="-5"/>
              <a:t> </a:t>
            </a:r>
            <a:r>
              <a:rPr dirty="0"/>
              <a:t>모델</a:t>
            </a:r>
            <a:r>
              <a:rPr dirty="0" spc="-5"/>
              <a:t> </a:t>
            </a:r>
            <a:r>
              <a:rPr dirty="0"/>
              <a:t>전략</a:t>
            </a:r>
            <a:r>
              <a:rPr dirty="0" spc="-5"/>
              <a:t> </a:t>
            </a:r>
            <a:r>
              <a:rPr dirty="0"/>
              <a:t>발표</a:t>
            </a:r>
            <a:r>
              <a:rPr dirty="0" spc="-5"/>
              <a:t> </a:t>
            </a:r>
            <a:r>
              <a:rPr dirty="0" spc="-25"/>
              <a:t>자료</a:t>
            </a:r>
          </a:p>
        </p:txBody>
      </p:sp>
      <p:sp>
        <p:nvSpPr>
          <p:cNvPr id="21" name="object 2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7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91232" y="403256"/>
            <a:ext cx="138049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55" b="1">
                <a:solidFill>
                  <a:srgbClr val="2E3C8F"/>
                </a:solidFill>
                <a:latin typeface="맑은 고딕"/>
                <a:cs typeface="맑은 고딕"/>
              </a:rPr>
              <a:t>분류</a:t>
            </a:r>
            <a:r>
              <a:rPr dirty="0" sz="1000" spc="210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1000" b="1">
                <a:solidFill>
                  <a:srgbClr val="2E3C8F"/>
                </a:solidFill>
                <a:latin typeface="맑은 고딕"/>
                <a:cs typeface="맑은 고딕"/>
              </a:rPr>
              <a:t>—</a:t>
            </a:r>
            <a:r>
              <a:rPr dirty="0" sz="1000" spc="220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1000" b="1">
                <a:solidFill>
                  <a:srgbClr val="2E3C8F"/>
                </a:solidFill>
                <a:latin typeface="맑은 고딕"/>
                <a:cs typeface="맑은 고딕"/>
              </a:rPr>
              <a:t>⑤</a:t>
            </a:r>
            <a:r>
              <a:rPr dirty="0" sz="1000" spc="220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1000" spc="55" b="1">
                <a:solidFill>
                  <a:srgbClr val="2E3C8F"/>
                </a:solidFill>
                <a:latin typeface="맑은 고딕"/>
                <a:cs typeface="맑은 고딕"/>
              </a:rPr>
              <a:t>최종</a:t>
            </a:r>
            <a:r>
              <a:rPr dirty="0" sz="1000" spc="220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1000" spc="30" b="1">
                <a:solidFill>
                  <a:srgbClr val="2E3C8F"/>
                </a:solidFill>
                <a:latin typeface="맑은 고딕"/>
                <a:cs typeface="맑은 고딕"/>
              </a:rPr>
              <a:t>평가</a:t>
            </a:r>
            <a:endParaRPr sz="100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1232" y="647763"/>
            <a:ext cx="3523615" cy="284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60"/>
              <a:t>Test</a:t>
            </a:r>
            <a:r>
              <a:rPr dirty="0" sz="1700" spc="-90"/>
              <a:t> </a:t>
            </a:r>
            <a:r>
              <a:rPr dirty="0" sz="1700"/>
              <a:t>1회</a:t>
            </a:r>
            <a:r>
              <a:rPr dirty="0" sz="1700" spc="-100"/>
              <a:t> </a:t>
            </a:r>
            <a:r>
              <a:rPr dirty="0" sz="1700"/>
              <a:t>평가</a:t>
            </a:r>
            <a:r>
              <a:rPr dirty="0" sz="1700" spc="-90"/>
              <a:t> </a:t>
            </a:r>
            <a:r>
              <a:rPr dirty="0" sz="1700"/>
              <a:t>—</a:t>
            </a:r>
            <a:r>
              <a:rPr dirty="0" sz="1700" spc="-95"/>
              <a:t> </a:t>
            </a:r>
            <a:r>
              <a:rPr dirty="0" sz="1700"/>
              <a:t>과적합</a:t>
            </a:r>
            <a:r>
              <a:rPr dirty="0" sz="1700" spc="-95"/>
              <a:t> </a:t>
            </a:r>
            <a:r>
              <a:rPr dirty="0" sz="1700"/>
              <a:t>없이</a:t>
            </a:r>
            <a:r>
              <a:rPr dirty="0" sz="1700" spc="-90"/>
              <a:t> </a:t>
            </a:r>
            <a:r>
              <a:rPr dirty="0" sz="1700" spc="-25"/>
              <a:t>일반화</a:t>
            </a:r>
            <a:endParaRPr sz="1700"/>
          </a:p>
        </p:txBody>
      </p:sp>
      <p:sp>
        <p:nvSpPr>
          <p:cNvPr id="4" name="object 4" descr=""/>
          <p:cNvSpPr txBox="1"/>
          <p:nvPr/>
        </p:nvSpPr>
        <p:spPr>
          <a:xfrm>
            <a:off x="491232" y="965231"/>
            <a:ext cx="542163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Validation</a:t>
            </a:r>
            <a:r>
              <a:rPr dirty="0" sz="1000" spc="-30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기준으로</a:t>
            </a:r>
            <a:r>
              <a:rPr dirty="0" sz="1000" spc="-20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최종</a:t>
            </a:r>
            <a:r>
              <a:rPr dirty="0" sz="1000" spc="-1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모델을</a:t>
            </a:r>
            <a:r>
              <a:rPr dirty="0" sz="1000" spc="-20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확정한</a:t>
            </a:r>
            <a:r>
              <a:rPr dirty="0" sz="1000" spc="-20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뒤,</a:t>
            </a:r>
            <a:r>
              <a:rPr dirty="0" sz="1000" spc="-1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그</a:t>
            </a:r>
            <a:r>
              <a:rPr dirty="0" sz="1000" spc="-20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시점에</a:t>
            </a:r>
            <a:r>
              <a:rPr dirty="0" sz="1000" spc="-20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 spc="-10">
                <a:solidFill>
                  <a:srgbClr val="5B606F"/>
                </a:solidFill>
                <a:latin typeface="맑은 고딕"/>
                <a:cs typeface="맑은 고딕"/>
              </a:rPr>
              <a:t>Test를</a:t>
            </a:r>
            <a:r>
              <a:rPr dirty="0" sz="1000" spc="-1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처음이자</a:t>
            </a:r>
            <a:r>
              <a:rPr dirty="0" sz="1000" spc="-20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마지막으로</a:t>
            </a:r>
            <a:r>
              <a:rPr dirty="0" sz="1000" spc="-1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 spc="-10">
                <a:solidFill>
                  <a:srgbClr val="5B606F"/>
                </a:solidFill>
                <a:latin typeface="맑은 고딕"/>
                <a:cs typeface="맑은 고딕"/>
              </a:rPr>
              <a:t>열었습니다.</a:t>
            </a:r>
            <a:endParaRPr sz="1000">
              <a:latin typeface="맑은 고딕"/>
              <a:cs typeface="맑은 고딕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2179" y="1982754"/>
            <a:ext cx="3244966" cy="275326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882030" y="4895913"/>
            <a:ext cx="22694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최종</a:t>
            </a:r>
            <a:r>
              <a:rPr dirty="0" sz="800" spc="-25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모델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Test</a:t>
            </a:r>
            <a:r>
              <a:rPr dirty="0" sz="800" spc="-15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혼동행렬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(2,026명</a:t>
            </a:r>
            <a:r>
              <a:rPr dirty="0" sz="800" spc="-15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·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이탈자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326명)</a:t>
            </a:r>
            <a:endParaRPr sz="800">
              <a:latin typeface="맑은 고딕"/>
              <a:cs typeface="맑은 고딕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5819762" y="1276349"/>
            <a:ext cx="4371975" cy="314325"/>
          </a:xfrm>
          <a:custGeom>
            <a:avLst/>
            <a:gdLst/>
            <a:ahLst/>
            <a:cxnLst/>
            <a:rect l="l" t="t" r="r" b="b"/>
            <a:pathLst>
              <a:path w="4371975" h="314325">
                <a:moveTo>
                  <a:pt x="4371975" y="0"/>
                </a:moveTo>
                <a:lnTo>
                  <a:pt x="4371975" y="0"/>
                </a:lnTo>
                <a:lnTo>
                  <a:pt x="0" y="0"/>
                </a:lnTo>
                <a:lnTo>
                  <a:pt x="0" y="314325"/>
                </a:lnTo>
                <a:lnTo>
                  <a:pt x="4371975" y="314325"/>
                </a:lnTo>
                <a:lnTo>
                  <a:pt x="4371975" y="0"/>
                </a:lnTo>
                <a:close/>
              </a:path>
            </a:pathLst>
          </a:custGeom>
          <a:solidFill>
            <a:srgbClr val="2E3C8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5819774" y="1885948"/>
            <a:ext cx="4371975" cy="314325"/>
            <a:chOff x="5819774" y="1885948"/>
            <a:chExt cx="4371975" cy="314325"/>
          </a:xfrm>
        </p:grpSpPr>
        <p:sp>
          <p:nvSpPr>
            <p:cNvPr id="9" name="object 9" descr=""/>
            <p:cNvSpPr/>
            <p:nvPr/>
          </p:nvSpPr>
          <p:spPr>
            <a:xfrm>
              <a:off x="5819762" y="1885949"/>
              <a:ext cx="4371975" cy="304800"/>
            </a:xfrm>
            <a:custGeom>
              <a:avLst/>
              <a:gdLst/>
              <a:ahLst/>
              <a:cxnLst/>
              <a:rect l="l" t="t" r="r" b="b"/>
              <a:pathLst>
                <a:path w="4371975" h="304800">
                  <a:moveTo>
                    <a:pt x="4371975" y="0"/>
                  </a:moveTo>
                  <a:lnTo>
                    <a:pt x="4371975" y="0"/>
                  </a:lnTo>
                  <a:lnTo>
                    <a:pt x="0" y="0"/>
                  </a:lnTo>
                  <a:lnTo>
                    <a:pt x="0" y="304800"/>
                  </a:lnTo>
                  <a:lnTo>
                    <a:pt x="4371975" y="304800"/>
                  </a:lnTo>
                  <a:lnTo>
                    <a:pt x="4371975" y="0"/>
                  </a:lnTo>
                  <a:close/>
                </a:path>
              </a:pathLst>
            </a:custGeom>
            <a:solidFill>
              <a:srgbClr val="E7F1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819762" y="1885949"/>
              <a:ext cx="4371975" cy="314325"/>
            </a:xfrm>
            <a:custGeom>
              <a:avLst/>
              <a:gdLst/>
              <a:ahLst/>
              <a:cxnLst/>
              <a:rect l="l" t="t" r="r" b="b"/>
              <a:pathLst>
                <a:path w="4371975" h="314325">
                  <a:moveTo>
                    <a:pt x="4371975" y="304800"/>
                  </a:moveTo>
                  <a:lnTo>
                    <a:pt x="4371975" y="304800"/>
                  </a:lnTo>
                  <a:lnTo>
                    <a:pt x="0" y="304800"/>
                  </a:lnTo>
                  <a:lnTo>
                    <a:pt x="0" y="314325"/>
                  </a:lnTo>
                  <a:lnTo>
                    <a:pt x="4371975" y="314325"/>
                  </a:lnTo>
                  <a:lnTo>
                    <a:pt x="4371975" y="304800"/>
                  </a:lnTo>
                  <a:close/>
                </a:path>
                <a:path w="4371975" h="314325">
                  <a:moveTo>
                    <a:pt x="4371975" y="0"/>
                  </a:moveTo>
                  <a:lnTo>
                    <a:pt x="437197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4371975" y="9525"/>
                  </a:lnTo>
                  <a:lnTo>
                    <a:pt x="4371975" y="0"/>
                  </a:lnTo>
                  <a:close/>
                </a:path>
              </a:pathLst>
            </a:custGeom>
            <a:solidFill>
              <a:srgbClr val="E6E7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5898455" y="1349375"/>
            <a:ext cx="2540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solidFill>
                  <a:srgbClr val="FFFFFF"/>
                </a:solidFill>
                <a:latin typeface="맑은 고딕"/>
                <a:cs typeface="맑은 고딕"/>
              </a:rPr>
              <a:t>구분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257851" y="1349375"/>
            <a:ext cx="511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FFFFFF"/>
                </a:solidFill>
                <a:latin typeface="맑은 고딕"/>
                <a:cs typeface="맑은 고딕"/>
              </a:rPr>
              <a:t>Accuracy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949158" y="1349375"/>
            <a:ext cx="51498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FFFFFF"/>
                </a:solidFill>
                <a:latin typeface="맑은 고딕"/>
                <a:cs typeface="맑은 고딕"/>
              </a:rPr>
              <a:t>Precision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639423" y="1349375"/>
            <a:ext cx="3403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FFFFFF"/>
                </a:solidFill>
                <a:latin typeface="맑은 고딕"/>
                <a:cs typeface="맑은 고딕"/>
              </a:rPr>
              <a:t>Recall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9391748" y="1349375"/>
            <a:ext cx="1517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solidFill>
                  <a:srgbClr val="FFFFFF"/>
                </a:solidFill>
                <a:latin typeface="맑은 고딕"/>
                <a:cs typeface="맑은 고딕"/>
              </a:rPr>
              <a:t>F1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847014" y="1349375"/>
            <a:ext cx="2603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solidFill>
                  <a:srgbClr val="FFFFFF"/>
                </a:solidFill>
                <a:latin typeface="맑은 고딕"/>
                <a:cs typeface="맑은 고딕"/>
              </a:rPr>
              <a:t>AUC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898455" y="1654175"/>
            <a:ext cx="11423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Validation</a:t>
            </a:r>
            <a:r>
              <a:rPr dirty="0" sz="900" spc="-4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(선정</a:t>
            </a:r>
            <a:r>
              <a:rPr dirty="0" sz="900" spc="-3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spc="-25">
                <a:solidFill>
                  <a:srgbClr val="1B1D25"/>
                </a:solidFill>
                <a:latin typeface="맑은 고딕"/>
                <a:cs typeface="맑은 고딕"/>
              </a:rPr>
              <a:t>기준)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466359" y="1654175"/>
            <a:ext cx="3022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1B1D25"/>
                </a:solidFill>
                <a:latin typeface="맑은 고딕"/>
                <a:cs typeface="맑은 고딕"/>
              </a:rPr>
              <a:t>0.968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8161535" y="1654175"/>
            <a:ext cx="19462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8320" algn="l"/>
                <a:tab pos="1028700" algn="l"/>
                <a:tab pos="1592580" algn="l"/>
              </a:tabLst>
            </a:pPr>
            <a:r>
              <a:rPr dirty="0" sz="900" spc="-10">
                <a:solidFill>
                  <a:srgbClr val="1B1D25"/>
                </a:solidFill>
                <a:latin typeface="맑은 고딕"/>
                <a:cs typeface="맑은 고딕"/>
              </a:rPr>
              <a:t>0.904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	</a:t>
            </a:r>
            <a:r>
              <a:rPr dirty="0" sz="900" spc="-10">
                <a:solidFill>
                  <a:srgbClr val="1B1D25"/>
                </a:solidFill>
                <a:latin typeface="맑은 고딕"/>
                <a:cs typeface="맑은 고딕"/>
              </a:rPr>
              <a:t>0.898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	</a:t>
            </a:r>
            <a:r>
              <a:rPr dirty="0" sz="900" spc="-10">
                <a:solidFill>
                  <a:srgbClr val="1B1D25"/>
                </a:solidFill>
                <a:latin typeface="맑은 고딕"/>
                <a:cs typeface="맑은 고딕"/>
              </a:rPr>
              <a:t>0.9012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	</a:t>
            </a:r>
            <a:r>
              <a:rPr dirty="0" sz="900" spc="-10">
                <a:solidFill>
                  <a:srgbClr val="1B1D25"/>
                </a:solidFill>
                <a:latin typeface="맑은 고딕"/>
                <a:cs typeface="맑은 고딕"/>
              </a:rPr>
              <a:t>0.9941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898455" y="1958975"/>
            <a:ext cx="8121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1B1D25"/>
                </a:solidFill>
                <a:latin typeface="맑은 고딕"/>
                <a:cs typeface="맑은 고딕"/>
              </a:rPr>
              <a:t>Test</a:t>
            </a:r>
            <a:r>
              <a:rPr dirty="0" sz="900" spc="-2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(1회</a:t>
            </a:r>
            <a:r>
              <a:rPr dirty="0" sz="900" spc="-25" b="1">
                <a:solidFill>
                  <a:srgbClr val="1B1D25"/>
                </a:solidFill>
                <a:latin typeface="맑은 고딕"/>
                <a:cs typeface="맑은 고딕"/>
              </a:rPr>
              <a:t> 평가)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7448202" y="1958975"/>
            <a:ext cx="3206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1B1D25"/>
                </a:solidFill>
                <a:latin typeface="맑은 고딕"/>
                <a:cs typeface="맑은 고딕"/>
              </a:rPr>
              <a:t>0.977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8143378" y="1958975"/>
            <a:ext cx="19640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8320" algn="l"/>
                <a:tab pos="1025525" algn="l"/>
                <a:tab pos="1589405" algn="l"/>
              </a:tabLst>
            </a:pPr>
            <a:r>
              <a:rPr dirty="0" sz="900" spc="-10" b="1">
                <a:solidFill>
                  <a:srgbClr val="1B1D25"/>
                </a:solidFill>
                <a:latin typeface="맑은 고딕"/>
                <a:cs typeface="맑은 고딕"/>
              </a:rPr>
              <a:t>0.946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	</a:t>
            </a:r>
            <a:r>
              <a:rPr dirty="0" sz="900" spc="-10" b="1">
                <a:solidFill>
                  <a:srgbClr val="1B1D25"/>
                </a:solidFill>
                <a:latin typeface="맑은 고딕"/>
                <a:cs typeface="맑은 고딕"/>
              </a:rPr>
              <a:t>0.911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	</a:t>
            </a:r>
            <a:r>
              <a:rPr dirty="0" sz="900" spc="-10" b="1">
                <a:solidFill>
                  <a:srgbClr val="1B1D25"/>
                </a:solidFill>
                <a:latin typeface="맑은 고딕"/>
                <a:cs typeface="맑은 고딕"/>
              </a:rPr>
              <a:t>0.9281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	</a:t>
            </a:r>
            <a:r>
              <a:rPr dirty="0" sz="900" spc="-10" b="1">
                <a:solidFill>
                  <a:srgbClr val="1B1D25"/>
                </a:solidFill>
                <a:latin typeface="맑은 고딕"/>
                <a:cs typeface="맑은 고딕"/>
              </a:rPr>
              <a:t>0.9933</a:t>
            </a:r>
            <a:endParaRPr sz="900">
              <a:latin typeface="맑은 고딕"/>
              <a:cs typeface="맑은 고딕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5819774" y="2305048"/>
            <a:ext cx="4371975" cy="914400"/>
            <a:chOff x="5819774" y="2305048"/>
            <a:chExt cx="4371975" cy="914400"/>
          </a:xfrm>
        </p:grpSpPr>
        <p:sp>
          <p:nvSpPr>
            <p:cNvPr id="24" name="object 24" descr=""/>
            <p:cNvSpPr/>
            <p:nvPr/>
          </p:nvSpPr>
          <p:spPr>
            <a:xfrm>
              <a:off x="5876924" y="2305048"/>
              <a:ext cx="4314825" cy="914400"/>
            </a:xfrm>
            <a:custGeom>
              <a:avLst/>
              <a:gdLst/>
              <a:ahLst/>
              <a:cxnLst/>
              <a:rect l="l" t="t" r="r" b="b"/>
              <a:pathLst>
                <a:path w="4314825" h="914400">
                  <a:moveTo>
                    <a:pt x="0" y="914399"/>
                  </a:moveTo>
                  <a:lnTo>
                    <a:pt x="4314824" y="914399"/>
                  </a:lnTo>
                  <a:lnTo>
                    <a:pt x="4314824" y="0"/>
                  </a:lnTo>
                  <a:lnTo>
                    <a:pt x="0" y="0"/>
                  </a:lnTo>
                  <a:lnTo>
                    <a:pt x="0" y="914399"/>
                  </a:lnTo>
                  <a:close/>
                </a:path>
              </a:pathLst>
            </a:custGeom>
            <a:solidFill>
              <a:srgbClr val="F4F5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819774" y="2305048"/>
              <a:ext cx="57150" cy="914400"/>
            </a:xfrm>
            <a:custGeom>
              <a:avLst/>
              <a:gdLst/>
              <a:ahLst/>
              <a:cxnLst/>
              <a:rect l="l" t="t" r="r" b="b"/>
              <a:pathLst>
                <a:path w="57150" h="914400">
                  <a:moveTo>
                    <a:pt x="57149" y="914399"/>
                  </a:moveTo>
                  <a:lnTo>
                    <a:pt x="0" y="914399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914399"/>
                  </a:lnTo>
                  <a:close/>
                </a:path>
              </a:pathLst>
            </a:custGeom>
            <a:solidFill>
              <a:srgbClr val="2E3C8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5876924" y="2363330"/>
            <a:ext cx="4314825" cy="749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3825" marR="172720">
              <a:lnSpc>
                <a:spcPct val="131900"/>
              </a:lnSpc>
              <a:spcBef>
                <a:spcPts val="95"/>
              </a:spcBef>
            </a:pP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Test가</a:t>
            </a:r>
            <a:r>
              <a:rPr dirty="0" sz="900" spc="5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Validation보다</a:t>
            </a:r>
            <a:r>
              <a:rPr dirty="0" sz="900" spc="60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높게</a:t>
            </a:r>
            <a:r>
              <a:rPr dirty="0" sz="900" spc="5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나왔습니다.</a:t>
            </a:r>
            <a:r>
              <a:rPr dirty="0" sz="900" spc="60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과적합이었다면</a:t>
            </a:r>
            <a:r>
              <a:rPr dirty="0" sz="900" spc="6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반대</a:t>
            </a:r>
            <a:r>
              <a:rPr dirty="0" sz="900" spc="5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방향으로</a:t>
            </a:r>
            <a:r>
              <a:rPr dirty="0" sz="900" spc="6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spc="-25">
                <a:solidFill>
                  <a:srgbClr val="1B1D25"/>
                </a:solidFill>
                <a:latin typeface="맑은 고딕"/>
                <a:cs typeface="맑은 고딕"/>
              </a:rPr>
              <a:t>벌어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져야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하므로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일반화가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정상이라는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신호입니다.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다만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"Test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분할이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조금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spc="-25">
                <a:solidFill>
                  <a:srgbClr val="1B1D25"/>
                </a:solidFill>
                <a:latin typeface="맑은 고딕"/>
                <a:cs typeface="맑은 고딕"/>
              </a:rPr>
              <a:t>쉬웠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다"는</a:t>
            </a:r>
            <a:r>
              <a:rPr dirty="0" sz="900" spc="4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뜻이기도</a:t>
            </a:r>
            <a:r>
              <a:rPr dirty="0" sz="900" spc="4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하므로,</a:t>
            </a:r>
            <a:r>
              <a:rPr dirty="0" sz="900" spc="4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실제</a:t>
            </a:r>
            <a:r>
              <a:rPr dirty="0" sz="900" spc="4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기대</a:t>
            </a:r>
            <a:r>
              <a:rPr dirty="0" sz="900" spc="4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성능은</a:t>
            </a:r>
            <a:r>
              <a:rPr dirty="0" sz="900" spc="4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낮은</a:t>
            </a:r>
            <a:r>
              <a:rPr dirty="0" sz="900" spc="4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쪽인</a:t>
            </a:r>
            <a:r>
              <a:rPr dirty="0" sz="900" spc="4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Validation</a:t>
            </a:r>
            <a:r>
              <a:rPr dirty="0" sz="900" spc="4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F1</a:t>
            </a:r>
            <a:r>
              <a:rPr dirty="0" sz="900" spc="4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0.90</a:t>
            </a:r>
            <a:r>
              <a:rPr dirty="0" sz="900" spc="4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spc="-25" b="1">
                <a:solidFill>
                  <a:srgbClr val="1B1D25"/>
                </a:solidFill>
                <a:latin typeface="맑은 고딕"/>
                <a:cs typeface="맑은 고딕"/>
              </a:rPr>
              <a:t>근처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로</a:t>
            </a:r>
            <a:r>
              <a:rPr dirty="0" sz="900" spc="4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보고하는</a:t>
            </a:r>
            <a:r>
              <a:rPr dirty="0" sz="900" spc="4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것이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spc="-10">
                <a:solidFill>
                  <a:srgbClr val="1B1D25"/>
                </a:solidFill>
                <a:latin typeface="맑은 고딕"/>
                <a:cs typeface="맑은 고딕"/>
              </a:rPr>
              <a:t>안전합니다.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5819773" y="3343273"/>
            <a:ext cx="1362075" cy="885825"/>
          </a:xfrm>
          <a:custGeom>
            <a:avLst/>
            <a:gdLst/>
            <a:ahLst/>
            <a:cxnLst/>
            <a:rect l="l" t="t" r="r" b="b"/>
            <a:pathLst>
              <a:path w="1362075" h="885825">
                <a:moveTo>
                  <a:pt x="1277985" y="885823"/>
                </a:moveTo>
                <a:lnTo>
                  <a:pt x="84090" y="885823"/>
                </a:lnTo>
                <a:lnTo>
                  <a:pt x="78237" y="885245"/>
                </a:lnTo>
                <a:lnTo>
                  <a:pt x="35085" y="867370"/>
                </a:lnTo>
                <a:lnTo>
                  <a:pt x="9111" y="835720"/>
                </a:lnTo>
                <a:lnTo>
                  <a:pt x="0" y="801732"/>
                </a:lnTo>
                <a:lnTo>
                  <a:pt x="0" y="795826"/>
                </a:lnTo>
                <a:lnTo>
                  <a:pt x="0" y="84087"/>
                </a:lnTo>
                <a:lnTo>
                  <a:pt x="11884" y="44906"/>
                </a:lnTo>
                <a:lnTo>
                  <a:pt x="44911" y="11880"/>
                </a:lnTo>
                <a:lnTo>
                  <a:pt x="84090" y="0"/>
                </a:lnTo>
                <a:lnTo>
                  <a:pt x="1277985" y="0"/>
                </a:lnTo>
                <a:lnTo>
                  <a:pt x="1317161" y="11880"/>
                </a:lnTo>
                <a:lnTo>
                  <a:pt x="1350190" y="44906"/>
                </a:lnTo>
                <a:lnTo>
                  <a:pt x="1362075" y="84087"/>
                </a:lnTo>
                <a:lnTo>
                  <a:pt x="1362075" y="801732"/>
                </a:lnTo>
                <a:lnTo>
                  <a:pt x="1350190" y="840908"/>
                </a:lnTo>
                <a:lnTo>
                  <a:pt x="1317161" y="873937"/>
                </a:lnTo>
                <a:lnTo>
                  <a:pt x="1283837" y="885245"/>
                </a:lnTo>
                <a:lnTo>
                  <a:pt x="1277985" y="885823"/>
                </a:lnTo>
                <a:close/>
              </a:path>
            </a:pathLst>
          </a:custGeom>
          <a:solidFill>
            <a:srgbClr val="F1F4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6172894" y="3324783"/>
            <a:ext cx="653415" cy="585470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95"/>
              </a:spcBef>
            </a:pPr>
            <a:r>
              <a:rPr dirty="0" sz="1600" spc="-10" b="1">
                <a:solidFill>
                  <a:srgbClr val="2E3C8F"/>
                </a:solidFill>
                <a:latin typeface="맑은 고딕"/>
                <a:cs typeface="맑은 고딕"/>
              </a:rPr>
              <a:t>0.9281</a:t>
            </a:r>
            <a:endParaRPr sz="1600">
              <a:latin typeface="맑은 고딕"/>
              <a:cs typeface="맑은 고딕"/>
            </a:endParaRPr>
          </a:p>
          <a:p>
            <a:pPr algn="ctr">
              <a:lnSpc>
                <a:spcPct val="100000"/>
              </a:lnSpc>
              <a:spcBef>
                <a:spcPts val="530"/>
              </a:spcBef>
            </a:pPr>
            <a:r>
              <a:rPr dirty="0" sz="800">
                <a:solidFill>
                  <a:srgbClr val="5B606F"/>
                </a:solidFill>
                <a:latin typeface="맑은 고딕"/>
                <a:cs typeface="맑은 고딕"/>
              </a:rPr>
              <a:t>Test</a:t>
            </a:r>
            <a:r>
              <a:rPr dirty="0" sz="800" spc="-6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800" spc="-25">
                <a:solidFill>
                  <a:srgbClr val="5B606F"/>
                </a:solidFill>
                <a:latin typeface="맑은 고딕"/>
                <a:cs typeface="맑은 고딕"/>
              </a:rPr>
              <a:t>F1</a:t>
            </a:r>
            <a:endParaRPr sz="800">
              <a:latin typeface="맑은 고딕"/>
              <a:cs typeface="맑은 고딕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7324724" y="3343273"/>
            <a:ext cx="1362075" cy="885825"/>
          </a:xfrm>
          <a:custGeom>
            <a:avLst/>
            <a:gdLst/>
            <a:ahLst/>
            <a:cxnLst/>
            <a:rect l="l" t="t" r="r" b="b"/>
            <a:pathLst>
              <a:path w="1362075" h="885825">
                <a:moveTo>
                  <a:pt x="1277984" y="885823"/>
                </a:moveTo>
                <a:lnTo>
                  <a:pt x="84090" y="885823"/>
                </a:lnTo>
                <a:lnTo>
                  <a:pt x="78237" y="885245"/>
                </a:lnTo>
                <a:lnTo>
                  <a:pt x="35084" y="867370"/>
                </a:lnTo>
                <a:lnTo>
                  <a:pt x="9111" y="835720"/>
                </a:lnTo>
                <a:lnTo>
                  <a:pt x="0" y="801732"/>
                </a:lnTo>
                <a:lnTo>
                  <a:pt x="0" y="795826"/>
                </a:lnTo>
                <a:lnTo>
                  <a:pt x="0" y="84087"/>
                </a:lnTo>
                <a:lnTo>
                  <a:pt x="11883" y="44906"/>
                </a:lnTo>
                <a:lnTo>
                  <a:pt x="44911" y="11880"/>
                </a:lnTo>
                <a:lnTo>
                  <a:pt x="84090" y="0"/>
                </a:lnTo>
                <a:lnTo>
                  <a:pt x="1277984" y="0"/>
                </a:lnTo>
                <a:lnTo>
                  <a:pt x="1317161" y="11880"/>
                </a:lnTo>
                <a:lnTo>
                  <a:pt x="1350189" y="44906"/>
                </a:lnTo>
                <a:lnTo>
                  <a:pt x="1362074" y="84087"/>
                </a:lnTo>
                <a:lnTo>
                  <a:pt x="1362074" y="801732"/>
                </a:lnTo>
                <a:lnTo>
                  <a:pt x="1350189" y="840908"/>
                </a:lnTo>
                <a:lnTo>
                  <a:pt x="1317161" y="873937"/>
                </a:lnTo>
                <a:lnTo>
                  <a:pt x="1283837" y="885245"/>
                </a:lnTo>
                <a:lnTo>
                  <a:pt x="1277984" y="885823"/>
                </a:lnTo>
                <a:close/>
              </a:path>
            </a:pathLst>
          </a:custGeom>
          <a:solidFill>
            <a:srgbClr val="F1F4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7734994" y="3324783"/>
            <a:ext cx="538480" cy="585470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600" spc="-10" b="1">
                <a:solidFill>
                  <a:srgbClr val="2E3C8F"/>
                </a:solidFill>
                <a:latin typeface="맑은 고딕"/>
                <a:cs typeface="맑은 고딕"/>
              </a:rPr>
              <a:t>0.911</a:t>
            </a:r>
            <a:endParaRPr sz="1600">
              <a:latin typeface="맑은 고딕"/>
              <a:cs typeface="맑은 고딕"/>
            </a:endParaRPr>
          </a:p>
          <a:p>
            <a:pPr marL="23495">
              <a:lnSpc>
                <a:spcPct val="100000"/>
              </a:lnSpc>
              <a:spcBef>
                <a:spcPts val="530"/>
              </a:spcBef>
            </a:pPr>
            <a:r>
              <a:rPr dirty="0" sz="800">
                <a:solidFill>
                  <a:srgbClr val="5B606F"/>
                </a:solidFill>
                <a:latin typeface="맑은 고딕"/>
                <a:cs typeface="맑은 고딕"/>
              </a:rPr>
              <a:t>Test</a:t>
            </a:r>
            <a:r>
              <a:rPr dirty="0" sz="800" spc="-6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800" spc="-10">
                <a:solidFill>
                  <a:srgbClr val="5B606F"/>
                </a:solidFill>
                <a:latin typeface="맑은 고딕"/>
                <a:cs typeface="맑은 고딕"/>
              </a:rPr>
              <a:t>Recall</a:t>
            </a:r>
            <a:endParaRPr sz="800">
              <a:latin typeface="맑은 고딕"/>
              <a:cs typeface="맑은 고딕"/>
            </a:endParaRPr>
          </a:p>
        </p:txBody>
      </p:sp>
      <p:sp>
        <p:nvSpPr>
          <p:cNvPr id="31" name="object 31" descr=""/>
          <p:cNvSpPr/>
          <p:nvPr/>
        </p:nvSpPr>
        <p:spPr>
          <a:xfrm>
            <a:off x="8829673" y="3343273"/>
            <a:ext cx="1362075" cy="885825"/>
          </a:xfrm>
          <a:custGeom>
            <a:avLst/>
            <a:gdLst/>
            <a:ahLst/>
            <a:cxnLst/>
            <a:rect l="l" t="t" r="r" b="b"/>
            <a:pathLst>
              <a:path w="1362075" h="885825">
                <a:moveTo>
                  <a:pt x="1277984" y="885823"/>
                </a:moveTo>
                <a:lnTo>
                  <a:pt x="84090" y="885823"/>
                </a:lnTo>
                <a:lnTo>
                  <a:pt x="78237" y="885245"/>
                </a:lnTo>
                <a:lnTo>
                  <a:pt x="35085" y="867370"/>
                </a:lnTo>
                <a:lnTo>
                  <a:pt x="9111" y="835720"/>
                </a:lnTo>
                <a:lnTo>
                  <a:pt x="0" y="801732"/>
                </a:lnTo>
                <a:lnTo>
                  <a:pt x="0" y="795826"/>
                </a:lnTo>
                <a:lnTo>
                  <a:pt x="0" y="84087"/>
                </a:lnTo>
                <a:lnTo>
                  <a:pt x="11884" y="44906"/>
                </a:lnTo>
                <a:lnTo>
                  <a:pt x="44911" y="11880"/>
                </a:lnTo>
                <a:lnTo>
                  <a:pt x="84090" y="0"/>
                </a:lnTo>
                <a:lnTo>
                  <a:pt x="1277984" y="0"/>
                </a:lnTo>
                <a:lnTo>
                  <a:pt x="1317161" y="11880"/>
                </a:lnTo>
                <a:lnTo>
                  <a:pt x="1350189" y="44906"/>
                </a:lnTo>
                <a:lnTo>
                  <a:pt x="1362075" y="84087"/>
                </a:lnTo>
                <a:lnTo>
                  <a:pt x="1362075" y="801732"/>
                </a:lnTo>
                <a:lnTo>
                  <a:pt x="1350189" y="840908"/>
                </a:lnTo>
                <a:lnTo>
                  <a:pt x="1317161" y="873937"/>
                </a:lnTo>
                <a:lnTo>
                  <a:pt x="1283836" y="885245"/>
                </a:lnTo>
                <a:lnTo>
                  <a:pt x="1277984" y="885823"/>
                </a:lnTo>
                <a:close/>
              </a:path>
            </a:pathLst>
          </a:custGeom>
          <a:solidFill>
            <a:srgbClr val="F1F4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 txBox="1"/>
          <p:nvPr/>
        </p:nvSpPr>
        <p:spPr>
          <a:xfrm>
            <a:off x="8974583" y="3324783"/>
            <a:ext cx="1066165" cy="785495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1095"/>
              </a:spcBef>
            </a:pPr>
            <a:r>
              <a:rPr dirty="0" sz="1600" spc="-20" b="1">
                <a:solidFill>
                  <a:srgbClr val="2E3C8F"/>
                </a:solidFill>
                <a:latin typeface="맑은 고딕"/>
                <a:cs typeface="맑은 고딕"/>
              </a:rPr>
              <a:t>298명</a:t>
            </a:r>
            <a:endParaRPr sz="1600">
              <a:latin typeface="맑은 고딕"/>
              <a:cs typeface="맑은 고딕"/>
            </a:endParaRPr>
          </a:p>
          <a:p>
            <a:pPr algn="ctr" marL="12700" marR="5080">
              <a:lnSpc>
                <a:spcPts val="1580"/>
              </a:lnSpc>
              <a:spcBef>
                <a:spcPts val="10"/>
              </a:spcBef>
            </a:pPr>
            <a:r>
              <a:rPr dirty="0" sz="800">
                <a:solidFill>
                  <a:srgbClr val="5B606F"/>
                </a:solidFill>
                <a:latin typeface="맑은 고딕"/>
                <a:cs typeface="맑은 고딕"/>
              </a:rPr>
              <a:t>이탈확률</a:t>
            </a:r>
            <a:r>
              <a:rPr dirty="0" sz="800" spc="4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5B606F"/>
                </a:solidFill>
                <a:latin typeface="맑은 고딕"/>
                <a:cs typeface="맑은 고딕"/>
              </a:rPr>
              <a:t>90%</a:t>
            </a:r>
            <a:r>
              <a:rPr dirty="0" sz="800" spc="4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5B606F"/>
                </a:solidFill>
                <a:latin typeface="맑은 고딕"/>
                <a:cs typeface="맑은 고딕"/>
              </a:rPr>
              <a:t>이상</a:t>
            </a:r>
            <a:r>
              <a:rPr dirty="0" sz="800" spc="50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800" spc="-50">
                <a:solidFill>
                  <a:srgbClr val="5B606F"/>
                </a:solidFill>
                <a:latin typeface="맑은 고딕"/>
                <a:cs typeface="맑은 고딕"/>
              </a:rPr>
              <a:t>고 </a:t>
            </a:r>
            <a:r>
              <a:rPr dirty="0" sz="800" spc="-25">
                <a:solidFill>
                  <a:srgbClr val="5B606F"/>
                </a:solidFill>
                <a:latin typeface="맑은 고딕"/>
                <a:cs typeface="맑은 고딕"/>
              </a:rPr>
              <a:t>위험</a:t>
            </a:r>
            <a:endParaRPr sz="800">
              <a:latin typeface="맑은 고딕"/>
              <a:cs typeface="맑은 고딕"/>
            </a:endParaRPr>
          </a:p>
        </p:txBody>
      </p:sp>
      <p:sp>
        <p:nvSpPr>
          <p:cNvPr id="33" name="object 3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분류</a:t>
            </a:r>
            <a:r>
              <a:rPr dirty="0" spc="-5"/>
              <a:t> </a:t>
            </a:r>
            <a:r>
              <a:rPr dirty="0"/>
              <a:t>모델</a:t>
            </a:r>
            <a:r>
              <a:rPr dirty="0" spc="-5"/>
              <a:t> </a:t>
            </a:r>
            <a:r>
              <a:rPr dirty="0"/>
              <a:t>전략</a:t>
            </a:r>
            <a:r>
              <a:rPr dirty="0" spc="-5"/>
              <a:t> </a:t>
            </a:r>
            <a:r>
              <a:rPr dirty="0"/>
              <a:t>발표</a:t>
            </a:r>
            <a:r>
              <a:rPr dirty="0" spc="-5"/>
              <a:t> </a:t>
            </a:r>
            <a:r>
              <a:rPr dirty="0" spc="-25"/>
              <a:t>자료</a:t>
            </a:r>
          </a:p>
        </p:txBody>
      </p:sp>
      <p:sp>
        <p:nvSpPr>
          <p:cNvPr id="34" name="object 3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7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91232" y="403256"/>
            <a:ext cx="149225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55" b="1">
                <a:solidFill>
                  <a:srgbClr val="2E3C8F"/>
                </a:solidFill>
                <a:latin typeface="맑은 고딕"/>
                <a:cs typeface="맑은 고딕"/>
              </a:rPr>
              <a:t>분류</a:t>
            </a:r>
            <a:r>
              <a:rPr dirty="0" sz="1000" spc="210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1000" b="1">
                <a:solidFill>
                  <a:srgbClr val="2E3C8F"/>
                </a:solidFill>
                <a:latin typeface="맑은 고딕"/>
                <a:cs typeface="맑은 고딕"/>
              </a:rPr>
              <a:t>—</a:t>
            </a:r>
            <a:r>
              <a:rPr dirty="0" sz="1000" spc="225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1000" b="1">
                <a:solidFill>
                  <a:srgbClr val="2E3C8F"/>
                </a:solidFill>
                <a:latin typeface="맑은 고딕"/>
                <a:cs typeface="맑은 고딕"/>
              </a:rPr>
              <a:t>⑥</a:t>
            </a:r>
            <a:r>
              <a:rPr dirty="0" sz="1000" spc="220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1000" spc="80" b="1">
                <a:solidFill>
                  <a:srgbClr val="2E3C8F"/>
                </a:solidFill>
                <a:latin typeface="맑은 고딕"/>
                <a:cs typeface="맑은 고딕"/>
              </a:rPr>
              <a:t>SHAP</a:t>
            </a:r>
            <a:r>
              <a:rPr dirty="0" sz="1000" spc="225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1000" spc="30" b="1">
                <a:solidFill>
                  <a:srgbClr val="2E3C8F"/>
                </a:solidFill>
                <a:latin typeface="맑은 고딕"/>
                <a:cs typeface="맑은 고딕"/>
              </a:rPr>
              <a:t>해석</a:t>
            </a:r>
            <a:endParaRPr sz="100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1232" y="647763"/>
            <a:ext cx="4629785" cy="284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/>
              <a:t>SHAP</a:t>
            </a:r>
            <a:r>
              <a:rPr dirty="0" sz="1700" spc="-105"/>
              <a:t> </a:t>
            </a:r>
            <a:r>
              <a:rPr dirty="0" sz="1700"/>
              <a:t>—</a:t>
            </a:r>
            <a:r>
              <a:rPr dirty="0" sz="1700" spc="-105"/>
              <a:t> </a:t>
            </a:r>
            <a:r>
              <a:rPr dirty="0" sz="1700"/>
              <a:t>어떤</a:t>
            </a:r>
            <a:r>
              <a:rPr dirty="0" sz="1700" spc="-100"/>
              <a:t> </a:t>
            </a:r>
            <a:r>
              <a:rPr dirty="0" sz="1700"/>
              <a:t>변수가</a:t>
            </a:r>
            <a:r>
              <a:rPr dirty="0" sz="1700" spc="-105"/>
              <a:t> </a:t>
            </a:r>
            <a:r>
              <a:rPr dirty="0" sz="1700"/>
              <a:t>이탈</a:t>
            </a:r>
            <a:r>
              <a:rPr dirty="0" sz="1700" spc="-105"/>
              <a:t> </a:t>
            </a:r>
            <a:r>
              <a:rPr dirty="0" sz="1700"/>
              <a:t>예측을</a:t>
            </a:r>
            <a:r>
              <a:rPr dirty="0" sz="1700" spc="-100"/>
              <a:t> </a:t>
            </a:r>
            <a:r>
              <a:rPr dirty="0" sz="1700" spc="-20"/>
              <a:t>밀어올리는가</a:t>
            </a:r>
            <a:endParaRPr sz="1700"/>
          </a:p>
        </p:txBody>
      </p:sp>
      <p:sp>
        <p:nvSpPr>
          <p:cNvPr id="4" name="object 4" descr=""/>
          <p:cNvSpPr txBox="1"/>
          <p:nvPr/>
        </p:nvSpPr>
        <p:spPr>
          <a:xfrm>
            <a:off x="491232" y="965231"/>
            <a:ext cx="8237855" cy="493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5B606F"/>
                </a:solidFill>
                <a:latin typeface="맑은 고딕"/>
                <a:cs typeface="맑은 고딕"/>
              </a:rPr>
              <a:t>TreeExplainer로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예측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결과에 대한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각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변수의 기여도를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고객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단위로 수치화하고,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기여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패턴을 사람이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읽을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수 있는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이탈원인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유형으로 </a:t>
            </a:r>
            <a:r>
              <a:rPr dirty="0" sz="1000" spc="-10">
                <a:solidFill>
                  <a:srgbClr val="5B606F"/>
                </a:solidFill>
                <a:latin typeface="맑은 고딕"/>
                <a:cs typeface="맑은 고딕"/>
              </a:rPr>
              <a:t>묶었습니다.</a:t>
            </a:r>
            <a:endParaRPr sz="100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650">
              <a:latin typeface="맑은 고딕"/>
              <a:cs typeface="맑은 고딕"/>
            </a:endParaRPr>
          </a:p>
          <a:p>
            <a:pPr marL="5222240">
              <a:lnSpc>
                <a:spcPct val="100000"/>
              </a:lnSpc>
            </a:pPr>
            <a:r>
              <a:rPr dirty="0" sz="1050" b="1">
                <a:solidFill>
                  <a:srgbClr val="2E3C8F"/>
                </a:solidFill>
                <a:latin typeface="맑은 고딕"/>
                <a:cs typeface="맑은 고딕"/>
              </a:rPr>
              <a:t>읽는 법 — 상위 변수의 </a:t>
            </a:r>
            <a:r>
              <a:rPr dirty="0" sz="1050" spc="-25" b="1">
                <a:solidFill>
                  <a:srgbClr val="2E3C8F"/>
                </a:solidFill>
                <a:latin typeface="맑은 고딕"/>
                <a:cs typeface="맑은 고딕"/>
              </a:rPr>
              <a:t>방향성</a:t>
            </a:r>
            <a:endParaRPr sz="1050">
              <a:latin typeface="맑은 고딕"/>
              <a:cs typeface="맑은 고딕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8269" y="1814917"/>
            <a:ext cx="2548010" cy="3104339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5714999" y="1971673"/>
            <a:ext cx="4476750" cy="314325"/>
            <a:chOff x="5714999" y="1971673"/>
            <a:chExt cx="4476750" cy="314325"/>
          </a:xfrm>
        </p:grpSpPr>
        <p:sp>
          <p:nvSpPr>
            <p:cNvPr id="7" name="object 7" descr=""/>
            <p:cNvSpPr/>
            <p:nvPr/>
          </p:nvSpPr>
          <p:spPr>
            <a:xfrm>
              <a:off x="5714987" y="1971674"/>
              <a:ext cx="4476750" cy="304800"/>
            </a:xfrm>
            <a:custGeom>
              <a:avLst/>
              <a:gdLst/>
              <a:ahLst/>
              <a:cxnLst/>
              <a:rect l="l" t="t" r="r" b="b"/>
              <a:pathLst>
                <a:path w="4476750" h="304800">
                  <a:moveTo>
                    <a:pt x="4476750" y="0"/>
                  </a:moveTo>
                  <a:lnTo>
                    <a:pt x="1695450" y="0"/>
                  </a:lnTo>
                  <a:lnTo>
                    <a:pt x="0" y="0"/>
                  </a:lnTo>
                  <a:lnTo>
                    <a:pt x="0" y="304800"/>
                  </a:lnTo>
                  <a:lnTo>
                    <a:pt x="1695450" y="304800"/>
                  </a:lnTo>
                  <a:lnTo>
                    <a:pt x="4476750" y="304800"/>
                  </a:lnTo>
                  <a:lnTo>
                    <a:pt x="4476750" y="0"/>
                  </a:lnTo>
                  <a:close/>
                </a:path>
              </a:pathLst>
            </a:custGeom>
            <a:solidFill>
              <a:srgbClr val="F6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714987" y="1971674"/>
              <a:ext cx="4476750" cy="314325"/>
            </a:xfrm>
            <a:custGeom>
              <a:avLst/>
              <a:gdLst/>
              <a:ahLst/>
              <a:cxnLst/>
              <a:rect l="l" t="t" r="r" b="b"/>
              <a:pathLst>
                <a:path w="4476750" h="314325">
                  <a:moveTo>
                    <a:pt x="4476750" y="304800"/>
                  </a:moveTo>
                  <a:lnTo>
                    <a:pt x="1695450" y="304800"/>
                  </a:lnTo>
                  <a:lnTo>
                    <a:pt x="0" y="304800"/>
                  </a:lnTo>
                  <a:lnTo>
                    <a:pt x="0" y="314325"/>
                  </a:lnTo>
                  <a:lnTo>
                    <a:pt x="1695450" y="314325"/>
                  </a:lnTo>
                  <a:lnTo>
                    <a:pt x="4476750" y="314325"/>
                  </a:lnTo>
                  <a:lnTo>
                    <a:pt x="4476750" y="304800"/>
                  </a:lnTo>
                  <a:close/>
                </a:path>
                <a:path w="4476750" h="314325">
                  <a:moveTo>
                    <a:pt x="4476750" y="0"/>
                  </a:moveTo>
                  <a:lnTo>
                    <a:pt x="1695450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1695450" y="9525"/>
                  </a:lnTo>
                  <a:lnTo>
                    <a:pt x="4476750" y="9525"/>
                  </a:lnTo>
                  <a:lnTo>
                    <a:pt x="4476750" y="0"/>
                  </a:lnTo>
                  <a:close/>
                </a:path>
              </a:pathLst>
            </a:custGeom>
            <a:solidFill>
              <a:srgbClr val="E6E7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5714999" y="2733673"/>
            <a:ext cx="4476750" cy="314325"/>
            <a:chOff x="5714999" y="2733673"/>
            <a:chExt cx="4476750" cy="314325"/>
          </a:xfrm>
        </p:grpSpPr>
        <p:sp>
          <p:nvSpPr>
            <p:cNvPr id="10" name="object 10" descr=""/>
            <p:cNvSpPr/>
            <p:nvPr/>
          </p:nvSpPr>
          <p:spPr>
            <a:xfrm>
              <a:off x="5714987" y="2733674"/>
              <a:ext cx="4476750" cy="304800"/>
            </a:xfrm>
            <a:custGeom>
              <a:avLst/>
              <a:gdLst/>
              <a:ahLst/>
              <a:cxnLst/>
              <a:rect l="l" t="t" r="r" b="b"/>
              <a:pathLst>
                <a:path w="4476750" h="304800">
                  <a:moveTo>
                    <a:pt x="4476750" y="0"/>
                  </a:moveTo>
                  <a:lnTo>
                    <a:pt x="1695450" y="0"/>
                  </a:lnTo>
                  <a:lnTo>
                    <a:pt x="0" y="0"/>
                  </a:lnTo>
                  <a:lnTo>
                    <a:pt x="0" y="304800"/>
                  </a:lnTo>
                  <a:lnTo>
                    <a:pt x="1695450" y="304800"/>
                  </a:lnTo>
                  <a:lnTo>
                    <a:pt x="4476750" y="304800"/>
                  </a:lnTo>
                  <a:lnTo>
                    <a:pt x="4476750" y="0"/>
                  </a:lnTo>
                  <a:close/>
                </a:path>
              </a:pathLst>
            </a:custGeom>
            <a:solidFill>
              <a:srgbClr val="F6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714987" y="2733674"/>
              <a:ext cx="4476750" cy="314325"/>
            </a:xfrm>
            <a:custGeom>
              <a:avLst/>
              <a:gdLst/>
              <a:ahLst/>
              <a:cxnLst/>
              <a:rect l="l" t="t" r="r" b="b"/>
              <a:pathLst>
                <a:path w="4476750" h="314325">
                  <a:moveTo>
                    <a:pt x="4476750" y="304800"/>
                  </a:moveTo>
                  <a:lnTo>
                    <a:pt x="1695450" y="304800"/>
                  </a:lnTo>
                  <a:lnTo>
                    <a:pt x="0" y="304800"/>
                  </a:lnTo>
                  <a:lnTo>
                    <a:pt x="0" y="314325"/>
                  </a:lnTo>
                  <a:lnTo>
                    <a:pt x="1695450" y="314325"/>
                  </a:lnTo>
                  <a:lnTo>
                    <a:pt x="4476750" y="314325"/>
                  </a:lnTo>
                  <a:lnTo>
                    <a:pt x="4476750" y="304800"/>
                  </a:lnTo>
                  <a:close/>
                </a:path>
                <a:path w="4476750" h="314325">
                  <a:moveTo>
                    <a:pt x="4476750" y="0"/>
                  </a:moveTo>
                  <a:lnTo>
                    <a:pt x="1695450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1695450" y="9525"/>
                  </a:lnTo>
                  <a:lnTo>
                    <a:pt x="4476750" y="9525"/>
                  </a:lnTo>
                  <a:lnTo>
                    <a:pt x="4476750" y="0"/>
                  </a:lnTo>
                  <a:close/>
                </a:path>
              </a:pathLst>
            </a:custGeom>
            <a:solidFill>
              <a:srgbClr val="E6E7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5794424" y="1587500"/>
            <a:ext cx="7899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1B1D25"/>
                </a:solidFill>
                <a:latin typeface="맑은 고딕"/>
                <a:cs typeface="맑은 고딕"/>
              </a:rPr>
              <a:t>Total_Trans_Ct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494637" y="1572260"/>
            <a:ext cx="25946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거래건수가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낮을수록(파랑)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이탈 방향으로 가장 </a:t>
            </a:r>
            <a:r>
              <a:rPr dirty="0" sz="900" spc="-50">
                <a:solidFill>
                  <a:srgbClr val="1B1D25"/>
                </a:solidFill>
                <a:latin typeface="맑은 고딕"/>
                <a:cs typeface="맑은 고딕"/>
              </a:rPr>
              <a:t>크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게 기여 — 1위 </a:t>
            </a:r>
            <a:r>
              <a:rPr dirty="0" sz="900" spc="-25">
                <a:solidFill>
                  <a:srgbClr val="1B1D25"/>
                </a:solidFill>
                <a:latin typeface="맑은 고딕"/>
                <a:cs typeface="맑은 고딕"/>
              </a:rPr>
              <a:t>변수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714999" y="2044700"/>
            <a:ext cx="4476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100"/>
              </a:spcBef>
              <a:tabLst>
                <a:tab pos="1791970" algn="l"/>
              </a:tabLst>
            </a:pPr>
            <a:r>
              <a:rPr dirty="0" sz="900" spc="-10" b="1">
                <a:solidFill>
                  <a:srgbClr val="1B1D25"/>
                </a:solidFill>
                <a:latin typeface="맑은 고딕"/>
                <a:cs typeface="맑은 고딕"/>
              </a:rPr>
              <a:t>Total_Trans_Amt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	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건수 대비 금액 패턴이 어긋날 때 이탈 신호 </a:t>
            </a:r>
            <a:r>
              <a:rPr dirty="0" sz="900" spc="-25">
                <a:solidFill>
                  <a:srgbClr val="1B1D25"/>
                </a:solidFill>
                <a:latin typeface="맑은 고딕"/>
                <a:cs typeface="맑은 고딕"/>
              </a:rPr>
              <a:t>강화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794424" y="2349500"/>
            <a:ext cx="108331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1B1D25"/>
                </a:solidFill>
                <a:latin typeface="맑은 고딕"/>
                <a:cs typeface="맑은 고딕"/>
              </a:rPr>
              <a:t>Total_Revolving_Bal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494637" y="2334260"/>
            <a:ext cx="25082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리볼빙 잔액이 낮을수록(관계 정리 신호) 이탈 </a:t>
            </a:r>
            <a:r>
              <a:rPr dirty="0" sz="900" spc="-50">
                <a:solidFill>
                  <a:srgbClr val="1B1D25"/>
                </a:solidFill>
                <a:latin typeface="맑은 고딕"/>
                <a:cs typeface="맑은 고딕"/>
              </a:rPr>
              <a:t>방 향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700960" y="2806699"/>
            <a:ext cx="4491355" cy="566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6045">
              <a:lnSpc>
                <a:spcPct val="100000"/>
              </a:lnSpc>
              <a:spcBef>
                <a:spcPts val="100"/>
              </a:spcBef>
              <a:tabLst>
                <a:tab pos="1805939" algn="l"/>
              </a:tabLst>
            </a:pPr>
            <a:r>
              <a:rPr dirty="0" sz="900" spc="-10" b="1">
                <a:solidFill>
                  <a:srgbClr val="1B1D25"/>
                </a:solidFill>
                <a:latin typeface="맑은 고딕"/>
                <a:cs typeface="맑은 고딕"/>
              </a:rPr>
              <a:t>*_Chng_Q4_Q1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	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분기 대비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거래량 급감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이 이탈 확률을 </a:t>
            </a:r>
            <a:r>
              <a:rPr dirty="0" sz="900" spc="-20">
                <a:solidFill>
                  <a:srgbClr val="1B1D25"/>
                </a:solidFill>
                <a:latin typeface="맑은 고딕"/>
                <a:cs typeface="맑은 고딕"/>
              </a:rPr>
              <a:t>밀어올림</a:t>
            </a:r>
            <a:endParaRPr sz="90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dirty="0" sz="1050" b="1">
                <a:solidFill>
                  <a:srgbClr val="2E3C8F"/>
                </a:solidFill>
                <a:latin typeface="맑은 고딕"/>
                <a:cs typeface="맑은 고딕"/>
              </a:rPr>
              <a:t>SHAP 기여 패턴 기반 이탈원인 유형 (이탈자 </a:t>
            </a:r>
            <a:r>
              <a:rPr dirty="0" sz="1050" spc="-10" b="1">
                <a:solidFill>
                  <a:srgbClr val="2E3C8F"/>
                </a:solidFill>
                <a:latin typeface="맑은 고딕"/>
                <a:cs typeface="맑은 고딕"/>
              </a:rPr>
              <a:t>2,026명)</a:t>
            </a:r>
            <a:endParaRPr sz="1050">
              <a:latin typeface="맑은 고딕"/>
              <a:cs typeface="맑은 고딕"/>
            </a:endParaRPr>
          </a:p>
        </p:txBody>
      </p:sp>
      <p:graphicFrame>
        <p:nvGraphicFramePr>
          <p:cNvPr id="18" name="object 18" descr=""/>
          <p:cNvGraphicFramePr>
            <a:graphicFrameLocks noGrp="1"/>
          </p:cNvGraphicFramePr>
          <p:nvPr/>
        </p:nvGraphicFramePr>
        <p:xfrm>
          <a:off x="5714999" y="3433760"/>
          <a:ext cx="4476750" cy="908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5240"/>
                <a:gridCol w="741045"/>
                <a:gridCol w="2449194"/>
              </a:tblGrid>
              <a:tr h="30416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주요원인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5725">
                    <a:solidFill>
                      <a:srgbClr val="2E3C8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인원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5725">
                    <a:solidFill>
                      <a:srgbClr val="2E3C8F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비고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5725">
                    <a:solidFill>
                      <a:srgbClr val="2E3C8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900" b="1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거래활동 </a:t>
                      </a:r>
                      <a:r>
                        <a:rPr dirty="0" sz="900" spc="-25" b="1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급감형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5725"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E7F1E3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900" spc="-10" b="1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1,352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5725"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E7F1E3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900" b="1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고위험군 298명 중 </a:t>
                      </a:r>
                      <a:r>
                        <a:rPr dirty="0" sz="900" spc="-10" b="1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292명(98%)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5725"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E7F1E3"/>
                    </a:solidFill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90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관계 </a:t>
                      </a:r>
                      <a:r>
                        <a:rPr dirty="0" sz="900" spc="-2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축소형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90170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900" spc="-2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372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90170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90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보유상품 수 </a:t>
                      </a:r>
                      <a:r>
                        <a:rPr dirty="0" sz="900" spc="-2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감소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90170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  <p:grpSp>
        <p:nvGrpSpPr>
          <p:cNvPr id="19" name="object 19" descr=""/>
          <p:cNvGrpSpPr/>
          <p:nvPr/>
        </p:nvGrpSpPr>
        <p:grpSpPr>
          <a:xfrm>
            <a:off x="5714999" y="4648198"/>
            <a:ext cx="4476750" cy="323850"/>
            <a:chOff x="5714999" y="4648198"/>
            <a:chExt cx="4476750" cy="323850"/>
          </a:xfrm>
        </p:grpSpPr>
        <p:sp>
          <p:nvSpPr>
            <p:cNvPr id="20" name="object 20" descr=""/>
            <p:cNvSpPr/>
            <p:nvPr/>
          </p:nvSpPr>
          <p:spPr>
            <a:xfrm>
              <a:off x="5714987" y="4657724"/>
              <a:ext cx="4476750" cy="304800"/>
            </a:xfrm>
            <a:custGeom>
              <a:avLst/>
              <a:gdLst/>
              <a:ahLst/>
              <a:cxnLst/>
              <a:rect l="l" t="t" r="r" b="b"/>
              <a:pathLst>
                <a:path w="4476750" h="304800">
                  <a:moveTo>
                    <a:pt x="4476750" y="0"/>
                  </a:moveTo>
                  <a:lnTo>
                    <a:pt x="2028825" y="0"/>
                  </a:lnTo>
                  <a:lnTo>
                    <a:pt x="1381125" y="0"/>
                  </a:lnTo>
                  <a:lnTo>
                    <a:pt x="0" y="0"/>
                  </a:lnTo>
                  <a:lnTo>
                    <a:pt x="0" y="304800"/>
                  </a:lnTo>
                  <a:lnTo>
                    <a:pt x="1381125" y="304800"/>
                  </a:lnTo>
                  <a:lnTo>
                    <a:pt x="2028825" y="304800"/>
                  </a:lnTo>
                  <a:lnTo>
                    <a:pt x="4476750" y="304800"/>
                  </a:lnTo>
                  <a:lnTo>
                    <a:pt x="4476750" y="0"/>
                  </a:lnTo>
                  <a:close/>
                </a:path>
              </a:pathLst>
            </a:custGeom>
            <a:solidFill>
              <a:srgbClr val="F6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714987" y="4648199"/>
              <a:ext cx="4476750" cy="323850"/>
            </a:xfrm>
            <a:custGeom>
              <a:avLst/>
              <a:gdLst/>
              <a:ahLst/>
              <a:cxnLst/>
              <a:rect l="l" t="t" r="r" b="b"/>
              <a:pathLst>
                <a:path w="4476750" h="323850">
                  <a:moveTo>
                    <a:pt x="4476750" y="314325"/>
                  </a:moveTo>
                  <a:lnTo>
                    <a:pt x="2028825" y="314325"/>
                  </a:lnTo>
                  <a:lnTo>
                    <a:pt x="1381125" y="314325"/>
                  </a:lnTo>
                  <a:lnTo>
                    <a:pt x="0" y="314325"/>
                  </a:lnTo>
                  <a:lnTo>
                    <a:pt x="0" y="323850"/>
                  </a:lnTo>
                  <a:lnTo>
                    <a:pt x="1381125" y="323850"/>
                  </a:lnTo>
                  <a:lnTo>
                    <a:pt x="2028825" y="323850"/>
                  </a:lnTo>
                  <a:lnTo>
                    <a:pt x="4476750" y="323850"/>
                  </a:lnTo>
                  <a:lnTo>
                    <a:pt x="4476750" y="314325"/>
                  </a:lnTo>
                  <a:close/>
                </a:path>
                <a:path w="4476750" h="323850">
                  <a:moveTo>
                    <a:pt x="4476750" y="0"/>
                  </a:moveTo>
                  <a:lnTo>
                    <a:pt x="2028825" y="0"/>
                  </a:lnTo>
                  <a:lnTo>
                    <a:pt x="138112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1381125" y="9525"/>
                  </a:lnTo>
                  <a:lnTo>
                    <a:pt x="2028825" y="9525"/>
                  </a:lnTo>
                  <a:lnTo>
                    <a:pt x="4476750" y="9525"/>
                  </a:lnTo>
                  <a:lnTo>
                    <a:pt x="4476750" y="0"/>
                  </a:lnTo>
                  <a:close/>
                </a:path>
              </a:pathLst>
            </a:custGeom>
            <a:solidFill>
              <a:srgbClr val="E6E7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 descr=""/>
          <p:cNvGrpSpPr/>
          <p:nvPr/>
        </p:nvGrpSpPr>
        <p:grpSpPr>
          <a:xfrm>
            <a:off x="5714999" y="5076823"/>
            <a:ext cx="4476750" cy="733425"/>
            <a:chOff x="5714999" y="5076823"/>
            <a:chExt cx="4476750" cy="733425"/>
          </a:xfrm>
        </p:grpSpPr>
        <p:sp>
          <p:nvSpPr>
            <p:cNvPr id="23" name="object 23" descr=""/>
            <p:cNvSpPr/>
            <p:nvPr/>
          </p:nvSpPr>
          <p:spPr>
            <a:xfrm>
              <a:off x="5772149" y="5076823"/>
              <a:ext cx="4419600" cy="733425"/>
            </a:xfrm>
            <a:custGeom>
              <a:avLst/>
              <a:gdLst/>
              <a:ahLst/>
              <a:cxnLst/>
              <a:rect l="l" t="t" r="r" b="b"/>
              <a:pathLst>
                <a:path w="4419600" h="733425">
                  <a:moveTo>
                    <a:pt x="0" y="733424"/>
                  </a:moveTo>
                  <a:lnTo>
                    <a:pt x="4419599" y="733424"/>
                  </a:lnTo>
                  <a:lnTo>
                    <a:pt x="4419599" y="0"/>
                  </a:lnTo>
                  <a:lnTo>
                    <a:pt x="0" y="0"/>
                  </a:lnTo>
                  <a:lnTo>
                    <a:pt x="0" y="733424"/>
                  </a:lnTo>
                  <a:close/>
                </a:path>
              </a:pathLst>
            </a:custGeom>
            <a:solidFill>
              <a:srgbClr val="F4F5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714999" y="5076823"/>
              <a:ext cx="57150" cy="733425"/>
            </a:xfrm>
            <a:custGeom>
              <a:avLst/>
              <a:gdLst/>
              <a:ahLst/>
              <a:cxnLst/>
              <a:rect l="l" t="t" r="r" b="b"/>
              <a:pathLst>
                <a:path w="57150" h="733425">
                  <a:moveTo>
                    <a:pt x="57149" y="733424"/>
                  </a:moveTo>
                  <a:lnTo>
                    <a:pt x="0" y="733424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733424"/>
                  </a:lnTo>
                  <a:close/>
                </a:path>
              </a:pathLst>
            </a:custGeom>
            <a:solidFill>
              <a:srgbClr val="2E3C8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654794" y="4425950"/>
            <a:ext cx="9537065" cy="1277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151755">
              <a:lnSpc>
                <a:spcPct val="100000"/>
              </a:lnSpc>
              <a:spcBef>
                <a:spcPts val="100"/>
              </a:spcBef>
              <a:tabLst>
                <a:tab pos="6804659" algn="l"/>
                <a:tab pos="7180580" algn="l"/>
              </a:tabLst>
            </a:pP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장기 </a:t>
            </a:r>
            <a:r>
              <a:rPr dirty="0" sz="900" spc="-20">
                <a:solidFill>
                  <a:srgbClr val="1B1D25"/>
                </a:solidFill>
                <a:latin typeface="맑은 고딕"/>
                <a:cs typeface="맑은 고딕"/>
              </a:rPr>
              <a:t>미사용형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	</a:t>
            </a:r>
            <a:r>
              <a:rPr dirty="0" sz="900" spc="-25">
                <a:solidFill>
                  <a:srgbClr val="1B1D25"/>
                </a:solidFill>
                <a:latin typeface="맑은 고딕"/>
                <a:cs typeface="맑은 고딕"/>
              </a:rPr>
              <a:t>127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	비활성 개월 수 </a:t>
            </a:r>
            <a:r>
              <a:rPr dirty="0" sz="900" spc="-25">
                <a:solidFill>
                  <a:srgbClr val="1B1D25"/>
                </a:solidFill>
                <a:latin typeface="맑은 고딕"/>
                <a:cs typeface="맑은 고딕"/>
              </a:rPr>
              <a:t>누적</a:t>
            </a:r>
            <a:endParaRPr sz="90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700">
              <a:latin typeface="맑은 고딕"/>
              <a:cs typeface="맑은 고딕"/>
            </a:endParaRPr>
          </a:p>
          <a:p>
            <a:pPr marL="5151755">
              <a:lnSpc>
                <a:spcPct val="100000"/>
              </a:lnSpc>
              <a:tabLst>
                <a:tab pos="6867525" algn="l"/>
                <a:tab pos="7180580" algn="l"/>
              </a:tabLst>
            </a:pP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불만 </a:t>
            </a:r>
            <a:r>
              <a:rPr dirty="0" sz="900" spc="-25">
                <a:solidFill>
                  <a:srgbClr val="1B1D25"/>
                </a:solidFill>
                <a:latin typeface="맑은 고딕"/>
                <a:cs typeface="맑은 고딕"/>
              </a:rPr>
              <a:t>누적형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	</a:t>
            </a:r>
            <a:r>
              <a:rPr dirty="0" sz="900" spc="-25">
                <a:solidFill>
                  <a:srgbClr val="1B1D25"/>
                </a:solidFill>
                <a:latin typeface="맑은 고딕"/>
                <a:cs typeface="맑은 고딕"/>
              </a:rPr>
              <a:t>68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	문의 횟수 </a:t>
            </a:r>
            <a:r>
              <a:rPr dirty="0" sz="900" spc="-25">
                <a:solidFill>
                  <a:srgbClr val="1B1D25"/>
                </a:solidFill>
                <a:latin typeface="맑은 고딕"/>
                <a:cs typeface="맑은 고딕"/>
              </a:rPr>
              <a:t>급증</a:t>
            </a:r>
            <a:endParaRPr sz="90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SHAP</a:t>
            </a:r>
            <a:r>
              <a:rPr dirty="0" sz="800" spc="-2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summary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(Validation</a:t>
            </a:r>
            <a:r>
              <a:rPr dirty="0" sz="800" spc="-5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2,025명)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—</a:t>
            </a:r>
            <a:r>
              <a:rPr dirty="0" sz="800" spc="-5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오른쪽일수록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이탈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방향</a:t>
            </a:r>
            <a:r>
              <a:rPr dirty="0" sz="800" spc="-5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기여,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빨강=변수값</a:t>
            </a:r>
            <a:r>
              <a:rPr dirty="0" sz="800" spc="-5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높음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·</a:t>
            </a:r>
            <a:r>
              <a:rPr dirty="0" sz="800" spc="-5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파랑=낮음</a:t>
            </a:r>
            <a:endParaRPr sz="800">
              <a:latin typeface="맑은 고딕"/>
              <a:cs typeface="맑은 고딕"/>
            </a:endParaRPr>
          </a:p>
          <a:p>
            <a:pPr marL="5241290">
              <a:lnSpc>
                <a:spcPct val="100000"/>
              </a:lnSpc>
              <a:spcBef>
                <a:spcPts val="140"/>
              </a:spcBef>
            </a:pP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상위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기여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변수가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전부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거래활동</a:t>
            </a:r>
            <a:r>
              <a:rPr dirty="0" sz="900" spc="50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축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에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몰려</a:t>
            </a:r>
            <a:r>
              <a:rPr dirty="0" sz="900" spc="5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있어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고위험군의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98%가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한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spc="-25">
                <a:solidFill>
                  <a:srgbClr val="1B1D25"/>
                </a:solidFill>
                <a:latin typeface="맑은 고딕"/>
                <a:cs typeface="맑은 고딕"/>
              </a:rPr>
              <a:t>유형으</a:t>
            </a:r>
            <a:endParaRPr sz="900">
              <a:latin typeface="맑은 고딕"/>
              <a:cs typeface="맑은 고딕"/>
            </a:endParaRPr>
          </a:p>
          <a:p>
            <a:pPr marL="5241290" marR="191135">
              <a:lnSpc>
                <a:spcPct val="131900"/>
              </a:lnSpc>
            </a:pP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로</a:t>
            </a:r>
            <a:r>
              <a:rPr dirty="0" sz="900" spc="4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수렴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—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유형별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차등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대응을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하려면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거래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축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밖의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신호(민원·연체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이력)가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spc="-50">
                <a:solidFill>
                  <a:srgbClr val="1B1D25"/>
                </a:solidFill>
                <a:latin typeface="맑은 고딕"/>
                <a:cs typeface="맑은 고딕"/>
              </a:rPr>
              <a:t>필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요하다는</a:t>
            </a:r>
            <a:r>
              <a:rPr dirty="0" sz="900" spc="5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한계도</a:t>
            </a:r>
            <a:r>
              <a:rPr dirty="0" sz="900" spc="6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함께</a:t>
            </a:r>
            <a:r>
              <a:rPr dirty="0" sz="900" spc="6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spc="-10">
                <a:solidFill>
                  <a:srgbClr val="1B1D25"/>
                </a:solidFill>
                <a:latin typeface="맑은 고딕"/>
                <a:cs typeface="맑은 고딕"/>
              </a:rPr>
              <a:t>보고합니다.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26" name="object 2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분류</a:t>
            </a:r>
            <a:r>
              <a:rPr dirty="0" spc="-5"/>
              <a:t> </a:t>
            </a:r>
            <a:r>
              <a:rPr dirty="0"/>
              <a:t>모델</a:t>
            </a:r>
            <a:r>
              <a:rPr dirty="0" spc="-5"/>
              <a:t> </a:t>
            </a:r>
            <a:r>
              <a:rPr dirty="0"/>
              <a:t>전략</a:t>
            </a:r>
            <a:r>
              <a:rPr dirty="0" spc="-5"/>
              <a:t> </a:t>
            </a:r>
            <a:r>
              <a:rPr dirty="0"/>
              <a:t>발표</a:t>
            </a:r>
            <a:r>
              <a:rPr dirty="0" spc="-5"/>
              <a:t> </a:t>
            </a:r>
            <a:r>
              <a:rPr dirty="0" spc="-25"/>
              <a:t>자료</a:t>
            </a:r>
          </a:p>
        </p:txBody>
      </p:sp>
      <p:sp>
        <p:nvSpPr>
          <p:cNvPr id="27" name="object 2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91232" y="403256"/>
            <a:ext cx="166306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55" b="1">
                <a:solidFill>
                  <a:srgbClr val="2E3C8F"/>
                </a:solidFill>
                <a:latin typeface="맑은 고딕"/>
                <a:cs typeface="맑은 고딕"/>
              </a:rPr>
              <a:t>분류</a:t>
            </a:r>
            <a:r>
              <a:rPr dirty="0" sz="1000" spc="220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1000" b="1">
                <a:solidFill>
                  <a:srgbClr val="2E3C8F"/>
                </a:solidFill>
                <a:latin typeface="맑은 고딕"/>
                <a:cs typeface="맑은 고딕"/>
              </a:rPr>
              <a:t>—</a:t>
            </a:r>
            <a:r>
              <a:rPr dirty="0" sz="1000" spc="225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1000" b="1">
                <a:solidFill>
                  <a:srgbClr val="2E3C8F"/>
                </a:solidFill>
                <a:latin typeface="맑은 고딕"/>
                <a:cs typeface="맑은 고딕"/>
              </a:rPr>
              <a:t>⑦</a:t>
            </a:r>
            <a:r>
              <a:rPr dirty="0" sz="1000" spc="220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1000" spc="80" b="1">
                <a:solidFill>
                  <a:srgbClr val="2E3C8F"/>
                </a:solidFill>
                <a:latin typeface="맑은 고딕"/>
                <a:cs typeface="맑은 고딕"/>
              </a:rPr>
              <a:t>비즈니스</a:t>
            </a:r>
            <a:r>
              <a:rPr dirty="0" sz="1000" spc="225" b="1">
                <a:solidFill>
                  <a:srgbClr val="2E3C8F"/>
                </a:solidFill>
                <a:latin typeface="맑은 고딕"/>
                <a:cs typeface="맑은 고딕"/>
              </a:rPr>
              <a:t> </a:t>
            </a:r>
            <a:r>
              <a:rPr dirty="0" sz="1000" spc="30" b="1">
                <a:solidFill>
                  <a:srgbClr val="2E3C8F"/>
                </a:solidFill>
                <a:latin typeface="맑은 고딕"/>
                <a:cs typeface="맑은 고딕"/>
              </a:rPr>
              <a:t>적용</a:t>
            </a:r>
            <a:endParaRPr sz="100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1232" y="647763"/>
            <a:ext cx="4945380" cy="284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/>
              <a:t>Lift</a:t>
            </a:r>
            <a:r>
              <a:rPr dirty="0" sz="1700" spc="-110"/>
              <a:t> </a:t>
            </a:r>
            <a:r>
              <a:rPr dirty="0" sz="1700"/>
              <a:t>/</a:t>
            </a:r>
            <a:r>
              <a:rPr dirty="0" sz="1700" spc="-105"/>
              <a:t> </a:t>
            </a:r>
            <a:r>
              <a:rPr dirty="0" sz="1700" spc="-10"/>
              <a:t>Gain</a:t>
            </a:r>
            <a:r>
              <a:rPr dirty="0" sz="1700" spc="-105"/>
              <a:t> </a:t>
            </a:r>
            <a:r>
              <a:rPr dirty="0" sz="1700"/>
              <a:t>—</a:t>
            </a:r>
            <a:r>
              <a:rPr dirty="0" sz="1700" spc="-105"/>
              <a:t> </a:t>
            </a:r>
            <a:r>
              <a:rPr dirty="0" sz="1700"/>
              <a:t>상위</a:t>
            </a:r>
            <a:r>
              <a:rPr dirty="0" sz="1700" spc="-105"/>
              <a:t> </a:t>
            </a:r>
            <a:r>
              <a:rPr dirty="0" sz="1700"/>
              <a:t>20%</a:t>
            </a:r>
            <a:r>
              <a:rPr dirty="0" sz="1700" spc="-105"/>
              <a:t> </a:t>
            </a:r>
            <a:r>
              <a:rPr dirty="0" sz="1700" spc="-10"/>
              <a:t>접촉으로</a:t>
            </a:r>
            <a:r>
              <a:rPr dirty="0" sz="1700" spc="-105"/>
              <a:t> </a:t>
            </a:r>
            <a:r>
              <a:rPr dirty="0" sz="1700"/>
              <a:t>이탈자</a:t>
            </a:r>
            <a:r>
              <a:rPr dirty="0" sz="1700" spc="-105"/>
              <a:t> </a:t>
            </a:r>
            <a:r>
              <a:rPr dirty="0" sz="1700"/>
              <a:t>96%</a:t>
            </a:r>
            <a:r>
              <a:rPr dirty="0" sz="1700" spc="-105"/>
              <a:t> </a:t>
            </a:r>
            <a:r>
              <a:rPr dirty="0" sz="1700" spc="-25"/>
              <a:t>포착</a:t>
            </a:r>
            <a:endParaRPr sz="1700"/>
          </a:p>
        </p:txBody>
      </p:sp>
      <p:sp>
        <p:nvSpPr>
          <p:cNvPr id="4" name="object 4" descr=""/>
          <p:cNvSpPr txBox="1"/>
          <p:nvPr/>
        </p:nvSpPr>
        <p:spPr>
          <a:xfrm>
            <a:off x="491232" y="965231"/>
            <a:ext cx="756221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F1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0.90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자체는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의사결정을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만들지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않습니다.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"예산이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상위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10%뿐인데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누구에게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연락해야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하나"에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답하도록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랭킹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>
                <a:solidFill>
                  <a:srgbClr val="5B606F"/>
                </a:solidFill>
                <a:latin typeface="맑은 고딕"/>
                <a:cs typeface="맑은 고딕"/>
              </a:rPr>
              <a:t>문제로</a:t>
            </a:r>
            <a:r>
              <a:rPr dirty="0" sz="1000" spc="-5">
                <a:solidFill>
                  <a:srgbClr val="5B606F"/>
                </a:solidFill>
                <a:latin typeface="맑은 고딕"/>
                <a:cs typeface="맑은 고딕"/>
              </a:rPr>
              <a:t> </a:t>
            </a:r>
            <a:r>
              <a:rPr dirty="0" sz="1000" spc="-10">
                <a:solidFill>
                  <a:srgbClr val="5B606F"/>
                </a:solidFill>
                <a:latin typeface="맑은 고딕"/>
                <a:cs typeface="맑은 고딕"/>
              </a:rPr>
              <a:t>옮겼습니다.</a:t>
            </a:r>
            <a:endParaRPr sz="1000">
              <a:latin typeface="맑은 고딕"/>
              <a:cs typeface="맑은 고딕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4656" y="1982754"/>
            <a:ext cx="3951798" cy="275326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415156" y="4895913"/>
            <a:ext cx="339725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Gain</a:t>
            </a:r>
            <a:r>
              <a:rPr dirty="0" sz="800" spc="-2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곡선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—</a:t>
            </a:r>
            <a:r>
              <a:rPr dirty="0" sz="800" spc="-5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모델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기반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타겟팅</a:t>
            </a:r>
            <a:r>
              <a:rPr dirty="0" sz="800" spc="-5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vs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무작위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타겟팅</a:t>
            </a:r>
            <a:r>
              <a:rPr dirty="0" sz="800" spc="-5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(Test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이탈자</a:t>
            </a:r>
            <a:r>
              <a:rPr dirty="0" sz="800" spc="-10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8A8F9D"/>
                </a:solidFill>
                <a:latin typeface="맑은 고딕"/>
                <a:cs typeface="맑은 고딕"/>
              </a:rPr>
              <a:t>326명</a:t>
            </a:r>
            <a:r>
              <a:rPr dirty="0" sz="800" spc="-5">
                <a:solidFill>
                  <a:srgbClr val="8A8F9D"/>
                </a:solidFill>
                <a:latin typeface="맑은 고딕"/>
                <a:cs typeface="맑은 고딕"/>
              </a:rPr>
              <a:t> </a:t>
            </a:r>
            <a:r>
              <a:rPr dirty="0" sz="800" spc="-25">
                <a:solidFill>
                  <a:srgbClr val="8A8F9D"/>
                </a:solidFill>
                <a:latin typeface="맑은 고딕"/>
                <a:cs typeface="맑은 고딕"/>
              </a:rPr>
              <a:t>기준)</a:t>
            </a:r>
            <a:endParaRPr sz="800">
              <a:latin typeface="맑은 고딕"/>
              <a:cs typeface="맑은 고딕"/>
            </a:endParaRP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6010274" y="1276348"/>
          <a:ext cx="4181475" cy="1830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8425"/>
                <a:gridCol w="1746250"/>
                <a:gridCol w="1067435"/>
              </a:tblGrid>
              <a:tr h="31369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900" b="1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타겟팅 </a:t>
                      </a:r>
                      <a:r>
                        <a:rPr dirty="0" sz="900" spc="-25" b="1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범위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5725">
                    <a:solidFill>
                      <a:srgbClr val="2E3C8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5052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900" b="1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이탈자 </a:t>
                      </a:r>
                      <a:r>
                        <a:rPr dirty="0" sz="900" spc="-25" b="1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포착률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5725">
                    <a:solidFill>
                      <a:srgbClr val="2E3C8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953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900" b="1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무작위 </a:t>
                      </a:r>
                      <a:r>
                        <a:rPr dirty="0" sz="900" spc="-25" b="1">
                          <a:solidFill>
                            <a:srgbClr val="FFFFFF"/>
                          </a:solidFill>
                          <a:latin typeface="맑은 고딕"/>
                          <a:cs typeface="맑은 고딕"/>
                        </a:rPr>
                        <a:t>대비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5725">
                    <a:solidFill>
                      <a:srgbClr val="2E3C8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90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상위 </a:t>
                      </a:r>
                      <a:r>
                        <a:rPr dirty="0" sz="900" spc="-2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5%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76200">
                    <a:lnB w="9525">
                      <a:solidFill>
                        <a:srgbClr val="E6E7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5052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31.0%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76200">
                    <a:lnB w="9525">
                      <a:solidFill>
                        <a:srgbClr val="E6E7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953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900" spc="-2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6.2배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76200">
                    <a:lnB w="9525">
                      <a:solidFill>
                        <a:srgbClr val="E6E7F1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900" b="1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상위 </a:t>
                      </a:r>
                      <a:r>
                        <a:rPr dirty="0" sz="900" spc="-25" b="1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10%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E7F1E3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5052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900" spc="-10" b="1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61.7%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E7F1E3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953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900" spc="-20" b="1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6.2배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E7F1E3"/>
                    </a:solidFill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90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상위 </a:t>
                      </a:r>
                      <a:r>
                        <a:rPr dirty="0" sz="900" spc="-2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20%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5052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96.3%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953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900" spc="-2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4.8배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90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상위 </a:t>
                      </a:r>
                      <a:r>
                        <a:rPr dirty="0" sz="900" spc="-2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30%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5052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99.1%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953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900" spc="-2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3.3배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80645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90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상위 </a:t>
                      </a:r>
                      <a:r>
                        <a:rPr dirty="0" sz="900" spc="-25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50%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90170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5052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900" spc="-1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100.0%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90170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953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900" spc="-20">
                          <a:solidFill>
                            <a:srgbClr val="1B1D25"/>
                          </a:solidFill>
                          <a:latin typeface="맑은 고딕"/>
                          <a:cs typeface="맑은 고딕"/>
                        </a:rPr>
                        <a:t>2.0배</a:t>
                      </a:r>
                      <a:endParaRPr sz="900">
                        <a:latin typeface="맑은 고딕"/>
                        <a:cs typeface="맑은 고딕"/>
                      </a:endParaRPr>
                    </a:p>
                  </a:txBody>
                  <a:tcPr marL="0" marR="0" marB="0" marT="90170">
                    <a:lnT w="9525">
                      <a:solidFill>
                        <a:srgbClr val="E6E7F1"/>
                      </a:solidFill>
                      <a:prstDash val="solid"/>
                    </a:lnT>
                    <a:lnB w="9525">
                      <a:solidFill>
                        <a:srgbClr val="E6E7F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8" name="object 8" descr=""/>
          <p:cNvGrpSpPr/>
          <p:nvPr/>
        </p:nvGrpSpPr>
        <p:grpSpPr>
          <a:xfrm>
            <a:off x="6010274" y="3219448"/>
            <a:ext cx="4181475" cy="733425"/>
            <a:chOff x="6010274" y="3219448"/>
            <a:chExt cx="4181475" cy="733425"/>
          </a:xfrm>
        </p:grpSpPr>
        <p:sp>
          <p:nvSpPr>
            <p:cNvPr id="9" name="object 9" descr=""/>
            <p:cNvSpPr/>
            <p:nvPr/>
          </p:nvSpPr>
          <p:spPr>
            <a:xfrm>
              <a:off x="6067424" y="3219448"/>
              <a:ext cx="4124325" cy="733425"/>
            </a:xfrm>
            <a:custGeom>
              <a:avLst/>
              <a:gdLst/>
              <a:ahLst/>
              <a:cxnLst/>
              <a:rect l="l" t="t" r="r" b="b"/>
              <a:pathLst>
                <a:path w="4124325" h="733425">
                  <a:moveTo>
                    <a:pt x="0" y="733424"/>
                  </a:moveTo>
                  <a:lnTo>
                    <a:pt x="4124324" y="733424"/>
                  </a:lnTo>
                  <a:lnTo>
                    <a:pt x="4124324" y="0"/>
                  </a:lnTo>
                  <a:lnTo>
                    <a:pt x="0" y="0"/>
                  </a:lnTo>
                  <a:lnTo>
                    <a:pt x="0" y="733424"/>
                  </a:lnTo>
                  <a:close/>
                </a:path>
              </a:pathLst>
            </a:custGeom>
            <a:solidFill>
              <a:srgbClr val="F4F5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010274" y="3219448"/>
              <a:ext cx="57150" cy="733425"/>
            </a:xfrm>
            <a:custGeom>
              <a:avLst/>
              <a:gdLst/>
              <a:ahLst/>
              <a:cxnLst/>
              <a:rect l="l" t="t" r="r" b="b"/>
              <a:pathLst>
                <a:path w="57150" h="733425">
                  <a:moveTo>
                    <a:pt x="57149" y="733424"/>
                  </a:moveTo>
                  <a:lnTo>
                    <a:pt x="0" y="733424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733424"/>
                  </a:lnTo>
                  <a:close/>
                </a:path>
              </a:pathLst>
            </a:custGeom>
            <a:solidFill>
              <a:srgbClr val="2E3C8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6067424" y="3277730"/>
            <a:ext cx="4124325" cy="568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0" marR="204470">
              <a:lnSpc>
                <a:spcPct val="131900"/>
              </a:lnSpc>
              <a:spcBef>
                <a:spcPts val="95"/>
              </a:spcBef>
            </a:pP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고객</a:t>
            </a:r>
            <a:r>
              <a:rPr dirty="0" sz="900" spc="4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5명</a:t>
            </a:r>
            <a:r>
              <a:rPr dirty="0" sz="900" spc="4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중</a:t>
            </a:r>
            <a:r>
              <a:rPr dirty="0" sz="900" spc="4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1명만</a:t>
            </a:r>
            <a:r>
              <a:rPr dirty="0" sz="900" spc="4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접촉해도</a:t>
            </a:r>
            <a:r>
              <a:rPr dirty="0" sz="900" spc="4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이탈</a:t>
            </a:r>
            <a:r>
              <a:rPr dirty="0" sz="900" spc="4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예정자를</a:t>
            </a:r>
            <a:r>
              <a:rPr dirty="0" sz="900" spc="50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거의</a:t>
            </a:r>
            <a:r>
              <a:rPr dirty="0" sz="900" spc="4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다</a:t>
            </a:r>
            <a:r>
              <a:rPr dirty="0" sz="900" spc="4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b="1">
                <a:solidFill>
                  <a:srgbClr val="1B1D25"/>
                </a:solidFill>
                <a:latin typeface="맑은 고딕"/>
                <a:cs typeface="맑은 고딕"/>
              </a:rPr>
              <a:t>덮는다</a:t>
            </a:r>
            <a:r>
              <a:rPr dirty="0" sz="900" spc="45" b="1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—</a:t>
            </a:r>
            <a:r>
              <a:rPr dirty="0" sz="900" spc="4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캠페인</a:t>
            </a:r>
            <a:r>
              <a:rPr dirty="0" sz="900" spc="4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spc="-50">
                <a:solidFill>
                  <a:srgbClr val="1B1D25"/>
                </a:solidFill>
                <a:latin typeface="맑은 고딕"/>
                <a:cs typeface="맑은 고딕"/>
              </a:rPr>
              <a:t>예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산</a:t>
            </a:r>
            <a:r>
              <a:rPr dirty="0" sz="900" spc="5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설계의</a:t>
            </a:r>
            <a:r>
              <a:rPr dirty="0" sz="900" spc="6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기준선입니다.</a:t>
            </a:r>
            <a:r>
              <a:rPr dirty="0" sz="900" spc="6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이탈확률</a:t>
            </a:r>
            <a:r>
              <a:rPr dirty="0" sz="900" spc="5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90%</a:t>
            </a:r>
            <a:r>
              <a:rPr dirty="0" sz="900" spc="6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이상</a:t>
            </a:r>
            <a:r>
              <a:rPr dirty="0" sz="900" spc="6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고위험</a:t>
            </a:r>
            <a:r>
              <a:rPr dirty="0" sz="900" spc="6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고객</a:t>
            </a:r>
            <a:r>
              <a:rPr dirty="0" sz="900" spc="5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298명은</a:t>
            </a:r>
            <a:r>
              <a:rPr dirty="0" sz="900" spc="6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spc="-25">
                <a:solidFill>
                  <a:srgbClr val="1B1D25"/>
                </a:solidFill>
                <a:latin typeface="맑은 고딕"/>
                <a:cs typeface="맑은 고딕"/>
              </a:rPr>
              <a:t>즉시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대응</a:t>
            </a:r>
            <a:r>
              <a:rPr dirty="0" sz="900" spc="50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리스트로</a:t>
            </a:r>
            <a:r>
              <a:rPr dirty="0" sz="900" spc="5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운영</a:t>
            </a:r>
            <a:r>
              <a:rPr dirty="0" sz="900" spc="5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>
                <a:solidFill>
                  <a:srgbClr val="1B1D25"/>
                </a:solidFill>
                <a:latin typeface="맑은 고딕"/>
                <a:cs typeface="맑은 고딕"/>
              </a:rPr>
              <a:t>화면에</a:t>
            </a:r>
            <a:r>
              <a:rPr dirty="0" sz="900" spc="55">
                <a:solidFill>
                  <a:srgbClr val="1B1D25"/>
                </a:solidFill>
                <a:latin typeface="맑은 고딕"/>
                <a:cs typeface="맑은 고딕"/>
              </a:rPr>
              <a:t> </a:t>
            </a:r>
            <a:r>
              <a:rPr dirty="0" sz="900" spc="-10">
                <a:solidFill>
                  <a:srgbClr val="1B1D25"/>
                </a:solidFill>
                <a:latin typeface="맑은 고딕"/>
                <a:cs typeface="맑은 고딕"/>
              </a:rPr>
              <a:t>제공됩니다.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91232" y="5667438"/>
            <a:ext cx="484251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99A0B4"/>
                </a:solidFill>
                <a:latin typeface="맑은 고딕"/>
                <a:cs typeface="맑은 고딕"/>
              </a:rPr>
              <a:t>분류</a:t>
            </a:r>
            <a:r>
              <a:rPr dirty="0" sz="800" spc="-10">
                <a:solidFill>
                  <a:srgbClr val="99A0B4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99A0B4"/>
                </a:solidFill>
                <a:latin typeface="맑은 고딕"/>
                <a:cs typeface="맑은 고딕"/>
              </a:rPr>
              <a:t>모델</a:t>
            </a:r>
            <a:r>
              <a:rPr dirty="0" sz="800" spc="-5">
                <a:solidFill>
                  <a:srgbClr val="99A0B4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99A0B4"/>
                </a:solidFill>
                <a:latin typeface="맑은 고딕"/>
                <a:cs typeface="맑은 고딕"/>
              </a:rPr>
              <a:t>전략</a:t>
            </a:r>
            <a:r>
              <a:rPr dirty="0" sz="800" spc="-5">
                <a:solidFill>
                  <a:srgbClr val="99A0B4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99A0B4"/>
                </a:solidFill>
                <a:latin typeface="맑은 고딕"/>
                <a:cs typeface="맑은 고딕"/>
              </a:rPr>
              <a:t>발표</a:t>
            </a:r>
            <a:r>
              <a:rPr dirty="0" sz="800" spc="-5">
                <a:solidFill>
                  <a:srgbClr val="99A0B4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99A0B4"/>
                </a:solidFill>
                <a:latin typeface="맑은 고딕"/>
                <a:cs typeface="맑은 고딕"/>
              </a:rPr>
              <a:t>자료</a:t>
            </a:r>
            <a:r>
              <a:rPr dirty="0" sz="800" spc="-10">
                <a:solidFill>
                  <a:srgbClr val="99A0B4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99A0B4"/>
                </a:solidFill>
                <a:latin typeface="맑은 고딕"/>
                <a:cs typeface="맑은 고딕"/>
              </a:rPr>
              <a:t>—</a:t>
            </a:r>
            <a:r>
              <a:rPr dirty="0" sz="800" spc="-5">
                <a:solidFill>
                  <a:srgbClr val="99A0B4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99A0B4"/>
                </a:solidFill>
                <a:latin typeface="맑은 고딕"/>
                <a:cs typeface="맑은 고딕"/>
              </a:rPr>
              <a:t>근거:</a:t>
            </a:r>
            <a:r>
              <a:rPr dirty="0" sz="800" spc="-5">
                <a:solidFill>
                  <a:srgbClr val="99A0B4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99A0B4"/>
                </a:solidFill>
                <a:latin typeface="맑은 고딕"/>
                <a:cs typeface="맑은 고딕"/>
              </a:rPr>
              <a:t>notebooks/03_classification_수빈.ipynb</a:t>
            </a:r>
            <a:r>
              <a:rPr dirty="0" sz="800" spc="-5">
                <a:solidFill>
                  <a:srgbClr val="99A0B4"/>
                </a:solidFill>
                <a:latin typeface="맑은 고딕"/>
                <a:cs typeface="맑은 고딕"/>
              </a:rPr>
              <a:t> </a:t>
            </a:r>
            <a:r>
              <a:rPr dirty="0" sz="800">
                <a:solidFill>
                  <a:srgbClr val="99A0B4"/>
                </a:solidFill>
                <a:latin typeface="맑은 고딕"/>
                <a:cs typeface="맑은 고딕"/>
              </a:rPr>
              <a:t>·</a:t>
            </a:r>
            <a:r>
              <a:rPr dirty="0" sz="800" spc="-5">
                <a:solidFill>
                  <a:srgbClr val="99A0B4"/>
                </a:solidFill>
                <a:latin typeface="맑은 고딕"/>
                <a:cs typeface="맑은 고딕"/>
              </a:rPr>
              <a:t> </a:t>
            </a:r>
            <a:r>
              <a:rPr dirty="0" sz="800" spc="-10">
                <a:solidFill>
                  <a:srgbClr val="99A0B4"/>
                </a:solidFill>
                <a:latin typeface="맑은 고딕"/>
                <a:cs typeface="맑은 고딕"/>
              </a:rPr>
              <a:t>src/final/classification_final.py</a:t>
            </a:r>
            <a:endParaRPr sz="800">
              <a:latin typeface="맑은 고딕"/>
              <a:cs typeface="맑은 고딕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119369" y="5667438"/>
            <a:ext cx="8191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99A0B4"/>
                </a:solidFill>
                <a:latin typeface="맑은 고딕"/>
                <a:cs typeface="맑은 고딕"/>
              </a:rPr>
              <a:t>8</a:t>
            </a:r>
            <a:endParaRPr sz="8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850</ep:Words>
  <ep:PresentationFormat>On-screen Show (4:3)</ep:PresentationFormat>
  <ep:Paragraphs>136</ep:Paragraphs>
  <ep:Slides>8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ep:HeadingPairs>
  <ep:TitlesOfParts>
    <vt:vector size="9" baseType="lpstr">
      <vt:lpstr>Office Theme</vt:lpstr>
      <vt:lpstr>분류 모델 전략 고객 이탈 예측 — 베이스라인부터 최종 LightGBM까지의 단계적 의사결정</vt:lpstr>
      <vt:lpstr>5개 모델 비교 — LightGBM이 전 지표 1위</vt:lpstr>
      <vt:lpstr>파생변수 3종 — 개선을 확인했지만 채택하지 않았다</vt:lpstr>
      <vt:lpstr>GridSearchCV 108조합 — 사실상 트리 개수만 늘었다</vt:lpstr>
      <vt:lpstr>Voting · Stacking — 시도했지만 단독 모델이 이겼다</vt:lpstr>
      <vt:lpstr>Test 1회 평가 — 과적합 없이 일반화</vt:lpstr>
      <vt:lpstr>SHAP — 어떤 변수가 이탈 예측을 밀어올리는가</vt:lpstr>
      <vt:lpstr>Lift / Gain — 상위 20% 접촉으로 이탈자 96% 포착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2026-08-06T02:00:21.000</dcterms:created>
  <cp:lastModifiedBy>lsm15</cp:lastModifiedBy>
  <dcterms:modified xsi:type="dcterms:W3CDTF">2026-08-06T02:02:39.450</dcterms:modified>
  <cp:revision>3</cp:revision>
  <dc:title>분류 모델 전략 — 발표자료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