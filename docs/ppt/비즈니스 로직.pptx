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8" r:id="rId4"/>
    <p:sldId id="259" r:id="rId5"/>
    <p:sldId id="260" r:id="rId6"/>
    <p:sldId id="272" r:id="rId21"/>
    <p:sldId id="269" r:id="rId7"/>
    <p:sldId id="273" r:id="rId22"/>
    <p:sldId id="270" r:id="rId8"/>
    <p:sldId id="274" r:id="rId23"/>
    <p:sldId id="275" r:id="rId24"/>
    <p:sldId id="276" r:id="rId25"/>
    <p:sldId id="261" r:id="rId9"/>
    <p:sldId id="271" r:id="rId10"/>
    <p:sldId id="263" r:id="rId11"/>
    <p:sldId id="264" r:id="rId12"/>
    <p:sldId id="265" r:id="rId13"/>
    <p:sldId id="266" r:id="rId14"/>
    <p:sldId id="277" r:id="rId26"/>
    <p:sldId id="267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1B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8" d="100"/>
          <a:sy n="88" d="100"/>
        </p:scale>
        <p:origin x="46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  <Relationship Id="rId21" Type="http://schemas.openxmlformats.org/officeDocument/2006/relationships/slide" Target="slides/slide15.xml"/>
  <Relationship Id="rId22" Type="http://schemas.openxmlformats.org/officeDocument/2006/relationships/slide" Target="slides/slide16.xml"/>
  <Relationship Id="rId23" Type="http://schemas.openxmlformats.org/officeDocument/2006/relationships/slide" Target="slides/slide17.xml"/>
  <Relationship Id="rId24" Type="http://schemas.openxmlformats.org/officeDocument/2006/relationships/slide" Target="slides/slide18.xml"/>
  <Relationship Id="rId25" Type="http://schemas.openxmlformats.org/officeDocument/2006/relationships/slide" Target="slides/slide19.xml"/>
  <Relationship Id="rId26" Type="http://schemas.openxmlformats.org/officeDocument/2006/relationships/slide" Target="slides/slide20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0258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Shape 702"/>
          <p:cNvSpPr/>
          <p:nvPr/>
        </p:nvSpPr>
        <p:spPr>
          <a:xfrm>
            <a:off x="9326880" y="-1463040"/>
            <a:ext cx="5029200" cy="5029200"/>
          </a:xfrm>
          <a:prstGeom prst="ellipse">
            <a:avLst/>
          </a:prstGeom>
          <a:solidFill>
            <a:srgbClr val="EEEEFF"/>
          </a:solidFill>
          <a:ln>
            <a:noFill/>
          </a:ln>
        </p:spPr>
      </p:sp>
      <p:sp>
        <p:nvSpPr>
          <p:cNvPr id="704" name="Shape 704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5558DC"/>
          </a:solidFill>
          <a:ln>
            <a:noFill/>
          </a:ln>
        </p:spPr>
      </p:sp>
      <p:sp>
        <p:nvSpPr>
          <p:cNvPr id="706" name="Shape 706"/>
          <p:cNvSpPr/>
          <p:nvPr/>
        </p:nvSpPr>
        <p:spPr>
          <a:xfrm>
            <a:off x="-1097280" y="4846320"/>
            <a:ext cx="3108960" cy="3108960"/>
          </a:xfrm>
          <a:prstGeom prst="ellipse">
            <a:avLst/>
          </a:prstGeom>
          <a:solidFill>
            <a:srgbClr val="EEEEFF"/>
          </a:solidFill>
          <a:ln>
            <a:noFill/>
          </a:ln>
        </p:spPr>
      </p:sp>
      <p:sp>
        <p:nvSpPr>
          <p:cNvPr id="708" name="Text 708"/>
          <p:cNvSpPr/>
          <p:nvPr/>
        </p:nvSpPr>
        <p:spPr>
          <a:xfrm>
            <a:off x="82296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altLang="en-US" sz="1300" b="1" spc="300" dirty="0">
                <a:solidFill>
                  <a:srgbClr val="5558D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SKN34 · 2ND 4TEAM PROJECT</a:t>
            </a:r>
          </a:p>
        </p:txBody>
      </p:sp>
      <p:sp>
        <p:nvSpPr>
          <p:cNvPr id="710" name="Text 710"/>
          <p:cNvSpPr/>
          <p:nvPr/>
        </p:nvSpPr>
        <p:spPr>
          <a:xfrm>
            <a:off x="777240" y="141732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altLang="en-US" sz="5400" b="1" dirty="0">
                <a:solidFill>
                  <a:srgbClr val="1B234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CardOps</a:t>
            </a:r>
          </a:p>
        </p:txBody>
      </p:sp>
      <p:sp>
        <p:nvSpPr>
          <p:cNvPr id="712" name="Text 712"/>
          <p:cNvSpPr/>
          <p:nvPr/>
        </p:nvSpPr>
        <p:spPr>
          <a:xfrm>
            <a:off x="822960" y="251460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altLang="en-US" sz="2200" b="0" dirty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신용카드 고객 이탈 관리</a:t>
            </a:r>
          </a:p>
        </p:txBody>
      </p:sp>
      <p:sp>
        <p:nvSpPr>
          <p:cNvPr id="714" name="Text 714"/>
          <p:cNvSpPr/>
          <p:nvPr/>
        </p:nvSpPr>
        <p:spPr>
          <a:xfrm>
            <a:off x="822960" y="3429000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ko-KR" altLang="en-US" sz="1450" b="0" dirty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데이터를 이탈 예측·회귀·군집 모델로 분석하고,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ko-KR" altLang="en-US" sz="1450" b="0" dirty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역할별 업무 대시보드로 연결한 데이터 기반 의사결정 지원 서비스</a:t>
            </a:r>
          </a:p>
        </p:txBody>
      </p:sp>
      <p:sp>
        <p:nvSpPr>
          <p:cNvPr id="716" name="Shape 716"/>
          <p:cNvSpPr/>
          <p:nvPr/>
        </p:nvSpPr>
        <p:spPr>
          <a:xfrm>
            <a:off x="822960" y="4709160"/>
            <a:ext cx="3246120" cy="86868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blurRad="76200" dist="25400" dir="5400000" algn="bl" rotWithShape="0">
              <a:srgbClr val="1B2340">
                <a:alpha val="15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718" name="Text 718"/>
          <p:cNvSpPr/>
          <p:nvPr/>
        </p:nvSpPr>
        <p:spPr>
          <a:xfrm>
            <a:off x="1024128" y="4818888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altLang="en-US" sz="1050" b="1" spc="100" dirty="0">
                <a:solidFill>
                  <a:srgbClr val="5558D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발표 주제</a:t>
            </a:r>
          </a:p>
        </p:txBody>
      </p:sp>
      <p:sp>
        <p:nvSpPr>
          <p:cNvPr id="720" name="Text 720"/>
          <p:cNvSpPr/>
          <p:nvPr/>
        </p:nvSpPr>
        <p:spPr>
          <a:xfrm>
            <a:off x="1024128" y="5102352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altLang="en-US" sz="1250" b="0" dirty="0">
                <a:solidFill>
                  <a:srgbClr val="1B234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비즈니스 로직 &amp; 구현 발표</a:t>
            </a:r>
          </a:p>
        </p:txBody>
      </p:sp>
      <p:sp>
        <p:nvSpPr>
          <p:cNvPr id="722" name="Shape 722"/>
          <p:cNvSpPr/>
          <p:nvPr/>
        </p:nvSpPr>
        <p:spPr>
          <a:xfrm>
            <a:off x="7772400" y="4709160"/>
            <a:ext cx="1737360" cy="86868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blurRad="76200" dist="25400" dir="5400000" algn="bl" rotWithShape="0">
              <a:srgbClr val="1B2340">
                <a:alpha val="15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724" name="Text 724"/>
          <p:cNvSpPr/>
          <p:nvPr/>
        </p:nvSpPr>
        <p:spPr>
          <a:xfrm>
            <a:off x="7973568" y="48188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altLang="en-US" sz="1050" b="1" spc="100" dirty="0">
                <a:solidFill>
                  <a:srgbClr val="5558D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발표일</a:t>
            </a:r>
          </a:p>
        </p:txBody>
      </p:sp>
      <p:sp>
        <p:nvSpPr>
          <p:cNvPr id="726" name="Text 726"/>
          <p:cNvSpPr/>
          <p:nvPr/>
        </p:nvSpPr>
        <p:spPr>
          <a:xfrm>
            <a:off x="7973568" y="510235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altLang="en-US" sz="1250" b="0" dirty="0">
                <a:solidFill>
                  <a:srgbClr val="1B234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2026-08-06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Text 0">
            <a:extLst>
              <a:ext uri="{FF2B5EF4-FFF2-40B4-BE49-F238E27FC236}">
                <a16:creationId xmlns:a16="http://schemas.microsoft.com/office/drawing/2014/main" id="{E01454D5-1509-634D-52F7-AAA3EFABE075}"/>
              </a:ext>
            </a:extLst>
          </p:cNvPr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AA893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01 · OVERVIEW</a:t>
            </a:r>
            <a:endParaRPr lang="en-US" sz="1200" dirty="0"/>
          </a:p>
        </p:txBody>
      </p:sp>
      <p:sp>
        <p:nvSpPr>
          <p:cNvPr id="253" name="Text 1">
            <a:extLst>
              <a:ext uri="{FF2B5EF4-FFF2-40B4-BE49-F238E27FC236}">
                <a16:creationId xmlns:a16="http://schemas.microsoft.com/office/drawing/2014/main" id="{F8D8F4A2-11AB-0F21-357A-F187BD35268F}"/>
              </a:ext>
            </a:extLst>
          </p:cNvPr>
          <p:cNvSpPr/>
          <p:nvPr/>
        </p:nvSpPr>
        <p:spPr>
          <a:xfrm>
            <a:off x="640080" y="77724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34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시스템 개요 — 예측을 실행으로 잇는 가치사슬</a:t>
            </a:r>
            <a:endParaRPr lang="en-US" sz="2500" dirty="0"/>
          </a:p>
        </p:txBody>
      </p:sp>
      <p:sp>
        <p:nvSpPr>
          <p:cNvPr id="255" name="Shape 2">
            <a:extLst>
              <a:ext uri="{FF2B5EF4-FFF2-40B4-BE49-F238E27FC236}">
                <a16:creationId xmlns:a16="http://schemas.microsoft.com/office/drawing/2014/main" id="{0E620281-AADB-3BA7-9197-740FB5142022}"/>
              </a:ext>
            </a:extLst>
          </p:cNvPr>
          <p:cNvSpPr/>
          <p:nvPr/>
        </p:nvSpPr>
        <p:spPr>
          <a:xfrm>
            <a:off x="640080" y="1554480"/>
            <a:ext cx="16916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blurRad="76200" dist="25400" dir="5400000" algn="bl" rotWithShape="0">
              <a:srgbClr val="1B2340">
                <a:alpha val="15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57" name="Text 3">
            <a:extLst>
              <a:ext uri="{FF2B5EF4-FFF2-40B4-BE49-F238E27FC236}">
                <a16:creationId xmlns:a16="http://schemas.microsoft.com/office/drawing/2014/main" id="{F7322E7E-6775-9795-7093-1CF32253847F}"/>
              </a:ext>
            </a:extLst>
          </p:cNvPr>
          <p:cNvSpPr/>
          <p:nvPr/>
        </p:nvSpPr>
        <p:spPr>
          <a:xfrm>
            <a:off x="777240" y="171907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250" b="1" dirty="0">
                <a:solidFill>
                  <a:srgbClr val="1B2340"/>
                </a:solidFill>
                <a:latin typeface="Calibri" pitchFamily="34" charset="0"/>
              </a:rPr>
              <a:t>가상 데이터</a:t>
            </a:r>
            <a:endParaRPr lang="en-US" sz="1250" dirty="0"/>
          </a:p>
        </p:txBody>
      </p:sp>
      <p:sp>
        <p:nvSpPr>
          <p:cNvPr id="259" name="Text 4">
            <a:extLst>
              <a:ext uri="{FF2B5EF4-FFF2-40B4-BE49-F238E27FC236}">
                <a16:creationId xmlns:a16="http://schemas.microsoft.com/office/drawing/2014/main" id="{E57BB7F7-583F-765E-D4AF-A96D989BBE14}"/>
              </a:ext>
            </a:extLst>
          </p:cNvPr>
          <p:cNvSpPr/>
          <p:nvPr/>
        </p:nvSpPr>
        <p:spPr>
          <a:xfrm>
            <a:off x="777240" y="233172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5000"/>
              </a:lnSpc>
            </a:pPr>
            <a:r>
              <a:rPr lang="en-US" sz="900" dirty="0" err="1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synthetic_customers</a:t>
            </a:r>
            <a:endParaRPr lang="en-US" sz="900" dirty="0">
              <a:solidFill>
                <a:srgbClr val="6B7280"/>
              </a:solidFill>
              <a:latin typeface="Calibri" pitchFamily="34" charset="0"/>
              <a:ea typeface="맑은 고딕" pitchFamily="34" charset="-122"/>
              <a:cs typeface="맑은 고딕" pitchFamily="34" charset="-120"/>
            </a:endParaRPr>
          </a:p>
          <a:p>
            <a:pPr>
              <a:lnSpc>
                <a:spcPct val="125000"/>
              </a:lnSpc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2000행 · 19개 </a:t>
            </a:r>
            <a:r>
              <a:rPr lang="en-US" sz="900" dirty="0" err="1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특성</a:t>
            </a:r>
            <a:endParaRPr lang="en-US" sz="900" dirty="0"/>
          </a:p>
        </p:txBody>
      </p:sp>
      <p:sp>
        <p:nvSpPr>
          <p:cNvPr id="261" name="Shape 5">
            <a:extLst>
              <a:ext uri="{FF2B5EF4-FFF2-40B4-BE49-F238E27FC236}">
                <a16:creationId xmlns:a16="http://schemas.microsoft.com/office/drawing/2014/main" id="{E5819B87-5363-43AF-BBC2-E5A46545F1B4}"/>
              </a:ext>
            </a:extLst>
          </p:cNvPr>
          <p:cNvSpPr/>
          <p:nvPr/>
        </p:nvSpPr>
        <p:spPr>
          <a:xfrm>
            <a:off x="2459736" y="1554480"/>
            <a:ext cx="16916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blurRad="76200" dist="25400" dir="5400000" algn="bl" rotWithShape="0">
              <a:srgbClr val="1B2340">
                <a:alpha val="15000"/>
              </a:srgbClr>
            </a:outerShdw>
          </a:effectLst>
        </p:spPr>
      </p:sp>
      <p:sp>
        <p:nvSpPr>
          <p:cNvPr id="263" name="Text 6">
            <a:extLst>
              <a:ext uri="{FF2B5EF4-FFF2-40B4-BE49-F238E27FC236}">
                <a16:creationId xmlns:a16="http://schemas.microsoft.com/office/drawing/2014/main" id="{5F455106-2CD1-A22C-CE82-A38182E2D56E}"/>
              </a:ext>
            </a:extLst>
          </p:cNvPr>
          <p:cNvSpPr/>
          <p:nvPr/>
        </p:nvSpPr>
        <p:spPr>
          <a:xfrm>
            <a:off x="2596896" y="171907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34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3개 모델</a:t>
            </a:r>
            <a:endParaRPr lang="en-US" sz="1250" dirty="0"/>
          </a:p>
        </p:txBody>
      </p:sp>
      <p:sp>
        <p:nvSpPr>
          <p:cNvPr id="265" name="Text 7">
            <a:extLst>
              <a:ext uri="{FF2B5EF4-FFF2-40B4-BE49-F238E27FC236}">
                <a16:creationId xmlns:a16="http://schemas.microsoft.com/office/drawing/2014/main" id="{966F1C28-BC98-8127-D064-597C4AF02E75}"/>
              </a:ext>
            </a:extLst>
          </p:cNvPr>
          <p:cNvSpPr/>
          <p:nvPr/>
        </p:nvSpPr>
        <p:spPr>
          <a:xfrm>
            <a:off x="2596896" y="233172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분류 · 회귀 · 군집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(LightGBM·RF·GMM)</a:t>
            </a:r>
            <a:endParaRPr lang="en-US" sz="900" dirty="0"/>
          </a:p>
        </p:txBody>
      </p:sp>
      <p:sp>
        <p:nvSpPr>
          <p:cNvPr id="267" name="Shape 8">
            <a:extLst>
              <a:ext uri="{FF2B5EF4-FFF2-40B4-BE49-F238E27FC236}">
                <a16:creationId xmlns:a16="http://schemas.microsoft.com/office/drawing/2014/main" id="{9797C043-9AF6-7527-15A7-381E22189381}"/>
              </a:ext>
            </a:extLst>
          </p:cNvPr>
          <p:cNvSpPr/>
          <p:nvPr/>
        </p:nvSpPr>
        <p:spPr>
          <a:xfrm>
            <a:off x="4279392" y="1554480"/>
            <a:ext cx="16916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blurRad="76200" dist="25400" dir="5400000" algn="bl" rotWithShape="0">
              <a:srgbClr val="1B2340">
                <a:alpha val="15000"/>
              </a:srgbClr>
            </a:outerShdw>
          </a:effectLst>
        </p:spPr>
      </p:sp>
      <p:sp>
        <p:nvSpPr>
          <p:cNvPr id="269" name="Text 9">
            <a:extLst>
              <a:ext uri="{FF2B5EF4-FFF2-40B4-BE49-F238E27FC236}">
                <a16:creationId xmlns:a16="http://schemas.microsoft.com/office/drawing/2014/main" id="{47E5E66C-B75B-63E6-04BF-30EDA1F81351}"/>
              </a:ext>
            </a:extLst>
          </p:cNvPr>
          <p:cNvSpPr/>
          <p:nvPr/>
        </p:nvSpPr>
        <p:spPr>
          <a:xfrm>
            <a:off x="4416552" y="171907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34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고객 인사이트</a:t>
            </a:r>
            <a:endParaRPr lang="en-US" sz="1250" dirty="0"/>
          </a:p>
        </p:txBody>
      </p:sp>
      <p:sp>
        <p:nvSpPr>
          <p:cNvPr id="271" name="Text 10">
            <a:extLst>
              <a:ext uri="{FF2B5EF4-FFF2-40B4-BE49-F238E27FC236}">
                <a16:creationId xmlns:a16="http://schemas.microsoft.com/office/drawing/2014/main" id="{3F7EC201-E9A8-9F90-C888-01A6D3F5D584}"/>
              </a:ext>
            </a:extLst>
          </p:cNvPr>
          <p:cNvSpPr/>
          <p:nvPr/>
        </p:nvSpPr>
        <p:spPr>
          <a:xfrm>
            <a:off x="4416552" y="233172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위험등급 · 활동성 갭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군집 · 권고 액션</a:t>
            </a:r>
            <a:endParaRPr lang="en-US" sz="900" dirty="0"/>
          </a:p>
        </p:txBody>
      </p:sp>
      <p:sp>
        <p:nvSpPr>
          <p:cNvPr id="273" name="Shape 11">
            <a:extLst>
              <a:ext uri="{FF2B5EF4-FFF2-40B4-BE49-F238E27FC236}">
                <a16:creationId xmlns:a16="http://schemas.microsoft.com/office/drawing/2014/main" id="{2EF5D3C5-EA86-68C2-CE5E-D0F5B9ADD876}"/>
              </a:ext>
            </a:extLst>
          </p:cNvPr>
          <p:cNvSpPr/>
          <p:nvPr/>
        </p:nvSpPr>
        <p:spPr>
          <a:xfrm>
            <a:off x="6099048" y="1554480"/>
            <a:ext cx="16916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blurRad="76200" dist="25400" dir="5400000" algn="bl" rotWithShape="0">
              <a:srgbClr val="1B2340">
                <a:alpha val="15000"/>
              </a:srgbClr>
            </a:outerShdw>
          </a:effectLst>
        </p:spPr>
      </p:sp>
      <p:sp>
        <p:nvSpPr>
          <p:cNvPr id="275" name="Text 12">
            <a:extLst>
              <a:ext uri="{FF2B5EF4-FFF2-40B4-BE49-F238E27FC236}">
                <a16:creationId xmlns:a16="http://schemas.microsoft.com/office/drawing/2014/main" id="{A6D6CD7D-800C-36D4-845A-E14FB1445E73}"/>
              </a:ext>
            </a:extLst>
          </p:cNvPr>
          <p:cNvSpPr/>
          <p:nvPr/>
        </p:nvSpPr>
        <p:spPr>
          <a:xfrm>
            <a:off x="6236208" y="171907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34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세그먼트 타겟팅</a:t>
            </a:r>
            <a:endParaRPr lang="en-US" sz="1250" dirty="0"/>
          </a:p>
        </p:txBody>
      </p:sp>
      <p:sp>
        <p:nvSpPr>
          <p:cNvPr id="277" name="Text 13">
            <a:extLst>
              <a:ext uri="{FF2B5EF4-FFF2-40B4-BE49-F238E27FC236}">
                <a16:creationId xmlns:a16="http://schemas.microsoft.com/office/drawing/2014/main" id="{8FCE98B1-24BD-E49F-2082-2A10CB474405}"/>
              </a:ext>
            </a:extLst>
          </p:cNvPr>
          <p:cNvSpPr/>
          <p:nvPr/>
        </p:nvSpPr>
        <p:spPr>
          <a:xfrm>
            <a:off x="6236208" y="233172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7종 규칙 · 우선순위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미리보기 → 실행</a:t>
            </a:r>
            <a:endParaRPr lang="en-US" sz="900" dirty="0"/>
          </a:p>
        </p:txBody>
      </p:sp>
      <p:sp>
        <p:nvSpPr>
          <p:cNvPr id="279" name="Shape 14">
            <a:extLst>
              <a:ext uri="{FF2B5EF4-FFF2-40B4-BE49-F238E27FC236}">
                <a16:creationId xmlns:a16="http://schemas.microsoft.com/office/drawing/2014/main" id="{BB42689D-1980-FC92-A4CA-14E9CBEACBF8}"/>
              </a:ext>
            </a:extLst>
          </p:cNvPr>
          <p:cNvSpPr/>
          <p:nvPr/>
        </p:nvSpPr>
        <p:spPr>
          <a:xfrm>
            <a:off x="7918704" y="1554480"/>
            <a:ext cx="16916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blurRad="76200" dist="25400" dir="5400000" algn="bl" rotWithShape="0">
              <a:srgbClr val="1B2340">
                <a:alpha val="15000"/>
              </a:srgbClr>
            </a:outerShdw>
          </a:effectLst>
        </p:spPr>
      </p:sp>
      <p:sp>
        <p:nvSpPr>
          <p:cNvPr id="281" name="Text 15">
            <a:extLst>
              <a:ext uri="{FF2B5EF4-FFF2-40B4-BE49-F238E27FC236}">
                <a16:creationId xmlns:a16="http://schemas.microsoft.com/office/drawing/2014/main" id="{776A6A7F-8330-7798-0C4C-0DA88488BFE4}"/>
              </a:ext>
            </a:extLst>
          </p:cNvPr>
          <p:cNvSpPr/>
          <p:nvPr/>
        </p:nvSpPr>
        <p:spPr>
          <a:xfrm>
            <a:off x="8055864" y="171907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34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캠페인 실행</a:t>
            </a:r>
            <a:endParaRPr lang="en-US" sz="1250" dirty="0"/>
          </a:p>
        </p:txBody>
      </p:sp>
      <p:sp>
        <p:nvSpPr>
          <p:cNvPr id="283" name="Text 16">
            <a:extLst>
              <a:ext uri="{FF2B5EF4-FFF2-40B4-BE49-F238E27FC236}">
                <a16:creationId xmlns:a16="http://schemas.microsoft.com/office/drawing/2014/main" id="{E94BA864-51FE-83DF-6561-9C0859394E0C}"/>
              </a:ext>
            </a:extLst>
          </p:cNvPr>
          <p:cNvSpPr/>
          <p:nvPr/>
        </p:nvSpPr>
        <p:spPr>
          <a:xfrm>
            <a:off x="8055864" y="233172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배정·접촉·결과 입력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상태머신 강제</a:t>
            </a:r>
            <a:endParaRPr lang="en-US" sz="900" dirty="0"/>
          </a:p>
        </p:txBody>
      </p:sp>
      <p:sp>
        <p:nvSpPr>
          <p:cNvPr id="285" name="Shape 17">
            <a:extLst>
              <a:ext uri="{FF2B5EF4-FFF2-40B4-BE49-F238E27FC236}">
                <a16:creationId xmlns:a16="http://schemas.microsoft.com/office/drawing/2014/main" id="{AC0C9AFC-002B-0555-64F0-D43852DFF7BC}"/>
              </a:ext>
            </a:extLst>
          </p:cNvPr>
          <p:cNvSpPr/>
          <p:nvPr/>
        </p:nvSpPr>
        <p:spPr>
          <a:xfrm>
            <a:off x="9738360" y="1554480"/>
            <a:ext cx="1691640" cy="1691640"/>
          </a:xfrm>
          <a:prstGeom prst="roundRect">
            <a:avLst>
              <a:gd name="adj" fmla="val 4324"/>
            </a:avLst>
          </a:prstGeom>
          <a:solidFill>
            <a:srgbClr val="5558DC"/>
          </a:solidFill>
          <a:ln/>
          <a:effectLst>
            <a:outerShdw blurRad="76200" dist="25400" dir="5400000" algn="bl" rotWithShape="0">
              <a:srgbClr val="1B2340">
                <a:alpha val="15000"/>
              </a:srgbClr>
            </a:outerShdw>
          </a:effectLst>
        </p:spPr>
      </p:sp>
      <p:sp>
        <p:nvSpPr>
          <p:cNvPr id="287" name="Text 18">
            <a:extLst>
              <a:ext uri="{FF2B5EF4-FFF2-40B4-BE49-F238E27FC236}">
                <a16:creationId xmlns:a16="http://schemas.microsoft.com/office/drawing/2014/main" id="{EB2DE17F-685B-0AC2-9625-0ADD1DA80DC0}"/>
              </a:ext>
            </a:extLst>
          </p:cNvPr>
          <p:cNvSpPr/>
          <p:nvPr/>
        </p:nvSpPr>
        <p:spPr>
          <a:xfrm>
            <a:off x="9875520" y="171907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증분 성과</a:t>
            </a:r>
            <a:endParaRPr lang="en-US" sz="1250" dirty="0"/>
          </a:p>
        </p:txBody>
      </p:sp>
      <p:sp>
        <p:nvSpPr>
          <p:cNvPr id="289" name="Text 19">
            <a:extLst>
              <a:ext uri="{FF2B5EF4-FFF2-40B4-BE49-F238E27FC236}">
                <a16:creationId xmlns:a16="http://schemas.microsoft.com/office/drawing/2014/main" id="{2BDE2669-BDE3-0EE0-E1B8-6EE5B01B4CE4}"/>
              </a:ext>
            </a:extLst>
          </p:cNvPr>
          <p:cNvSpPr/>
          <p:nvPr/>
        </p:nvSpPr>
        <p:spPr>
          <a:xfrm>
            <a:off x="9875520" y="233172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EEE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개입군 vs 비개입군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EEE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방어 매출 · ROI</a:t>
            </a:r>
            <a:endParaRPr lang="en-US" sz="900" dirty="0"/>
          </a:p>
        </p:txBody>
      </p:sp>
      <p:sp>
        <p:nvSpPr>
          <p:cNvPr id="291" name="Shape 20">
            <a:extLst>
              <a:ext uri="{FF2B5EF4-FFF2-40B4-BE49-F238E27FC236}">
                <a16:creationId xmlns:a16="http://schemas.microsoft.com/office/drawing/2014/main" id="{48DF6588-486A-3063-8193-52A1225CFDBA}"/>
              </a:ext>
            </a:extLst>
          </p:cNvPr>
          <p:cNvSpPr/>
          <p:nvPr/>
        </p:nvSpPr>
        <p:spPr>
          <a:xfrm>
            <a:off x="2313432" y="2212848"/>
            <a:ext cx="310896" cy="310896"/>
          </a:xfrm>
          <a:prstGeom prst="ellipse">
            <a:avLst/>
          </a:prstGeom>
          <a:solidFill>
            <a:srgbClr val="F5F7FB"/>
          </a:solidFill>
          <a:ln/>
        </p:spPr>
      </p:sp>
      <p:sp>
        <p:nvSpPr>
          <p:cNvPr id="293" name="Text 21">
            <a:extLst>
              <a:ext uri="{FF2B5EF4-FFF2-40B4-BE49-F238E27FC236}">
                <a16:creationId xmlns:a16="http://schemas.microsoft.com/office/drawing/2014/main" id="{7208088A-0098-B130-F884-E07FEA183C46}"/>
              </a:ext>
            </a:extLst>
          </p:cNvPr>
          <p:cNvSpPr/>
          <p:nvPr/>
        </p:nvSpPr>
        <p:spPr>
          <a:xfrm>
            <a:off x="2313432" y="2176272"/>
            <a:ext cx="310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B36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500" dirty="0"/>
          </a:p>
        </p:txBody>
      </p:sp>
      <p:sp>
        <p:nvSpPr>
          <p:cNvPr id="295" name="Shape 22">
            <a:extLst>
              <a:ext uri="{FF2B5EF4-FFF2-40B4-BE49-F238E27FC236}">
                <a16:creationId xmlns:a16="http://schemas.microsoft.com/office/drawing/2014/main" id="{12094693-6A18-220E-475E-897A0D64131F}"/>
              </a:ext>
            </a:extLst>
          </p:cNvPr>
          <p:cNvSpPr/>
          <p:nvPr/>
        </p:nvSpPr>
        <p:spPr>
          <a:xfrm>
            <a:off x="4133088" y="2212848"/>
            <a:ext cx="310896" cy="310896"/>
          </a:xfrm>
          <a:prstGeom prst="ellipse">
            <a:avLst/>
          </a:prstGeom>
          <a:solidFill>
            <a:srgbClr val="F5F7FB"/>
          </a:solidFill>
          <a:ln/>
        </p:spPr>
      </p:sp>
      <p:sp>
        <p:nvSpPr>
          <p:cNvPr id="297" name="Text 23">
            <a:extLst>
              <a:ext uri="{FF2B5EF4-FFF2-40B4-BE49-F238E27FC236}">
                <a16:creationId xmlns:a16="http://schemas.microsoft.com/office/drawing/2014/main" id="{3CAEBD52-F3CF-A35D-372B-D3F4A15E651A}"/>
              </a:ext>
            </a:extLst>
          </p:cNvPr>
          <p:cNvSpPr/>
          <p:nvPr/>
        </p:nvSpPr>
        <p:spPr>
          <a:xfrm>
            <a:off x="4133088" y="2176272"/>
            <a:ext cx="310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B36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500" dirty="0"/>
          </a:p>
        </p:txBody>
      </p:sp>
      <p:sp>
        <p:nvSpPr>
          <p:cNvPr id="299" name="Shape 24">
            <a:extLst>
              <a:ext uri="{FF2B5EF4-FFF2-40B4-BE49-F238E27FC236}">
                <a16:creationId xmlns:a16="http://schemas.microsoft.com/office/drawing/2014/main" id="{0107B0C6-2058-9505-C55F-CA59F6316B27}"/>
              </a:ext>
            </a:extLst>
          </p:cNvPr>
          <p:cNvSpPr/>
          <p:nvPr/>
        </p:nvSpPr>
        <p:spPr>
          <a:xfrm>
            <a:off x="5952744" y="2212848"/>
            <a:ext cx="310896" cy="310896"/>
          </a:xfrm>
          <a:prstGeom prst="ellipse">
            <a:avLst/>
          </a:prstGeom>
          <a:solidFill>
            <a:srgbClr val="F5F7FB"/>
          </a:solidFill>
          <a:ln/>
        </p:spPr>
      </p:sp>
      <p:sp>
        <p:nvSpPr>
          <p:cNvPr id="301" name="Text 25">
            <a:extLst>
              <a:ext uri="{FF2B5EF4-FFF2-40B4-BE49-F238E27FC236}">
                <a16:creationId xmlns:a16="http://schemas.microsoft.com/office/drawing/2014/main" id="{C9A233AA-CC8D-D864-27F3-EDC66B8EFAB0}"/>
              </a:ext>
            </a:extLst>
          </p:cNvPr>
          <p:cNvSpPr/>
          <p:nvPr/>
        </p:nvSpPr>
        <p:spPr>
          <a:xfrm>
            <a:off x="5952744" y="2176272"/>
            <a:ext cx="310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B36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500" dirty="0"/>
          </a:p>
        </p:txBody>
      </p:sp>
      <p:sp>
        <p:nvSpPr>
          <p:cNvPr id="303" name="Shape 26">
            <a:extLst>
              <a:ext uri="{FF2B5EF4-FFF2-40B4-BE49-F238E27FC236}">
                <a16:creationId xmlns:a16="http://schemas.microsoft.com/office/drawing/2014/main" id="{F27C4D61-D490-CB1A-F312-9D285A1DE22C}"/>
              </a:ext>
            </a:extLst>
          </p:cNvPr>
          <p:cNvSpPr/>
          <p:nvPr/>
        </p:nvSpPr>
        <p:spPr>
          <a:xfrm>
            <a:off x="7772400" y="2212848"/>
            <a:ext cx="310896" cy="310896"/>
          </a:xfrm>
          <a:prstGeom prst="ellipse">
            <a:avLst/>
          </a:prstGeom>
          <a:solidFill>
            <a:srgbClr val="F5F7FB"/>
          </a:solidFill>
          <a:ln/>
        </p:spPr>
      </p:sp>
      <p:sp>
        <p:nvSpPr>
          <p:cNvPr id="305" name="Text 27">
            <a:extLst>
              <a:ext uri="{FF2B5EF4-FFF2-40B4-BE49-F238E27FC236}">
                <a16:creationId xmlns:a16="http://schemas.microsoft.com/office/drawing/2014/main" id="{6D696FB8-0168-38FD-7229-95840F1C6959}"/>
              </a:ext>
            </a:extLst>
          </p:cNvPr>
          <p:cNvSpPr/>
          <p:nvPr/>
        </p:nvSpPr>
        <p:spPr>
          <a:xfrm>
            <a:off x="7772400" y="2176272"/>
            <a:ext cx="310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B36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500" dirty="0"/>
          </a:p>
        </p:txBody>
      </p:sp>
      <p:sp>
        <p:nvSpPr>
          <p:cNvPr id="307" name="Shape 28">
            <a:extLst>
              <a:ext uri="{FF2B5EF4-FFF2-40B4-BE49-F238E27FC236}">
                <a16:creationId xmlns:a16="http://schemas.microsoft.com/office/drawing/2014/main" id="{E62B9B5A-A21C-0BD8-9B55-9F2EFFFD3C69}"/>
              </a:ext>
            </a:extLst>
          </p:cNvPr>
          <p:cNvSpPr/>
          <p:nvPr/>
        </p:nvSpPr>
        <p:spPr>
          <a:xfrm>
            <a:off x="9592056" y="2212848"/>
            <a:ext cx="310896" cy="310896"/>
          </a:xfrm>
          <a:prstGeom prst="ellipse">
            <a:avLst/>
          </a:prstGeom>
          <a:solidFill>
            <a:srgbClr val="F5F7FB"/>
          </a:solidFill>
          <a:ln/>
        </p:spPr>
      </p:sp>
      <p:sp>
        <p:nvSpPr>
          <p:cNvPr id="309" name="Text 29">
            <a:extLst>
              <a:ext uri="{FF2B5EF4-FFF2-40B4-BE49-F238E27FC236}">
                <a16:creationId xmlns:a16="http://schemas.microsoft.com/office/drawing/2014/main" id="{BD02F274-989F-78EB-9BBF-2E605D0AC6D7}"/>
              </a:ext>
            </a:extLst>
          </p:cNvPr>
          <p:cNvSpPr/>
          <p:nvPr/>
        </p:nvSpPr>
        <p:spPr>
          <a:xfrm>
            <a:off x="9592056" y="2176272"/>
            <a:ext cx="310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B36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500" dirty="0"/>
          </a:p>
        </p:txBody>
      </p:sp>
      <p:sp>
        <p:nvSpPr>
          <p:cNvPr id="311" name="Shape 30">
            <a:extLst>
              <a:ext uri="{FF2B5EF4-FFF2-40B4-BE49-F238E27FC236}">
                <a16:creationId xmlns:a16="http://schemas.microsoft.com/office/drawing/2014/main" id="{B4126B80-2890-D2F8-F9A4-5E3ACD0004D7}"/>
              </a:ext>
            </a:extLst>
          </p:cNvPr>
          <p:cNvSpPr/>
          <p:nvPr/>
        </p:nvSpPr>
        <p:spPr>
          <a:xfrm>
            <a:off x="640080" y="3520440"/>
            <a:ext cx="175564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313" name="Text 31">
            <a:extLst>
              <a:ext uri="{FF2B5EF4-FFF2-40B4-BE49-F238E27FC236}">
                <a16:creationId xmlns:a16="http://schemas.microsoft.com/office/drawing/2014/main" id="{720EF722-904D-3638-ACF4-F8F12276029A}"/>
              </a:ext>
            </a:extLst>
          </p:cNvPr>
          <p:cNvSpPr/>
          <p:nvPr/>
        </p:nvSpPr>
        <p:spPr>
          <a:xfrm>
            <a:off x="777240" y="3648456"/>
            <a:ext cx="14813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4246C4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0.994</a:t>
            </a:r>
            <a:endParaRPr lang="en-US" sz="2500" dirty="0"/>
          </a:p>
        </p:txBody>
      </p:sp>
      <p:sp>
        <p:nvSpPr>
          <p:cNvPr id="315" name="Text 32">
            <a:extLst>
              <a:ext uri="{FF2B5EF4-FFF2-40B4-BE49-F238E27FC236}">
                <a16:creationId xmlns:a16="http://schemas.microsoft.com/office/drawing/2014/main" id="{84ACE008-1593-07B6-38E8-2EDEB5DA33B5}"/>
              </a:ext>
            </a:extLst>
          </p:cNvPr>
          <p:cNvSpPr/>
          <p:nvPr/>
        </p:nvSpPr>
        <p:spPr>
          <a:xfrm>
            <a:off x="777240" y="4297680"/>
            <a:ext cx="1481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이탈 분류 ROC-AUC (test)</a:t>
            </a:r>
            <a:endParaRPr lang="en-US" sz="900" dirty="0"/>
          </a:p>
        </p:txBody>
      </p:sp>
      <p:sp>
        <p:nvSpPr>
          <p:cNvPr id="317" name="Shape 33">
            <a:extLst>
              <a:ext uri="{FF2B5EF4-FFF2-40B4-BE49-F238E27FC236}">
                <a16:creationId xmlns:a16="http://schemas.microsoft.com/office/drawing/2014/main" id="{C73B3E1A-6874-40F7-4D84-E4059E36C52A}"/>
              </a:ext>
            </a:extLst>
          </p:cNvPr>
          <p:cNvSpPr/>
          <p:nvPr/>
        </p:nvSpPr>
        <p:spPr>
          <a:xfrm>
            <a:off x="2505456" y="3520440"/>
            <a:ext cx="175564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319" name="Text 34">
            <a:extLst>
              <a:ext uri="{FF2B5EF4-FFF2-40B4-BE49-F238E27FC236}">
                <a16:creationId xmlns:a16="http://schemas.microsoft.com/office/drawing/2014/main" id="{98EC7ED4-A046-E60B-A868-5448D4BCC256}"/>
              </a:ext>
            </a:extLst>
          </p:cNvPr>
          <p:cNvSpPr/>
          <p:nvPr/>
        </p:nvSpPr>
        <p:spPr>
          <a:xfrm>
            <a:off x="2642616" y="3648456"/>
            <a:ext cx="14813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4246C4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0.855</a:t>
            </a:r>
            <a:endParaRPr lang="en-US" sz="2500" dirty="0"/>
          </a:p>
        </p:txBody>
      </p:sp>
      <p:sp>
        <p:nvSpPr>
          <p:cNvPr id="321" name="Text 35">
            <a:extLst>
              <a:ext uri="{FF2B5EF4-FFF2-40B4-BE49-F238E27FC236}">
                <a16:creationId xmlns:a16="http://schemas.microsoft.com/office/drawing/2014/main" id="{138AB688-4338-7E81-F512-2F19207A5A98}"/>
              </a:ext>
            </a:extLst>
          </p:cNvPr>
          <p:cNvSpPr/>
          <p:nvPr/>
        </p:nvSpPr>
        <p:spPr>
          <a:xfrm>
            <a:off x="2642616" y="4297680"/>
            <a:ext cx="1481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기대 거래건수 회귀 R²</a:t>
            </a:r>
            <a:endParaRPr lang="en-US" sz="900" dirty="0"/>
          </a:p>
        </p:txBody>
      </p:sp>
      <p:sp>
        <p:nvSpPr>
          <p:cNvPr id="323" name="Shape 36">
            <a:extLst>
              <a:ext uri="{FF2B5EF4-FFF2-40B4-BE49-F238E27FC236}">
                <a16:creationId xmlns:a16="http://schemas.microsoft.com/office/drawing/2014/main" id="{43909915-C387-BAB1-AAC1-3AB65BB4E4C3}"/>
              </a:ext>
            </a:extLst>
          </p:cNvPr>
          <p:cNvSpPr/>
          <p:nvPr/>
        </p:nvSpPr>
        <p:spPr>
          <a:xfrm>
            <a:off x="4370832" y="3520440"/>
            <a:ext cx="175564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325" name="Text 37">
            <a:extLst>
              <a:ext uri="{FF2B5EF4-FFF2-40B4-BE49-F238E27FC236}">
                <a16:creationId xmlns:a16="http://schemas.microsoft.com/office/drawing/2014/main" id="{55A8FE4B-2835-9E9C-E5D1-BEAEA6D86CB3}"/>
              </a:ext>
            </a:extLst>
          </p:cNvPr>
          <p:cNvSpPr/>
          <p:nvPr/>
        </p:nvSpPr>
        <p:spPr>
          <a:xfrm>
            <a:off x="4507992" y="3648456"/>
            <a:ext cx="14813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4246C4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2500" dirty="0"/>
          </a:p>
        </p:txBody>
      </p:sp>
      <p:sp>
        <p:nvSpPr>
          <p:cNvPr id="327" name="Text 38">
            <a:extLst>
              <a:ext uri="{FF2B5EF4-FFF2-40B4-BE49-F238E27FC236}">
                <a16:creationId xmlns:a16="http://schemas.microsoft.com/office/drawing/2014/main" id="{49C410AC-DB8D-42AF-0488-08E415E9721E}"/>
              </a:ext>
            </a:extLst>
          </p:cNvPr>
          <p:cNvSpPr/>
          <p:nvPr/>
        </p:nvSpPr>
        <p:spPr>
          <a:xfrm>
            <a:off x="4507992" y="4297680"/>
            <a:ext cx="1481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DB 테이블 · 11 migration</a:t>
            </a:r>
            <a:endParaRPr lang="en-US" sz="900" dirty="0"/>
          </a:p>
        </p:txBody>
      </p:sp>
      <p:sp>
        <p:nvSpPr>
          <p:cNvPr id="329" name="Shape 39">
            <a:extLst>
              <a:ext uri="{FF2B5EF4-FFF2-40B4-BE49-F238E27FC236}">
                <a16:creationId xmlns:a16="http://schemas.microsoft.com/office/drawing/2014/main" id="{0E2DBAE9-01B6-3C9B-A8EE-ED7AB7976DFF}"/>
              </a:ext>
            </a:extLst>
          </p:cNvPr>
          <p:cNvSpPr/>
          <p:nvPr/>
        </p:nvSpPr>
        <p:spPr>
          <a:xfrm>
            <a:off x="6236208" y="3520440"/>
            <a:ext cx="175564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331" name="Text 40">
            <a:extLst>
              <a:ext uri="{FF2B5EF4-FFF2-40B4-BE49-F238E27FC236}">
                <a16:creationId xmlns:a16="http://schemas.microsoft.com/office/drawing/2014/main" id="{D6C67D1A-38BA-3B30-B3BF-F385C58A2D19}"/>
              </a:ext>
            </a:extLst>
          </p:cNvPr>
          <p:cNvSpPr/>
          <p:nvPr/>
        </p:nvSpPr>
        <p:spPr>
          <a:xfrm>
            <a:off x="6373368" y="3648456"/>
            <a:ext cx="14813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4246C4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2500" dirty="0"/>
          </a:p>
        </p:txBody>
      </p:sp>
      <p:sp>
        <p:nvSpPr>
          <p:cNvPr id="333" name="Text 41">
            <a:extLst>
              <a:ext uri="{FF2B5EF4-FFF2-40B4-BE49-F238E27FC236}">
                <a16:creationId xmlns:a16="http://schemas.microsoft.com/office/drawing/2014/main" id="{DC6BDB96-16D4-F930-3790-34A2867804A1}"/>
              </a:ext>
            </a:extLst>
          </p:cNvPr>
          <p:cNvSpPr/>
          <p:nvPr/>
        </p:nvSpPr>
        <p:spPr>
          <a:xfrm>
            <a:off x="6373368" y="4297680"/>
            <a:ext cx="1481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타겟팅 세그먼트</a:t>
            </a:r>
            <a:endParaRPr lang="en-US" sz="900" dirty="0"/>
          </a:p>
        </p:txBody>
      </p:sp>
      <p:sp>
        <p:nvSpPr>
          <p:cNvPr id="335" name="Shape 42">
            <a:extLst>
              <a:ext uri="{FF2B5EF4-FFF2-40B4-BE49-F238E27FC236}">
                <a16:creationId xmlns:a16="http://schemas.microsoft.com/office/drawing/2014/main" id="{5FDFB679-C224-FE15-2357-E37D71815150}"/>
              </a:ext>
            </a:extLst>
          </p:cNvPr>
          <p:cNvSpPr/>
          <p:nvPr/>
        </p:nvSpPr>
        <p:spPr>
          <a:xfrm>
            <a:off x="8101584" y="3520440"/>
            <a:ext cx="175564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337" name="Text 43">
            <a:extLst>
              <a:ext uri="{FF2B5EF4-FFF2-40B4-BE49-F238E27FC236}">
                <a16:creationId xmlns:a16="http://schemas.microsoft.com/office/drawing/2014/main" id="{3A04210B-B35F-D94A-B327-8733EF6C7EA9}"/>
              </a:ext>
            </a:extLst>
          </p:cNvPr>
          <p:cNvSpPr/>
          <p:nvPr/>
        </p:nvSpPr>
        <p:spPr>
          <a:xfrm>
            <a:off x="8238744" y="3648456"/>
            <a:ext cx="14813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4246C4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2500" dirty="0"/>
          </a:p>
        </p:txBody>
      </p:sp>
      <p:sp>
        <p:nvSpPr>
          <p:cNvPr id="339" name="Text 44">
            <a:extLst>
              <a:ext uri="{FF2B5EF4-FFF2-40B4-BE49-F238E27FC236}">
                <a16:creationId xmlns:a16="http://schemas.microsoft.com/office/drawing/2014/main" id="{98BCB7A0-36E8-BE78-0B18-3B4304C743C8}"/>
              </a:ext>
            </a:extLst>
          </p:cNvPr>
          <p:cNvSpPr/>
          <p:nvPr/>
        </p:nvSpPr>
        <p:spPr>
          <a:xfrm>
            <a:off x="8238744" y="4297680"/>
            <a:ext cx="1481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업무 역할 (RBAC)</a:t>
            </a:r>
            <a:endParaRPr lang="en-US" sz="900" dirty="0"/>
          </a:p>
        </p:txBody>
      </p:sp>
      <p:sp>
        <p:nvSpPr>
          <p:cNvPr id="341" name="Shape 45">
            <a:extLst>
              <a:ext uri="{FF2B5EF4-FFF2-40B4-BE49-F238E27FC236}">
                <a16:creationId xmlns:a16="http://schemas.microsoft.com/office/drawing/2014/main" id="{CECC3639-AEC6-55D2-272E-5D129F21835B}"/>
              </a:ext>
            </a:extLst>
          </p:cNvPr>
          <p:cNvSpPr/>
          <p:nvPr/>
        </p:nvSpPr>
        <p:spPr>
          <a:xfrm>
            <a:off x="9966960" y="3520440"/>
            <a:ext cx="175564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343" name="Text 46">
            <a:extLst>
              <a:ext uri="{FF2B5EF4-FFF2-40B4-BE49-F238E27FC236}">
                <a16:creationId xmlns:a16="http://schemas.microsoft.com/office/drawing/2014/main" id="{1AA055AF-323E-316F-46F7-DA9EE22842EE}"/>
              </a:ext>
            </a:extLst>
          </p:cNvPr>
          <p:cNvSpPr/>
          <p:nvPr/>
        </p:nvSpPr>
        <p:spPr>
          <a:xfrm>
            <a:off x="10104120" y="3648456"/>
            <a:ext cx="14813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4246C4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80</a:t>
            </a:r>
            <a:endParaRPr lang="en-US" sz="2500" dirty="0"/>
          </a:p>
        </p:txBody>
      </p:sp>
      <p:sp>
        <p:nvSpPr>
          <p:cNvPr id="345" name="Text 47">
            <a:extLst>
              <a:ext uri="{FF2B5EF4-FFF2-40B4-BE49-F238E27FC236}">
                <a16:creationId xmlns:a16="http://schemas.microsoft.com/office/drawing/2014/main" id="{A2A9022D-3C46-D9DB-E0C7-5CB2698B7CAB}"/>
              </a:ext>
            </a:extLst>
          </p:cNvPr>
          <p:cNvSpPr/>
          <p:nvPr/>
        </p:nvSpPr>
        <p:spPr>
          <a:xfrm>
            <a:off x="10104120" y="4297680"/>
            <a:ext cx="1481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자동화 테스트 (BE 51 · FE 29)</a:t>
            </a:r>
            <a:endParaRPr lang="en-US" sz="900" dirty="0"/>
          </a:p>
        </p:txBody>
      </p:sp>
      <p:sp>
        <p:nvSpPr>
          <p:cNvPr id="347" name="Shape 48">
            <a:extLst>
              <a:ext uri="{FF2B5EF4-FFF2-40B4-BE49-F238E27FC236}">
                <a16:creationId xmlns:a16="http://schemas.microsoft.com/office/drawing/2014/main" id="{4015DE18-E0DF-1953-0D36-4C13AAF918BE}"/>
              </a:ext>
            </a:extLst>
          </p:cNvPr>
          <p:cNvSpPr/>
          <p:nvPr/>
        </p:nvSpPr>
        <p:spPr>
          <a:xfrm>
            <a:off x="640080" y="516636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blurRad="76200" dist="25400" dir="5400000" algn="bl" rotWithShape="0">
              <a:srgbClr val="1B2340">
                <a:alpha val="15000"/>
              </a:srgbClr>
            </a:outerShdw>
          </a:effectLst>
        </p:spPr>
      </p:sp>
      <p:sp>
        <p:nvSpPr>
          <p:cNvPr id="349" name="Text 49">
            <a:extLst>
              <a:ext uri="{FF2B5EF4-FFF2-40B4-BE49-F238E27FC236}">
                <a16:creationId xmlns:a16="http://schemas.microsoft.com/office/drawing/2014/main" id="{892F0019-7428-1217-4B83-03B504E5EBAF}"/>
              </a:ext>
            </a:extLst>
          </p:cNvPr>
          <p:cNvSpPr/>
          <p:nvPr/>
        </p:nvSpPr>
        <p:spPr>
          <a:xfrm>
            <a:off x="868680" y="528523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3FD8C4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BACKEND</a:t>
            </a:r>
            <a:endParaRPr lang="en-US" sz="1050" dirty="0"/>
          </a:p>
        </p:txBody>
      </p:sp>
      <p:sp>
        <p:nvSpPr>
          <p:cNvPr id="351" name="Text 50">
            <a:extLst>
              <a:ext uri="{FF2B5EF4-FFF2-40B4-BE49-F238E27FC236}">
                <a16:creationId xmlns:a16="http://schemas.microsoft.com/office/drawing/2014/main" id="{BF1FFCEF-EF63-454C-C75D-D41B42295EDE}"/>
              </a:ext>
            </a:extLst>
          </p:cNvPr>
          <p:cNvSpPr/>
          <p:nvPr/>
        </p:nvSpPr>
        <p:spPr>
          <a:xfrm>
            <a:off x="868680" y="5559552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FastAPI · SQLAlchemy 2 · Alembic · MySQL 8.4 · Argon2id + JWT(HttpOnly)</a:t>
            </a:r>
            <a:endParaRPr lang="en-US" sz="1000" dirty="0"/>
          </a:p>
        </p:txBody>
      </p:sp>
      <p:sp>
        <p:nvSpPr>
          <p:cNvPr id="353" name="Text 51">
            <a:extLst>
              <a:ext uri="{FF2B5EF4-FFF2-40B4-BE49-F238E27FC236}">
                <a16:creationId xmlns:a16="http://schemas.microsoft.com/office/drawing/2014/main" id="{10D699FF-F922-9E5A-0EE0-D68B6BBC6949}"/>
              </a:ext>
            </a:extLst>
          </p:cNvPr>
          <p:cNvSpPr/>
          <p:nvPr/>
        </p:nvSpPr>
        <p:spPr>
          <a:xfrm>
            <a:off x="4416552" y="528523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3FD8C4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FRONTEND</a:t>
            </a:r>
            <a:endParaRPr lang="en-US" sz="1050" dirty="0"/>
          </a:p>
        </p:txBody>
      </p:sp>
      <p:sp>
        <p:nvSpPr>
          <p:cNvPr id="355" name="Text 52">
            <a:extLst>
              <a:ext uri="{FF2B5EF4-FFF2-40B4-BE49-F238E27FC236}">
                <a16:creationId xmlns:a16="http://schemas.microsoft.com/office/drawing/2014/main" id="{7D301FCE-80D5-2A46-4F4C-DE1794D50DDC}"/>
              </a:ext>
            </a:extLst>
          </p:cNvPr>
          <p:cNvSpPr/>
          <p:nvPr/>
        </p:nvSpPr>
        <p:spPr>
          <a:xfrm>
            <a:off x="4416552" y="5559552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React 19 · TypeScript 5.9 · Vite · OpenAPI 타입 자동 생성 · Vitest</a:t>
            </a:r>
            <a:endParaRPr lang="en-US" sz="1000" dirty="0"/>
          </a:p>
        </p:txBody>
      </p:sp>
      <p:sp>
        <p:nvSpPr>
          <p:cNvPr id="357" name="Text 53">
            <a:extLst>
              <a:ext uri="{FF2B5EF4-FFF2-40B4-BE49-F238E27FC236}">
                <a16:creationId xmlns:a16="http://schemas.microsoft.com/office/drawing/2014/main" id="{FA288D70-6399-D7C6-D0A3-A072C72BD7C9}"/>
              </a:ext>
            </a:extLst>
          </p:cNvPr>
          <p:cNvSpPr/>
          <p:nvPr/>
        </p:nvSpPr>
        <p:spPr>
          <a:xfrm>
            <a:off x="7964424" y="528523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3FD8C4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ML / INFRA</a:t>
            </a:r>
            <a:endParaRPr lang="en-US" sz="1050" dirty="0"/>
          </a:p>
        </p:txBody>
      </p:sp>
      <p:sp>
        <p:nvSpPr>
          <p:cNvPr id="359" name="Text 54">
            <a:extLst>
              <a:ext uri="{FF2B5EF4-FFF2-40B4-BE49-F238E27FC236}">
                <a16:creationId xmlns:a16="http://schemas.microsoft.com/office/drawing/2014/main" id="{E5FEB156-EC54-8C2C-807A-702F3B31D98F}"/>
              </a:ext>
            </a:extLst>
          </p:cNvPr>
          <p:cNvSpPr/>
          <p:nvPr/>
        </p:nvSpPr>
        <p:spPr>
          <a:xfrm>
            <a:off x="7964424" y="5559552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LightGBM · XGBoost · scikit-learn · Optuna · Docker Compose 3-서비스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3829FF83-56C2-4410-913C-025FDDE8F0FD}"/>
              </a:ext>
            </a:extLst>
          </p:cNvPr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AA893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02 · </a:t>
            </a:r>
            <a:r>
              <a:rPr lang="ko-KR" altLang="en-US" sz="1200" b="1" kern="0" spc="200" dirty="0">
                <a:solidFill>
                  <a:srgbClr val="1AA893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비즈니스 로직</a:t>
            </a:r>
            <a:endParaRPr lang="en-US" sz="12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8DDB060A-958C-BF1F-DD76-F34ED358ED96}"/>
              </a:ext>
            </a:extLst>
          </p:cNvPr>
          <p:cNvSpPr/>
          <p:nvPr/>
        </p:nvSpPr>
        <p:spPr>
          <a:xfrm>
            <a:off x="640080" y="77724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34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세 모델의 결과를 하나의 판단으로 합칩니다</a:t>
            </a:r>
            <a:endParaRPr lang="en-US" sz="25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0D61B42C-BAA3-8253-1BA5-E3A8F41CF62F}"/>
              </a:ext>
            </a:extLst>
          </p:cNvPr>
          <p:cNvSpPr/>
          <p:nvPr/>
        </p:nvSpPr>
        <p:spPr>
          <a:xfrm>
            <a:off x="640080" y="129844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customer_insights — 고객 1명당 1행의 실행 근거 · 판정 정책 ACTIVITY-GAP-V2</a:t>
            </a:r>
            <a:endParaRPr lang="en-US" sz="1300" dirty="0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95A99B2C-9E96-37AE-EDFF-07CFD7DB526B}"/>
              </a:ext>
            </a:extLst>
          </p:cNvPr>
          <p:cNvSpPr/>
          <p:nvPr/>
        </p:nvSpPr>
        <p:spPr>
          <a:xfrm>
            <a:off x="640080" y="1737360"/>
            <a:ext cx="3502152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blurRad="76200" dist="25400" dir="5400000" algn="bl" rotWithShape="0">
              <a:srgbClr val="1B2340">
                <a:alpha val="10000"/>
              </a:srgbClr>
            </a:outerShdw>
          </a:effectLst>
        </p:spPr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13379E00-783B-1F27-47FC-BFB51F7AFA34}"/>
              </a:ext>
            </a:extLst>
          </p:cNvPr>
          <p:cNvSpPr/>
          <p:nvPr/>
        </p:nvSpPr>
        <p:spPr>
          <a:xfrm>
            <a:off x="841248" y="192024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E8536A"/>
          </a:solidFill>
          <a:ln/>
        </p:spPr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87DA487C-9A26-4B7F-6F65-442CD5ED3C84}"/>
              </a:ext>
            </a:extLst>
          </p:cNvPr>
          <p:cNvSpPr/>
          <p:nvPr/>
        </p:nvSpPr>
        <p:spPr>
          <a:xfrm>
            <a:off x="841248" y="192024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분류</a:t>
            </a:r>
            <a:endParaRPr lang="en-US" sz="1050" dirty="0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36AC69AC-307D-2B6A-7639-BF279E0B7821}"/>
              </a:ext>
            </a:extLst>
          </p:cNvPr>
          <p:cNvSpPr/>
          <p:nvPr/>
        </p:nvSpPr>
        <p:spPr>
          <a:xfrm>
            <a:off x="841248" y="2304288"/>
            <a:ext cx="3099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34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이탈 확률</a:t>
            </a:r>
            <a:endParaRPr lang="en-US" sz="1600" dirty="0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D9B73EAA-CA99-1070-F1FC-C60ADB1708F1}"/>
              </a:ext>
            </a:extLst>
          </p:cNvPr>
          <p:cNvSpPr/>
          <p:nvPr/>
        </p:nvSpPr>
        <p:spPr>
          <a:xfrm>
            <a:off x="841248" y="2724912"/>
            <a:ext cx="30998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이탈 확률 ≥ 0.85 → high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≥ 0.40 → medium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미만 → low</a:t>
            </a:r>
            <a:endParaRPr lang="en-US" sz="1100" dirty="0"/>
          </a:p>
        </p:txBody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52F6D7F0-C329-EA5A-6F54-EA6E4D66B933}"/>
              </a:ext>
            </a:extLst>
          </p:cNvPr>
          <p:cNvSpPr/>
          <p:nvPr/>
        </p:nvSpPr>
        <p:spPr>
          <a:xfrm>
            <a:off x="4325112" y="1737360"/>
            <a:ext cx="3502152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blurRad="76200" dist="25400" dir="5400000" algn="bl" rotWithShape="0">
              <a:srgbClr val="1B2340">
                <a:alpha val="10000"/>
              </a:srgbClr>
            </a:outerShdw>
          </a:effectLst>
        </p:spPr>
      </p:sp>
      <p:sp>
        <p:nvSpPr>
          <p:cNvPr id="21" name="Shape 9">
            <a:extLst>
              <a:ext uri="{FF2B5EF4-FFF2-40B4-BE49-F238E27FC236}">
                <a16:creationId xmlns:a16="http://schemas.microsoft.com/office/drawing/2014/main" id="{7FA47AB3-B3C4-35FF-42DF-8959CC90A5F0}"/>
              </a:ext>
            </a:extLst>
          </p:cNvPr>
          <p:cNvSpPr/>
          <p:nvPr/>
        </p:nvSpPr>
        <p:spPr>
          <a:xfrm>
            <a:off x="4526280" y="192024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AEDDF005-1120-B7A1-40C2-D08124C1375E}"/>
              </a:ext>
            </a:extLst>
          </p:cNvPr>
          <p:cNvSpPr/>
          <p:nvPr/>
        </p:nvSpPr>
        <p:spPr>
          <a:xfrm>
            <a:off x="4526280" y="192024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회귀</a:t>
            </a:r>
            <a:endParaRPr lang="en-US" sz="1050" dirty="0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1AE942FC-9551-D520-6CF4-964B3E56F71A}"/>
              </a:ext>
            </a:extLst>
          </p:cNvPr>
          <p:cNvSpPr/>
          <p:nvPr/>
        </p:nvSpPr>
        <p:spPr>
          <a:xfrm>
            <a:off x="4526280" y="2304288"/>
            <a:ext cx="3099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34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활동성 갭</a:t>
            </a:r>
            <a:endParaRPr lang="en-US" sz="1600" dirty="0"/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66A6F888-D63D-D14B-E2F0-E791C32102A5}"/>
              </a:ext>
            </a:extLst>
          </p:cNvPr>
          <p:cNvSpPr/>
          <p:nvPr/>
        </p:nvSpPr>
        <p:spPr>
          <a:xfrm>
            <a:off x="4526280" y="2724912"/>
            <a:ext cx="30998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프로필 기반 기대 거래건수와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실제의 차이 = 활동성 갭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하위 20% = 예상보다 덜 쓰는 고객</a:t>
            </a:r>
            <a:endParaRPr lang="en-US" sz="1100" dirty="0"/>
          </a:p>
        </p:txBody>
      </p:sp>
      <p:sp>
        <p:nvSpPr>
          <p:cNvPr id="29" name="Shape 13">
            <a:extLst>
              <a:ext uri="{FF2B5EF4-FFF2-40B4-BE49-F238E27FC236}">
                <a16:creationId xmlns:a16="http://schemas.microsoft.com/office/drawing/2014/main" id="{0542CB73-1EFE-3D3F-0342-B777F5B4BBF3}"/>
              </a:ext>
            </a:extLst>
          </p:cNvPr>
          <p:cNvSpPr/>
          <p:nvPr/>
        </p:nvSpPr>
        <p:spPr>
          <a:xfrm>
            <a:off x="8010144" y="1737360"/>
            <a:ext cx="3502152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blurRad="76200" dist="25400" dir="5400000" algn="bl" rotWithShape="0">
              <a:srgbClr val="1B2340">
                <a:alpha val="10000"/>
              </a:srgbClr>
            </a:outerShdw>
          </a:effectLst>
        </p:spPr>
      </p:sp>
      <p:sp>
        <p:nvSpPr>
          <p:cNvPr id="31" name="Shape 14">
            <a:extLst>
              <a:ext uri="{FF2B5EF4-FFF2-40B4-BE49-F238E27FC236}">
                <a16:creationId xmlns:a16="http://schemas.microsoft.com/office/drawing/2014/main" id="{1414019F-3369-0E0D-8858-BA1C3A4EEE1E}"/>
              </a:ext>
            </a:extLst>
          </p:cNvPr>
          <p:cNvSpPr/>
          <p:nvPr/>
        </p:nvSpPr>
        <p:spPr>
          <a:xfrm>
            <a:off x="8211312" y="192024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2FBF8F"/>
          </a:solidFill>
          <a:ln/>
        </p:spPr>
      </p:sp>
      <p:sp>
        <p:nvSpPr>
          <p:cNvPr id="33" name="Text 15">
            <a:extLst>
              <a:ext uri="{FF2B5EF4-FFF2-40B4-BE49-F238E27FC236}">
                <a16:creationId xmlns:a16="http://schemas.microsoft.com/office/drawing/2014/main" id="{5F3BF9A8-5DFE-0E57-AE68-79DDF94CE891}"/>
              </a:ext>
            </a:extLst>
          </p:cNvPr>
          <p:cNvSpPr/>
          <p:nvPr/>
        </p:nvSpPr>
        <p:spPr>
          <a:xfrm>
            <a:off x="8211312" y="192024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군집</a:t>
            </a:r>
            <a:endParaRPr lang="en-US" sz="1050" dirty="0"/>
          </a:p>
        </p:txBody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AF96FC53-F2B1-DC70-3F82-65949733416F}"/>
              </a:ext>
            </a:extLst>
          </p:cNvPr>
          <p:cNvSpPr/>
          <p:nvPr/>
        </p:nvSpPr>
        <p:spPr>
          <a:xfrm>
            <a:off x="8211312" y="2304288"/>
            <a:ext cx="3099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34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행동 유형</a:t>
            </a:r>
            <a:endParaRPr lang="en-US" sz="1600" dirty="0"/>
          </a:p>
        </p:txBody>
      </p:sp>
      <p:sp>
        <p:nvSpPr>
          <p:cNvPr id="37" name="Text 17">
            <a:extLst>
              <a:ext uri="{FF2B5EF4-FFF2-40B4-BE49-F238E27FC236}">
                <a16:creationId xmlns:a16="http://schemas.microsoft.com/office/drawing/2014/main" id="{39A3742C-0549-E715-DFEE-585AF810FADC}"/>
              </a:ext>
            </a:extLst>
          </p:cNvPr>
          <p:cNvSpPr/>
          <p:nvPr/>
        </p:nvSpPr>
        <p:spPr>
          <a:xfrm>
            <a:off x="8211312" y="2724912"/>
            <a:ext cx="30998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행동 유형 라벨링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최상위 군집 = 우량(예상이상)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→ 업셀링 후보</a:t>
            </a:r>
            <a:endParaRPr lang="en-US" sz="1100" dirty="0"/>
          </a:p>
        </p:txBody>
      </p:sp>
      <p:sp>
        <p:nvSpPr>
          <p:cNvPr id="39" name="Text 18">
            <a:extLst>
              <a:ext uri="{FF2B5EF4-FFF2-40B4-BE49-F238E27FC236}">
                <a16:creationId xmlns:a16="http://schemas.microsoft.com/office/drawing/2014/main" id="{E933FC1C-386B-C391-8AA6-0B7D17D63B95}"/>
              </a:ext>
            </a:extLst>
          </p:cNvPr>
          <p:cNvSpPr/>
          <p:nvPr/>
        </p:nvSpPr>
        <p:spPr>
          <a:xfrm>
            <a:off x="640080" y="388620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세 신호를 조합해 권고 액션과 사유 코드(장기 미사용·거래 감소 등 10종)를 생성합니다.</a:t>
            </a:r>
            <a:endParaRPr lang="en-US" sz="1150" dirty="0"/>
          </a:p>
        </p:txBody>
      </p:sp>
      <p:sp>
        <p:nvSpPr>
          <p:cNvPr id="41" name="Shape 19">
            <a:extLst>
              <a:ext uri="{FF2B5EF4-FFF2-40B4-BE49-F238E27FC236}">
                <a16:creationId xmlns:a16="http://schemas.microsoft.com/office/drawing/2014/main" id="{75130ED2-82C7-5B86-8679-44DC47D1B270}"/>
              </a:ext>
            </a:extLst>
          </p:cNvPr>
          <p:cNvSpPr/>
          <p:nvPr/>
        </p:nvSpPr>
        <p:spPr>
          <a:xfrm>
            <a:off x="640080" y="4343400"/>
            <a:ext cx="1088136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blurRad="76200" dist="25400" dir="5400000" algn="bl" rotWithShape="0">
              <a:srgbClr val="1B2340">
                <a:alpha val="15000"/>
              </a:srgbClr>
            </a:outerShdw>
          </a:effectLst>
        </p:spPr>
      </p:sp>
      <p:sp>
        <p:nvSpPr>
          <p:cNvPr id="43" name="Shape 20">
            <a:extLst>
              <a:ext uri="{FF2B5EF4-FFF2-40B4-BE49-F238E27FC236}">
                <a16:creationId xmlns:a16="http://schemas.microsoft.com/office/drawing/2014/main" id="{4CB3AECA-1D42-C0F2-78E8-4E21033025D7}"/>
              </a:ext>
            </a:extLst>
          </p:cNvPr>
          <p:cNvSpPr/>
          <p:nvPr/>
        </p:nvSpPr>
        <p:spPr>
          <a:xfrm>
            <a:off x="868680" y="4553712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E8536A"/>
          </a:solidFill>
          <a:ln/>
        </p:spPr>
      </p:sp>
      <p:sp>
        <p:nvSpPr>
          <p:cNvPr id="45" name="Text 21">
            <a:extLst>
              <a:ext uri="{FF2B5EF4-FFF2-40B4-BE49-F238E27FC236}">
                <a16:creationId xmlns:a16="http://schemas.microsoft.com/office/drawing/2014/main" id="{49295F88-0384-7E23-56B4-A9DABB63D54F}"/>
              </a:ext>
            </a:extLst>
          </p:cNvPr>
          <p:cNvSpPr/>
          <p:nvPr/>
        </p:nvSpPr>
        <p:spPr>
          <a:xfrm>
            <a:off x="868680" y="455371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34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이중신호 (조기경보 겹침)</a:t>
            </a:r>
            <a:endParaRPr lang="en-US" sz="1100" dirty="0"/>
          </a:p>
        </p:txBody>
      </p:sp>
      <p:sp>
        <p:nvSpPr>
          <p:cNvPr id="47" name="Text 22">
            <a:extLst>
              <a:ext uri="{FF2B5EF4-FFF2-40B4-BE49-F238E27FC236}">
                <a16:creationId xmlns:a16="http://schemas.microsoft.com/office/drawing/2014/main" id="{FDB1B301-71A4-F8E4-38E9-68E6E02D3444}"/>
              </a:ext>
            </a:extLst>
          </p:cNvPr>
          <p:cNvSpPr/>
          <p:nvPr/>
        </p:nvSpPr>
        <p:spPr>
          <a:xfrm>
            <a:off x="868680" y="502920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분류 high 그리고 활동성 갭 하위 20%에 동시에 해당하면, 두 모델이 함께 위험을 가리키는 최우선 상담 대상으로 승격됩니다.</a:t>
            </a:r>
            <a:endParaRPr lang="en-US" sz="1250" dirty="0"/>
          </a:p>
        </p:txBody>
      </p:sp>
      <p:sp>
        <p:nvSpPr>
          <p:cNvPr id="49" name="Text 23">
            <a:extLst>
              <a:ext uri="{FF2B5EF4-FFF2-40B4-BE49-F238E27FC236}">
                <a16:creationId xmlns:a16="http://schemas.microsoft.com/office/drawing/2014/main" id="{7328ECE7-4846-2FE3-30EA-006E56BAA48E}"/>
              </a:ext>
            </a:extLst>
          </p:cNvPr>
          <p:cNvSpPr/>
          <p:nvPr/>
        </p:nvSpPr>
        <p:spPr>
          <a:xfrm>
            <a:off x="8778240" y="452628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3FD8C4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157명</a:t>
            </a:r>
            <a:endParaRPr lang="en-US" sz="4400" dirty="0"/>
          </a:p>
        </p:txBody>
      </p:sp>
      <p:sp>
        <p:nvSpPr>
          <p:cNvPr id="51" name="Text 24">
            <a:extLst>
              <a:ext uri="{FF2B5EF4-FFF2-40B4-BE49-F238E27FC236}">
                <a16:creationId xmlns:a16="http://schemas.microsoft.com/office/drawing/2014/main" id="{91C86696-D9B2-252C-57F6-4ACC72AA63CA}"/>
              </a:ext>
            </a:extLst>
          </p:cNvPr>
          <p:cNvSpPr/>
          <p:nvPr/>
        </p:nvSpPr>
        <p:spPr>
          <a:xfrm>
            <a:off x="8778240" y="55321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현재 조기경보 겹침 고객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8643812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AA893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02 · </a:t>
            </a:r>
            <a:r>
              <a:rPr lang="en-US" sz="1200" b="1" kern="0" spc="200" dirty="0" err="1">
                <a:solidFill>
                  <a:srgbClr val="1AA893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비즈니스</a:t>
            </a:r>
            <a:r>
              <a:rPr lang="en-US" sz="1200" b="1" kern="0" spc="200" dirty="0">
                <a:solidFill>
                  <a:srgbClr val="1AA893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kern="0" spc="200" dirty="0" err="1">
                <a:solidFill>
                  <a:srgbClr val="1AA893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로직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34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고객 19개 특성 → 이탈 확률 → 위험도 · 추천 액션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21792" y="1691640"/>
            <a:ext cx="1993392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blurRad="76200" dist="25400" dir="5400000" algn="bl" rotWithShape="0">
              <a:srgbClr val="1B234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837944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3FD8C4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INPUT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04672" y="2148840"/>
            <a:ext cx="16642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34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고객 특성 19개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04672" y="2743200"/>
            <a:ext cx="16642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나이·소득구간·카드등급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거래금액·이용률 등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615184" y="2377440"/>
            <a:ext cx="3749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A893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807208" y="1691640"/>
            <a:ext cx="1993392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blurRad="76200" dist="25400" dir="5400000" algn="bl" rotWithShape="0">
              <a:srgbClr val="1B234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971800" y="1837944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3FD8C4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CLASSIFY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971800" y="2148840"/>
            <a:ext cx="16642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34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이탈 분류 모델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971800" y="2743200"/>
            <a:ext cx="16642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XGBoost / LightGBM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predict_proba() → 이탈 확률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82312" y="2377440"/>
            <a:ext cx="3749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A893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974336" y="1691640"/>
            <a:ext cx="1993392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blurRad="76200" dist="25400" dir="5400000" algn="bl" rotWithShape="0">
              <a:srgbClr val="1B234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138928" y="1837944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3FD8C4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THRESHOLD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138928" y="2148840"/>
            <a:ext cx="16642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34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Decision Threshold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138928" y="2743200"/>
            <a:ext cx="16642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manifest 기준값으로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이탈/유지 최종 판정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949440" y="2377440"/>
            <a:ext cx="3749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A893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141464" y="1691640"/>
            <a:ext cx="1993392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blurRad="76200" dist="25400" dir="5400000" algn="bl" rotWithShape="0">
              <a:srgbClr val="1B234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06056" y="1837944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3FD8C4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SEGMENT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306056" y="2148840"/>
            <a:ext cx="16642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34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위험도 · 군집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306056" y="2743200"/>
            <a:ext cx="16642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높음/주의/낮음 등급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행동군집 라벨링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116568" y="2377440"/>
            <a:ext cx="3749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A893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308592" y="1691640"/>
            <a:ext cx="1993392" cy="1965960"/>
          </a:xfrm>
          <a:prstGeom prst="roundRect">
            <a:avLst>
              <a:gd name="adj" fmla="val 4186"/>
            </a:avLst>
          </a:prstGeom>
          <a:solidFill>
            <a:srgbClr val="3FD8C4"/>
          </a:solidFill>
          <a:ln/>
          <a:effectLst>
            <a:outerShdw blurRad="76200" dist="25400" dir="5400000" algn="bl" rotWithShape="0">
              <a:srgbClr val="1B234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473184" y="1837944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141B36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ACTION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73184" y="2148840"/>
            <a:ext cx="16642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B36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추천 액션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473184" y="2743200"/>
            <a:ext cx="16642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B234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담당자에게 노출되는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B234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업무 카드로 저장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0080" y="4114800"/>
            <a:ext cx="254203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4242816"/>
            <a:ext cx="2176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246C4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3400" dirty="0"/>
          </a:p>
        </p:txBody>
      </p:sp>
      <p:sp>
        <p:nvSpPr>
          <p:cNvPr id="30" name="Text 28"/>
          <p:cNvSpPr/>
          <p:nvPr/>
        </p:nvSpPr>
        <p:spPr>
          <a:xfrm>
            <a:off x="822960" y="4937760"/>
            <a:ext cx="2176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입력 특성 (연령·소득·카드등급·거래패턴 등)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383280" y="4114800"/>
            <a:ext cx="254203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66160" y="4242816"/>
            <a:ext cx="2176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246C4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3400" dirty="0"/>
          </a:p>
        </p:txBody>
      </p:sp>
      <p:sp>
        <p:nvSpPr>
          <p:cNvPr id="33" name="Text 31"/>
          <p:cNvSpPr/>
          <p:nvPr/>
        </p:nvSpPr>
        <p:spPr>
          <a:xfrm>
            <a:off x="3566160" y="4937760"/>
            <a:ext cx="2176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모델 축 — 분류 / 회귀 / 군집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26480" y="4114800"/>
            <a:ext cx="254203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4242816"/>
            <a:ext cx="2176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246C4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0.5</a:t>
            </a:r>
            <a:endParaRPr lang="en-US" sz="3400" dirty="0"/>
          </a:p>
        </p:txBody>
      </p:sp>
      <p:sp>
        <p:nvSpPr>
          <p:cNvPr id="36" name="Text 34"/>
          <p:cNvSpPr/>
          <p:nvPr/>
        </p:nvSpPr>
        <p:spPr>
          <a:xfrm>
            <a:off x="6309360" y="4937760"/>
            <a:ext cx="2176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기본 이탈 판정 임계값 (manifest 관리)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869680" y="4114800"/>
            <a:ext cx="254203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052560" y="4242816"/>
            <a:ext cx="2176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246C4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422</a:t>
            </a:r>
            <a:endParaRPr lang="en-US" sz="3400" dirty="0"/>
          </a:p>
        </p:txBody>
      </p:sp>
      <p:sp>
        <p:nvSpPr>
          <p:cNvPr id="39" name="Text 37"/>
          <p:cNvSpPr/>
          <p:nvPr/>
        </p:nvSpPr>
        <p:spPr>
          <a:xfrm>
            <a:off x="9052560" y="4937760"/>
            <a:ext cx="2176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범위·타입·범주 오류 시 반환 상태코드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AA893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02 · </a:t>
            </a:r>
            <a:r>
              <a:rPr lang="en-US" sz="1200" b="1" kern="0" spc="200" dirty="0" err="1">
                <a:solidFill>
                  <a:srgbClr val="1AA893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비즈니스</a:t>
            </a:r>
            <a:r>
              <a:rPr lang="en-US" sz="1200" b="1" kern="0" spc="200" dirty="0">
                <a:solidFill>
                  <a:srgbClr val="1AA893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로직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34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“이중 신호” 고객 탐지 → 세그먼트 타겟팅 → 캠페인 성과 측정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blurRad="101600" dist="38100" dir="5400000" algn="bl" rotWithShape="0">
              <a:srgbClr val="1B234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47672"/>
            <a:ext cx="468957" cy="468957"/>
          </a:xfrm>
          <a:prstGeom prst="ellipse">
            <a:avLst/>
          </a:prstGeom>
          <a:solidFill>
            <a:srgbClr val="E8536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4767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81328" y="1965960"/>
            <a:ext cx="4142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34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이중 신호(Dual Signal) 고객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14400" y="2624328"/>
            <a:ext cx="4709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위험도(risk_level = high)와 활동성 급감(하위 20%)이 동시에 발생한 고객을 별도로 집계합니다. 운영팀 대시보드에 상시 노출되는 최우선 상담 대상입니다.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525780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blurRad="101600" dist="38100" dir="5400000" algn="bl" rotWithShape="0">
              <a:srgbClr val="1B234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1947672"/>
            <a:ext cx="468957" cy="468957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94767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059168" y="1965960"/>
            <a:ext cx="4142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34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세그먼트 일괄 타겟팅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92240" y="2624328"/>
            <a:ext cx="4709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고정된 정책(risk_level, 최근 접촉 제외일, 최대 대상 수)으로 미리보기 → 실행 → 취소 → 재실행이 가능한 bulk_targeting_runs 워크플로. 실행 결과는 draft 캠페인으로 연결됩니다.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4297680"/>
            <a:ext cx="525780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blurRad="101600" dist="38100" dir="5400000" algn="bl" rotWithShape="0">
              <a:srgbClr val="1B234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553712"/>
            <a:ext cx="468957" cy="468957"/>
          </a:xfrm>
          <a:prstGeom prst="ellipse">
            <a:avLst/>
          </a:prstGeom>
          <a:solidFill>
            <a:srgbClr val="2FBF8F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5537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2229" y="4572000"/>
            <a:ext cx="412133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34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캠페인 생명주기 &amp; 성과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14400" y="5230368"/>
            <a:ext cx="4709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캠페인 → 대상(campaign_targets) → 상태 전이/결과가 campaign_events에 누적됩니다. A/B 대조군 비교로 증분 전환효과·증분 ROI를 서버에서 집계합니다.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4297680"/>
            <a:ext cx="525780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blurRad="101600" dist="38100" dir="5400000" algn="bl" rotWithShape="0">
              <a:srgbClr val="1B234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4553712"/>
            <a:ext cx="468957" cy="468957"/>
          </a:xfrm>
          <a:prstGeom prst="ellipse">
            <a:avLst/>
          </a:prstGeom>
          <a:solidFill>
            <a:srgbClr val="1AA893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45537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059168" y="4572000"/>
            <a:ext cx="4142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34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역할 기반 업무 분리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92240" y="5230368"/>
            <a:ext cx="4709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캠페인 생성/등록은 admin·marketing, 처리 결과 기록은 admin·operations, 세그먼트 타겟팅 실행도 admin·marketing 전용입니다.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CardOps Console · 핵심 비즈니스 로직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601200" y="65105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20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CARDOPS CONSOLE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6DE3605B-F441-910D-48DE-D44E469F09E8}"/>
              </a:ext>
            </a:extLst>
          </p:cNvPr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AA893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02 · </a:t>
            </a:r>
            <a:r>
              <a:rPr lang="ko-KR" altLang="en-US" sz="1200" b="1" kern="0" spc="200" dirty="0">
                <a:solidFill>
                  <a:srgbClr val="1AA893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비즈니스 로직</a:t>
            </a:r>
            <a:endParaRPr lang="en-US" sz="12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E4A3B2BC-D465-C557-8EF3-0DB4CE961BA0}"/>
              </a:ext>
            </a:extLst>
          </p:cNvPr>
          <p:cNvSpPr/>
          <p:nvPr/>
        </p:nvSpPr>
        <p:spPr>
          <a:xfrm>
            <a:off x="640080" y="77724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34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타겟팅 세그먼트 7종 — 근거가 기록된 대상 선정</a:t>
            </a:r>
            <a:endParaRPr lang="en-US" sz="25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132F5055-38B8-0984-92A4-6C6DB514FDD1}"/>
              </a:ext>
            </a:extLst>
          </p:cNvPr>
          <p:cNvSpPr/>
          <p:nvPr/>
        </p:nvSpPr>
        <p:spPr>
          <a:xfrm>
            <a:off x="640080" y="129844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우선순위가 높은 세그먼트가 잡은 고객은 하위가 가져가지 않음</a:t>
            </a:r>
            <a:endParaRPr lang="en-US" sz="1300" dirty="0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3AE23C3C-ACDF-4FCC-8BA7-C106EC1E9E05}"/>
              </a:ext>
            </a:extLst>
          </p:cNvPr>
          <p:cNvSpPr/>
          <p:nvPr/>
        </p:nvSpPr>
        <p:spPr>
          <a:xfrm>
            <a:off x="640080" y="1737360"/>
            <a:ext cx="12801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blurRad="76200" dist="25400" dir="5400000" algn="bl" rotWithShape="0">
              <a:srgbClr val="1B2340">
                <a:alpha val="15000"/>
              </a:srgbClr>
            </a:outerShdw>
          </a:effectLst>
        </p:spPr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BC4A2C91-6903-C7D5-6419-6A9D55D0841A}"/>
              </a:ext>
            </a:extLst>
          </p:cNvPr>
          <p:cNvSpPr/>
          <p:nvPr/>
        </p:nvSpPr>
        <p:spPr>
          <a:xfrm>
            <a:off x="749808" y="173736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34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우선순위</a:t>
            </a:r>
            <a:endParaRPr lang="en-US" sz="1050" dirty="0"/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425C68B9-550F-4C6E-3C91-FEFE8761E75E}"/>
              </a:ext>
            </a:extLst>
          </p:cNvPr>
          <p:cNvSpPr/>
          <p:nvPr/>
        </p:nvSpPr>
        <p:spPr>
          <a:xfrm>
            <a:off x="1920240" y="1737360"/>
            <a:ext cx="2743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blurRad="76200" dist="25400" dir="5400000" algn="bl" rotWithShape="0">
              <a:srgbClr val="1B2340">
                <a:alpha val="15000"/>
              </a:srgbClr>
            </a:outerShdw>
          </a:effectLst>
        </p:spPr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CC894127-B7FB-463B-BA1F-DEDC8EB47BF8}"/>
              </a:ext>
            </a:extLst>
          </p:cNvPr>
          <p:cNvSpPr/>
          <p:nvPr/>
        </p:nvSpPr>
        <p:spPr>
          <a:xfrm>
            <a:off x="2029968" y="173736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34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세그먼트</a:t>
            </a:r>
            <a:endParaRPr lang="en-US" sz="1050" dirty="0"/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7AAC3A4D-6917-847A-8150-BF69D6783EB7}"/>
              </a:ext>
            </a:extLst>
          </p:cNvPr>
          <p:cNvSpPr/>
          <p:nvPr/>
        </p:nvSpPr>
        <p:spPr>
          <a:xfrm>
            <a:off x="4663440" y="1737360"/>
            <a:ext cx="52120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blurRad="76200" dist="25400" dir="5400000" algn="bl" rotWithShape="0">
              <a:srgbClr val="1B2340">
                <a:alpha val="15000"/>
              </a:srgbClr>
            </a:outerShdw>
          </a:effectLst>
        </p:spPr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DB0ED79F-A4A4-EDAA-3A72-C68813CAAB74}"/>
              </a:ext>
            </a:extLst>
          </p:cNvPr>
          <p:cNvSpPr/>
          <p:nvPr/>
        </p:nvSpPr>
        <p:spPr>
          <a:xfrm>
            <a:off x="4773168" y="173736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34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선정 조건</a:t>
            </a:r>
            <a:endParaRPr lang="en-US" sz="1050" dirty="0"/>
          </a:p>
        </p:txBody>
      </p:sp>
      <p:sp>
        <p:nvSpPr>
          <p:cNvPr id="21" name="Shape 9">
            <a:extLst>
              <a:ext uri="{FF2B5EF4-FFF2-40B4-BE49-F238E27FC236}">
                <a16:creationId xmlns:a16="http://schemas.microsoft.com/office/drawing/2014/main" id="{5A751856-9490-9002-3209-B3B2DCB5DFE1}"/>
              </a:ext>
            </a:extLst>
          </p:cNvPr>
          <p:cNvSpPr/>
          <p:nvPr/>
        </p:nvSpPr>
        <p:spPr>
          <a:xfrm>
            <a:off x="9875520" y="1737360"/>
            <a:ext cx="1645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blurRad="76200" dist="25400" dir="5400000" algn="bl" rotWithShape="0">
              <a:srgbClr val="1B2340">
                <a:alpha val="15000"/>
              </a:srgbClr>
            </a:outerShdw>
          </a:effectLst>
        </p:spPr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C749033F-763D-EDEC-AE25-72CD5C6FC749}"/>
              </a:ext>
            </a:extLst>
          </p:cNvPr>
          <p:cNvSpPr/>
          <p:nvPr/>
        </p:nvSpPr>
        <p:spPr>
          <a:xfrm>
            <a:off x="9985248" y="173736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34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실측 이탈률</a:t>
            </a:r>
            <a:endParaRPr lang="en-US" sz="1050" dirty="0"/>
          </a:p>
        </p:txBody>
      </p:sp>
      <p:sp>
        <p:nvSpPr>
          <p:cNvPr id="25" name="Shape 11">
            <a:extLst>
              <a:ext uri="{FF2B5EF4-FFF2-40B4-BE49-F238E27FC236}">
                <a16:creationId xmlns:a16="http://schemas.microsoft.com/office/drawing/2014/main" id="{24A30085-817D-5A4E-C4FF-FD1BBFAE6A19}"/>
              </a:ext>
            </a:extLst>
          </p:cNvPr>
          <p:cNvSpPr/>
          <p:nvPr/>
        </p:nvSpPr>
        <p:spPr>
          <a:xfrm>
            <a:off x="640080" y="2121408"/>
            <a:ext cx="128016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4E8F2"/>
            </a:solidFill>
            <a:prstDash val="solid"/>
          </a:ln>
        </p:spPr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6EBF1428-E26A-CF5D-4108-8FCFFDD55124}"/>
              </a:ext>
            </a:extLst>
          </p:cNvPr>
          <p:cNvSpPr/>
          <p:nvPr/>
        </p:nvSpPr>
        <p:spPr>
          <a:xfrm>
            <a:off x="749808" y="2121408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A893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400</a:t>
            </a:r>
            <a:endParaRPr lang="en-US" sz="1050" dirty="0"/>
          </a:p>
        </p:txBody>
      </p:sp>
      <p:sp>
        <p:nvSpPr>
          <p:cNvPr id="29" name="Shape 13">
            <a:extLst>
              <a:ext uri="{FF2B5EF4-FFF2-40B4-BE49-F238E27FC236}">
                <a16:creationId xmlns:a16="http://schemas.microsoft.com/office/drawing/2014/main" id="{0954B7EB-1273-BCAC-205D-2EC4FD6550C6}"/>
              </a:ext>
            </a:extLst>
          </p:cNvPr>
          <p:cNvSpPr/>
          <p:nvPr/>
        </p:nvSpPr>
        <p:spPr>
          <a:xfrm>
            <a:off x="1920240" y="2121408"/>
            <a:ext cx="27432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4E8F2"/>
            </a:solidFill>
            <a:prstDash val="solid"/>
          </a:ln>
        </p:spPr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679A134D-C948-1867-6ACF-13905EBD8343}"/>
              </a:ext>
            </a:extLst>
          </p:cNvPr>
          <p:cNvSpPr/>
          <p:nvPr/>
        </p:nvSpPr>
        <p:spPr>
          <a:xfrm>
            <a:off x="2029968" y="2121408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34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소액 잔액·거래 급감 긴급</a:t>
            </a:r>
            <a:endParaRPr lang="en-US" sz="1050" dirty="0"/>
          </a:p>
        </p:txBody>
      </p:sp>
      <p:sp>
        <p:nvSpPr>
          <p:cNvPr id="33" name="Shape 15">
            <a:extLst>
              <a:ext uri="{FF2B5EF4-FFF2-40B4-BE49-F238E27FC236}">
                <a16:creationId xmlns:a16="http://schemas.microsoft.com/office/drawing/2014/main" id="{90E8FF12-9B9B-2715-4558-828DA48B729B}"/>
              </a:ext>
            </a:extLst>
          </p:cNvPr>
          <p:cNvSpPr/>
          <p:nvPr/>
        </p:nvSpPr>
        <p:spPr>
          <a:xfrm>
            <a:off x="4663440" y="2121408"/>
            <a:ext cx="521208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4E8F2"/>
            </a:solidFill>
            <a:prstDash val="solid"/>
          </a:ln>
        </p:spPr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C1B7C043-E7A7-B194-A806-CB90FB448148}"/>
              </a:ext>
            </a:extLst>
          </p:cNvPr>
          <p:cNvSpPr/>
          <p:nvPr/>
        </p:nvSpPr>
        <p:spPr>
          <a:xfrm>
            <a:off x="4773168" y="2121408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리볼빙 잔액 1~499 &amp; 분기 거래건수 변화율 &lt; 0.6</a:t>
            </a:r>
            <a:endParaRPr lang="en-US" sz="950" dirty="0"/>
          </a:p>
        </p:txBody>
      </p:sp>
      <p:sp>
        <p:nvSpPr>
          <p:cNvPr id="37" name="Shape 17">
            <a:extLst>
              <a:ext uri="{FF2B5EF4-FFF2-40B4-BE49-F238E27FC236}">
                <a16:creationId xmlns:a16="http://schemas.microsoft.com/office/drawing/2014/main" id="{B4D603CF-EE27-7B79-CA4D-D67DF97E6DA5}"/>
              </a:ext>
            </a:extLst>
          </p:cNvPr>
          <p:cNvSpPr/>
          <p:nvPr/>
        </p:nvSpPr>
        <p:spPr>
          <a:xfrm>
            <a:off x="9875520" y="2121408"/>
            <a:ext cx="16459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4E8F2"/>
            </a:solidFill>
            <a:prstDash val="solid"/>
          </a:ln>
        </p:spPr>
      </p:sp>
      <p:sp>
        <p:nvSpPr>
          <p:cNvPr id="39" name="Text 18">
            <a:extLst>
              <a:ext uri="{FF2B5EF4-FFF2-40B4-BE49-F238E27FC236}">
                <a16:creationId xmlns:a16="http://schemas.microsoft.com/office/drawing/2014/main" id="{44D2CFDB-6E61-2BEE-7273-4E42CA19DC58}"/>
              </a:ext>
            </a:extLst>
          </p:cNvPr>
          <p:cNvSpPr/>
          <p:nvPr/>
        </p:nvSpPr>
        <p:spPr>
          <a:xfrm>
            <a:off x="9985248" y="2121408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≈90% (5.6배)</a:t>
            </a:r>
            <a:endParaRPr lang="en-US" sz="1050" dirty="0"/>
          </a:p>
        </p:txBody>
      </p:sp>
      <p:sp>
        <p:nvSpPr>
          <p:cNvPr id="41" name="Shape 19">
            <a:extLst>
              <a:ext uri="{FF2B5EF4-FFF2-40B4-BE49-F238E27FC236}">
                <a16:creationId xmlns:a16="http://schemas.microsoft.com/office/drawing/2014/main" id="{394EA665-BD9B-693C-3E45-4EFF499DE255}"/>
              </a:ext>
            </a:extLst>
          </p:cNvPr>
          <p:cNvSpPr/>
          <p:nvPr/>
        </p:nvSpPr>
        <p:spPr>
          <a:xfrm>
            <a:off x="640080" y="2523744"/>
            <a:ext cx="1280160" cy="402336"/>
          </a:xfrm>
          <a:prstGeom prst="rect">
            <a:avLst/>
          </a:prstGeom>
          <a:solidFill>
            <a:srgbClr val="EDF1F9"/>
          </a:solidFill>
          <a:ln w="9525">
            <a:solidFill>
              <a:srgbClr val="E4E8F2"/>
            </a:solidFill>
            <a:prstDash val="solid"/>
          </a:ln>
        </p:spPr>
      </p:sp>
      <p:sp>
        <p:nvSpPr>
          <p:cNvPr id="43" name="Text 20">
            <a:extLst>
              <a:ext uri="{FF2B5EF4-FFF2-40B4-BE49-F238E27FC236}">
                <a16:creationId xmlns:a16="http://schemas.microsoft.com/office/drawing/2014/main" id="{8C2436BB-D202-D792-6FEE-C70C6A190D95}"/>
              </a:ext>
            </a:extLst>
          </p:cNvPr>
          <p:cNvSpPr/>
          <p:nvPr/>
        </p:nvSpPr>
        <p:spPr>
          <a:xfrm>
            <a:off x="749808" y="2523744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A893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350</a:t>
            </a:r>
            <a:endParaRPr lang="en-US" sz="1050" dirty="0"/>
          </a:p>
        </p:txBody>
      </p:sp>
      <p:sp>
        <p:nvSpPr>
          <p:cNvPr id="45" name="Shape 21">
            <a:extLst>
              <a:ext uri="{FF2B5EF4-FFF2-40B4-BE49-F238E27FC236}">
                <a16:creationId xmlns:a16="http://schemas.microsoft.com/office/drawing/2014/main" id="{DB8DFD77-D719-8AD1-488B-87427523C4AD}"/>
              </a:ext>
            </a:extLst>
          </p:cNvPr>
          <p:cNvSpPr/>
          <p:nvPr/>
        </p:nvSpPr>
        <p:spPr>
          <a:xfrm>
            <a:off x="1920240" y="2523744"/>
            <a:ext cx="2743200" cy="402336"/>
          </a:xfrm>
          <a:prstGeom prst="rect">
            <a:avLst/>
          </a:prstGeom>
          <a:solidFill>
            <a:srgbClr val="EDF1F9"/>
          </a:solidFill>
          <a:ln w="9525">
            <a:solidFill>
              <a:srgbClr val="E4E8F2"/>
            </a:solidFill>
            <a:prstDash val="solid"/>
          </a:ln>
        </p:spPr>
      </p:sp>
      <p:sp>
        <p:nvSpPr>
          <p:cNvPr id="47" name="Text 22">
            <a:extLst>
              <a:ext uri="{FF2B5EF4-FFF2-40B4-BE49-F238E27FC236}">
                <a16:creationId xmlns:a16="http://schemas.microsoft.com/office/drawing/2014/main" id="{A8738125-2AF3-3346-D451-5B1E47725703}"/>
              </a:ext>
            </a:extLst>
          </p:cNvPr>
          <p:cNvSpPr/>
          <p:nvPr/>
        </p:nvSpPr>
        <p:spPr>
          <a:xfrm>
            <a:off x="2029968" y="2523744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34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완납형 저활동 이탈 임박</a:t>
            </a:r>
            <a:endParaRPr lang="en-US" sz="1050" dirty="0"/>
          </a:p>
        </p:txBody>
      </p:sp>
      <p:sp>
        <p:nvSpPr>
          <p:cNvPr id="49" name="Shape 23">
            <a:extLst>
              <a:ext uri="{FF2B5EF4-FFF2-40B4-BE49-F238E27FC236}">
                <a16:creationId xmlns:a16="http://schemas.microsoft.com/office/drawing/2014/main" id="{A30BA859-C35B-E7D9-CA8F-D7B6DC671B01}"/>
              </a:ext>
            </a:extLst>
          </p:cNvPr>
          <p:cNvSpPr/>
          <p:nvPr/>
        </p:nvSpPr>
        <p:spPr>
          <a:xfrm>
            <a:off x="4663440" y="2523744"/>
            <a:ext cx="5212080" cy="402336"/>
          </a:xfrm>
          <a:prstGeom prst="rect">
            <a:avLst/>
          </a:prstGeom>
          <a:solidFill>
            <a:srgbClr val="EDF1F9"/>
          </a:solidFill>
          <a:ln w="9525">
            <a:solidFill>
              <a:srgbClr val="E4E8F2"/>
            </a:solidFill>
            <a:prstDash val="solid"/>
          </a:ln>
        </p:spPr>
      </p:sp>
      <p:sp>
        <p:nvSpPr>
          <p:cNvPr id="51" name="Text 24">
            <a:extLst>
              <a:ext uri="{FF2B5EF4-FFF2-40B4-BE49-F238E27FC236}">
                <a16:creationId xmlns:a16="http://schemas.microsoft.com/office/drawing/2014/main" id="{BBF00801-E9DC-B018-212C-8FE1D0D71B67}"/>
              </a:ext>
            </a:extLst>
          </p:cNvPr>
          <p:cNvSpPr/>
          <p:nvPr/>
        </p:nvSpPr>
        <p:spPr>
          <a:xfrm>
            <a:off x="4773168" y="2523744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잔액 0(완납) &amp; 연간 거래 &lt; 55건</a:t>
            </a:r>
            <a:endParaRPr lang="en-US" sz="950" dirty="0"/>
          </a:p>
        </p:txBody>
      </p:sp>
      <p:sp>
        <p:nvSpPr>
          <p:cNvPr id="53" name="Shape 25">
            <a:extLst>
              <a:ext uri="{FF2B5EF4-FFF2-40B4-BE49-F238E27FC236}">
                <a16:creationId xmlns:a16="http://schemas.microsoft.com/office/drawing/2014/main" id="{A1E4DB32-DFD1-F819-676F-E81A69FC93D5}"/>
              </a:ext>
            </a:extLst>
          </p:cNvPr>
          <p:cNvSpPr/>
          <p:nvPr/>
        </p:nvSpPr>
        <p:spPr>
          <a:xfrm>
            <a:off x="9875520" y="2523744"/>
            <a:ext cx="1645920" cy="402336"/>
          </a:xfrm>
          <a:prstGeom prst="rect">
            <a:avLst/>
          </a:prstGeom>
          <a:solidFill>
            <a:srgbClr val="EDF1F9"/>
          </a:solidFill>
          <a:ln w="9525">
            <a:solidFill>
              <a:srgbClr val="E4E8F2"/>
            </a:solidFill>
            <a:prstDash val="solid"/>
          </a:ln>
        </p:spPr>
      </p:sp>
      <p:sp>
        <p:nvSpPr>
          <p:cNvPr id="55" name="Text 26">
            <a:extLst>
              <a:ext uri="{FF2B5EF4-FFF2-40B4-BE49-F238E27FC236}">
                <a16:creationId xmlns:a16="http://schemas.microsoft.com/office/drawing/2014/main" id="{41EE1AAF-CBCA-7136-0F7F-FBD2B898999B}"/>
              </a:ext>
            </a:extLst>
          </p:cNvPr>
          <p:cNvSpPr/>
          <p:nvPr/>
        </p:nvSpPr>
        <p:spPr>
          <a:xfrm>
            <a:off x="9985248" y="2523744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72.0%</a:t>
            </a:r>
            <a:endParaRPr lang="en-US" sz="1050" dirty="0"/>
          </a:p>
        </p:txBody>
      </p:sp>
      <p:sp>
        <p:nvSpPr>
          <p:cNvPr id="57" name="Shape 27">
            <a:extLst>
              <a:ext uri="{FF2B5EF4-FFF2-40B4-BE49-F238E27FC236}">
                <a16:creationId xmlns:a16="http://schemas.microsoft.com/office/drawing/2014/main" id="{6DAF2908-2993-2930-AF45-307C0CCEA637}"/>
              </a:ext>
            </a:extLst>
          </p:cNvPr>
          <p:cNvSpPr/>
          <p:nvPr/>
        </p:nvSpPr>
        <p:spPr>
          <a:xfrm>
            <a:off x="640080" y="2926080"/>
            <a:ext cx="128016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4E8F2"/>
            </a:solidFill>
            <a:prstDash val="solid"/>
          </a:ln>
        </p:spPr>
      </p:sp>
      <p:sp>
        <p:nvSpPr>
          <p:cNvPr id="59" name="Text 28">
            <a:extLst>
              <a:ext uri="{FF2B5EF4-FFF2-40B4-BE49-F238E27FC236}">
                <a16:creationId xmlns:a16="http://schemas.microsoft.com/office/drawing/2014/main" id="{47A5508D-EA4F-F3E5-582B-AB5667055D25}"/>
              </a:ext>
            </a:extLst>
          </p:cNvPr>
          <p:cNvSpPr/>
          <p:nvPr/>
        </p:nvSpPr>
        <p:spPr>
          <a:xfrm>
            <a:off x="749808" y="2926080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A893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300</a:t>
            </a:r>
            <a:endParaRPr lang="en-US" sz="1050" dirty="0"/>
          </a:p>
        </p:txBody>
      </p:sp>
      <p:sp>
        <p:nvSpPr>
          <p:cNvPr id="61" name="Shape 29">
            <a:extLst>
              <a:ext uri="{FF2B5EF4-FFF2-40B4-BE49-F238E27FC236}">
                <a16:creationId xmlns:a16="http://schemas.microsoft.com/office/drawing/2014/main" id="{E12F6E60-DF13-7720-6D4F-C754EBDCC275}"/>
              </a:ext>
            </a:extLst>
          </p:cNvPr>
          <p:cNvSpPr/>
          <p:nvPr/>
        </p:nvSpPr>
        <p:spPr>
          <a:xfrm>
            <a:off x="1920240" y="2926080"/>
            <a:ext cx="27432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4E8F2"/>
            </a:solidFill>
            <a:prstDash val="solid"/>
          </a:ln>
        </p:spPr>
      </p:sp>
      <p:sp>
        <p:nvSpPr>
          <p:cNvPr id="63" name="Text 30">
            <a:extLst>
              <a:ext uri="{FF2B5EF4-FFF2-40B4-BE49-F238E27FC236}">
                <a16:creationId xmlns:a16="http://schemas.microsoft.com/office/drawing/2014/main" id="{2578D7DF-BE20-67C2-3551-7CC8CE9EB57C}"/>
              </a:ext>
            </a:extLst>
          </p:cNvPr>
          <p:cNvSpPr/>
          <p:nvPr/>
        </p:nvSpPr>
        <p:spPr>
          <a:xfrm>
            <a:off x="2029968" y="2926080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34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고위험 리텐션</a:t>
            </a:r>
            <a:endParaRPr lang="en-US" sz="1050" dirty="0"/>
          </a:p>
        </p:txBody>
      </p:sp>
      <p:sp>
        <p:nvSpPr>
          <p:cNvPr id="65" name="Shape 31">
            <a:extLst>
              <a:ext uri="{FF2B5EF4-FFF2-40B4-BE49-F238E27FC236}">
                <a16:creationId xmlns:a16="http://schemas.microsoft.com/office/drawing/2014/main" id="{9CB2E709-50AC-0F41-624A-7ACCA84E4A8F}"/>
              </a:ext>
            </a:extLst>
          </p:cNvPr>
          <p:cNvSpPr/>
          <p:nvPr/>
        </p:nvSpPr>
        <p:spPr>
          <a:xfrm>
            <a:off x="4663440" y="2926080"/>
            <a:ext cx="521208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4E8F2"/>
            </a:solidFill>
            <a:prstDash val="solid"/>
          </a:ln>
        </p:spPr>
      </p:sp>
      <p:sp>
        <p:nvSpPr>
          <p:cNvPr id="67" name="Text 32">
            <a:extLst>
              <a:ext uri="{FF2B5EF4-FFF2-40B4-BE49-F238E27FC236}">
                <a16:creationId xmlns:a16="http://schemas.microsoft.com/office/drawing/2014/main" id="{F9F5F4F9-5018-CE0C-69C4-0D717A9D3B5C}"/>
              </a:ext>
            </a:extLst>
          </p:cNvPr>
          <p:cNvSpPr/>
          <p:nvPr/>
        </p:nvSpPr>
        <p:spPr>
          <a:xfrm>
            <a:off x="4773168" y="2926080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분류 모델 high · 이탈 확률 내림차순</a:t>
            </a:r>
            <a:endParaRPr lang="en-US" sz="950" dirty="0"/>
          </a:p>
        </p:txBody>
      </p:sp>
      <p:sp>
        <p:nvSpPr>
          <p:cNvPr id="69" name="Shape 33">
            <a:extLst>
              <a:ext uri="{FF2B5EF4-FFF2-40B4-BE49-F238E27FC236}">
                <a16:creationId xmlns:a16="http://schemas.microsoft.com/office/drawing/2014/main" id="{3AC6C74A-52B4-3411-2FBC-0DDAA76735ED}"/>
              </a:ext>
            </a:extLst>
          </p:cNvPr>
          <p:cNvSpPr/>
          <p:nvPr/>
        </p:nvSpPr>
        <p:spPr>
          <a:xfrm>
            <a:off x="9875520" y="2926080"/>
            <a:ext cx="16459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4E8F2"/>
            </a:solidFill>
            <a:prstDash val="solid"/>
          </a:ln>
        </p:spPr>
      </p:sp>
      <p:sp>
        <p:nvSpPr>
          <p:cNvPr id="71" name="Text 34">
            <a:extLst>
              <a:ext uri="{FF2B5EF4-FFF2-40B4-BE49-F238E27FC236}">
                <a16:creationId xmlns:a16="http://schemas.microsoft.com/office/drawing/2014/main" id="{1BD47B05-1292-A8B6-B0CE-7C458337896E}"/>
              </a:ext>
            </a:extLst>
          </p:cNvPr>
          <p:cNvSpPr/>
          <p:nvPr/>
        </p:nvSpPr>
        <p:spPr>
          <a:xfrm>
            <a:off x="9985248" y="2926080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모델 기반</a:t>
            </a:r>
            <a:endParaRPr lang="en-US" sz="1050" dirty="0"/>
          </a:p>
        </p:txBody>
      </p:sp>
      <p:sp>
        <p:nvSpPr>
          <p:cNvPr id="73" name="Shape 35">
            <a:extLst>
              <a:ext uri="{FF2B5EF4-FFF2-40B4-BE49-F238E27FC236}">
                <a16:creationId xmlns:a16="http://schemas.microsoft.com/office/drawing/2014/main" id="{44746457-1686-975E-371C-71449BBA57FC}"/>
              </a:ext>
            </a:extLst>
          </p:cNvPr>
          <p:cNvSpPr/>
          <p:nvPr/>
        </p:nvSpPr>
        <p:spPr>
          <a:xfrm>
            <a:off x="640080" y="3328416"/>
            <a:ext cx="1280160" cy="402336"/>
          </a:xfrm>
          <a:prstGeom prst="rect">
            <a:avLst/>
          </a:prstGeom>
          <a:solidFill>
            <a:srgbClr val="EDF1F9"/>
          </a:solidFill>
          <a:ln w="9525">
            <a:solidFill>
              <a:srgbClr val="E4E8F2"/>
            </a:solidFill>
            <a:prstDash val="solid"/>
          </a:ln>
        </p:spPr>
      </p:sp>
      <p:sp>
        <p:nvSpPr>
          <p:cNvPr id="75" name="Text 36">
            <a:extLst>
              <a:ext uri="{FF2B5EF4-FFF2-40B4-BE49-F238E27FC236}">
                <a16:creationId xmlns:a16="http://schemas.microsoft.com/office/drawing/2014/main" id="{6A375E5B-00E6-9AF8-E2B5-DDFF7807F7C8}"/>
              </a:ext>
            </a:extLst>
          </p:cNvPr>
          <p:cNvSpPr/>
          <p:nvPr/>
        </p:nvSpPr>
        <p:spPr>
          <a:xfrm>
            <a:off x="749808" y="3328416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A893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200</a:t>
            </a:r>
            <a:endParaRPr lang="en-US" sz="1050" dirty="0"/>
          </a:p>
        </p:txBody>
      </p:sp>
      <p:sp>
        <p:nvSpPr>
          <p:cNvPr id="77" name="Shape 37">
            <a:extLst>
              <a:ext uri="{FF2B5EF4-FFF2-40B4-BE49-F238E27FC236}">
                <a16:creationId xmlns:a16="http://schemas.microsoft.com/office/drawing/2014/main" id="{3AA01B8E-8031-611D-6E05-61B2AF1E6149}"/>
              </a:ext>
            </a:extLst>
          </p:cNvPr>
          <p:cNvSpPr/>
          <p:nvPr/>
        </p:nvSpPr>
        <p:spPr>
          <a:xfrm>
            <a:off x="1920240" y="3328416"/>
            <a:ext cx="2743200" cy="402336"/>
          </a:xfrm>
          <a:prstGeom prst="rect">
            <a:avLst/>
          </a:prstGeom>
          <a:solidFill>
            <a:srgbClr val="EDF1F9"/>
          </a:solidFill>
          <a:ln w="9525">
            <a:solidFill>
              <a:srgbClr val="E4E8F2"/>
            </a:solidFill>
            <a:prstDash val="solid"/>
          </a:ln>
        </p:spPr>
      </p:sp>
      <p:sp>
        <p:nvSpPr>
          <p:cNvPr id="79" name="Text 38">
            <a:extLst>
              <a:ext uri="{FF2B5EF4-FFF2-40B4-BE49-F238E27FC236}">
                <a16:creationId xmlns:a16="http://schemas.microsoft.com/office/drawing/2014/main" id="{931C120E-C633-EDA8-CCA6-4A58D050FC64}"/>
              </a:ext>
            </a:extLst>
          </p:cNvPr>
          <p:cNvSpPr/>
          <p:nvPr/>
        </p:nvSpPr>
        <p:spPr>
          <a:xfrm>
            <a:off x="2029968" y="3328416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34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중위험 재활성화</a:t>
            </a:r>
            <a:endParaRPr lang="en-US" sz="1050" dirty="0"/>
          </a:p>
        </p:txBody>
      </p:sp>
      <p:sp>
        <p:nvSpPr>
          <p:cNvPr id="81" name="Shape 39">
            <a:extLst>
              <a:ext uri="{FF2B5EF4-FFF2-40B4-BE49-F238E27FC236}">
                <a16:creationId xmlns:a16="http://schemas.microsoft.com/office/drawing/2014/main" id="{DD5243A3-C9EA-8E06-7AC4-C0EAC94B9104}"/>
              </a:ext>
            </a:extLst>
          </p:cNvPr>
          <p:cNvSpPr/>
          <p:nvPr/>
        </p:nvSpPr>
        <p:spPr>
          <a:xfrm>
            <a:off x="4663440" y="3328416"/>
            <a:ext cx="5212080" cy="402336"/>
          </a:xfrm>
          <a:prstGeom prst="rect">
            <a:avLst/>
          </a:prstGeom>
          <a:solidFill>
            <a:srgbClr val="EDF1F9"/>
          </a:solidFill>
          <a:ln w="9525">
            <a:solidFill>
              <a:srgbClr val="E4E8F2"/>
            </a:solidFill>
            <a:prstDash val="solid"/>
          </a:ln>
        </p:spPr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619C0361-AF4B-D1E0-C390-567CF07EF934}"/>
              </a:ext>
            </a:extLst>
          </p:cNvPr>
          <p:cNvSpPr/>
          <p:nvPr/>
        </p:nvSpPr>
        <p:spPr>
          <a:xfrm>
            <a:off x="4773168" y="3328416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medium &amp; 활동성 갭 하위 20%</a:t>
            </a:r>
            <a:endParaRPr lang="en-US" sz="950" dirty="0"/>
          </a:p>
        </p:txBody>
      </p:sp>
      <p:sp>
        <p:nvSpPr>
          <p:cNvPr id="85" name="Shape 41">
            <a:extLst>
              <a:ext uri="{FF2B5EF4-FFF2-40B4-BE49-F238E27FC236}">
                <a16:creationId xmlns:a16="http://schemas.microsoft.com/office/drawing/2014/main" id="{DB62F1AF-57A3-7F36-D194-D14EFB02631C}"/>
              </a:ext>
            </a:extLst>
          </p:cNvPr>
          <p:cNvSpPr/>
          <p:nvPr/>
        </p:nvSpPr>
        <p:spPr>
          <a:xfrm>
            <a:off x="9875520" y="3328416"/>
            <a:ext cx="1645920" cy="402336"/>
          </a:xfrm>
          <a:prstGeom prst="rect">
            <a:avLst/>
          </a:prstGeom>
          <a:solidFill>
            <a:srgbClr val="EDF1F9"/>
          </a:solidFill>
          <a:ln w="9525">
            <a:solidFill>
              <a:srgbClr val="E4E8F2"/>
            </a:solidFill>
            <a:prstDash val="solid"/>
          </a:ln>
        </p:spPr>
      </p:sp>
      <p:sp>
        <p:nvSpPr>
          <p:cNvPr id="87" name="Text 42">
            <a:extLst>
              <a:ext uri="{FF2B5EF4-FFF2-40B4-BE49-F238E27FC236}">
                <a16:creationId xmlns:a16="http://schemas.microsoft.com/office/drawing/2014/main" id="{727B297A-D994-27D0-D759-7B9FBAED66C5}"/>
              </a:ext>
            </a:extLst>
          </p:cNvPr>
          <p:cNvSpPr/>
          <p:nvPr/>
        </p:nvSpPr>
        <p:spPr>
          <a:xfrm>
            <a:off x="9985248" y="3328416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모델 기반</a:t>
            </a:r>
            <a:endParaRPr lang="en-US" sz="1050" dirty="0"/>
          </a:p>
        </p:txBody>
      </p:sp>
      <p:sp>
        <p:nvSpPr>
          <p:cNvPr id="89" name="Shape 43">
            <a:extLst>
              <a:ext uri="{FF2B5EF4-FFF2-40B4-BE49-F238E27FC236}">
                <a16:creationId xmlns:a16="http://schemas.microsoft.com/office/drawing/2014/main" id="{237ACAD7-2672-5515-4DD7-C5888BAAF943}"/>
              </a:ext>
            </a:extLst>
          </p:cNvPr>
          <p:cNvSpPr/>
          <p:nvPr/>
        </p:nvSpPr>
        <p:spPr>
          <a:xfrm>
            <a:off x="640080" y="3730752"/>
            <a:ext cx="128016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4E8F2"/>
            </a:solidFill>
            <a:prstDash val="solid"/>
          </a:ln>
        </p:spPr>
      </p:sp>
      <p:sp>
        <p:nvSpPr>
          <p:cNvPr id="91" name="Text 44">
            <a:extLst>
              <a:ext uri="{FF2B5EF4-FFF2-40B4-BE49-F238E27FC236}">
                <a16:creationId xmlns:a16="http://schemas.microsoft.com/office/drawing/2014/main" id="{112681DD-4221-146C-48DA-3955FA110052}"/>
              </a:ext>
            </a:extLst>
          </p:cNvPr>
          <p:cNvSpPr/>
          <p:nvPr/>
        </p:nvSpPr>
        <p:spPr>
          <a:xfrm>
            <a:off x="749808" y="3730752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A893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120</a:t>
            </a:r>
            <a:endParaRPr lang="en-US" sz="1050" dirty="0"/>
          </a:p>
        </p:txBody>
      </p:sp>
      <p:sp>
        <p:nvSpPr>
          <p:cNvPr id="93" name="Shape 45">
            <a:extLst>
              <a:ext uri="{FF2B5EF4-FFF2-40B4-BE49-F238E27FC236}">
                <a16:creationId xmlns:a16="http://schemas.microsoft.com/office/drawing/2014/main" id="{25436503-ECAA-04F4-A4A0-7A5C3BF58EDD}"/>
              </a:ext>
            </a:extLst>
          </p:cNvPr>
          <p:cNvSpPr/>
          <p:nvPr/>
        </p:nvSpPr>
        <p:spPr>
          <a:xfrm>
            <a:off x="1920240" y="3730752"/>
            <a:ext cx="27432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4E8F2"/>
            </a:solidFill>
            <a:prstDash val="solid"/>
          </a:ln>
        </p:spPr>
      </p:sp>
      <p:sp>
        <p:nvSpPr>
          <p:cNvPr id="95" name="Text 46">
            <a:extLst>
              <a:ext uri="{FF2B5EF4-FFF2-40B4-BE49-F238E27FC236}">
                <a16:creationId xmlns:a16="http://schemas.microsoft.com/office/drawing/2014/main" id="{B6C3E2E9-7791-73BD-487F-4069C5894027}"/>
              </a:ext>
            </a:extLst>
          </p:cNvPr>
          <p:cNvSpPr/>
          <p:nvPr/>
        </p:nvSpPr>
        <p:spPr>
          <a:xfrm>
            <a:off x="2029968" y="3730752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34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완납형 우량 활성화</a:t>
            </a:r>
            <a:endParaRPr lang="en-US" sz="1050" dirty="0"/>
          </a:p>
        </p:txBody>
      </p:sp>
      <p:sp>
        <p:nvSpPr>
          <p:cNvPr id="97" name="Shape 47">
            <a:extLst>
              <a:ext uri="{FF2B5EF4-FFF2-40B4-BE49-F238E27FC236}">
                <a16:creationId xmlns:a16="http://schemas.microsoft.com/office/drawing/2014/main" id="{982B3366-30BF-CEE9-ECEC-D3FE46BFCC66}"/>
              </a:ext>
            </a:extLst>
          </p:cNvPr>
          <p:cNvSpPr/>
          <p:nvPr/>
        </p:nvSpPr>
        <p:spPr>
          <a:xfrm>
            <a:off x="4663440" y="3730752"/>
            <a:ext cx="521208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4E8F2"/>
            </a:solidFill>
            <a:prstDash val="solid"/>
          </a:ln>
        </p:spPr>
      </p:sp>
      <p:sp>
        <p:nvSpPr>
          <p:cNvPr id="99" name="Text 48">
            <a:extLst>
              <a:ext uri="{FF2B5EF4-FFF2-40B4-BE49-F238E27FC236}">
                <a16:creationId xmlns:a16="http://schemas.microsoft.com/office/drawing/2014/main" id="{3F688A78-8F3E-64BA-4366-E02A26EC0D16}"/>
              </a:ext>
            </a:extLst>
          </p:cNvPr>
          <p:cNvSpPr/>
          <p:nvPr/>
        </p:nvSpPr>
        <p:spPr>
          <a:xfrm>
            <a:off x="4773168" y="3730752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잔액 0(완납) &amp; 연간 거래 ≥ 55건</a:t>
            </a:r>
            <a:endParaRPr lang="en-US" sz="950" dirty="0"/>
          </a:p>
        </p:txBody>
      </p:sp>
      <p:sp>
        <p:nvSpPr>
          <p:cNvPr id="101" name="Shape 49">
            <a:extLst>
              <a:ext uri="{FF2B5EF4-FFF2-40B4-BE49-F238E27FC236}">
                <a16:creationId xmlns:a16="http://schemas.microsoft.com/office/drawing/2014/main" id="{1A8B456D-2A77-9BF3-D1D7-89DE2EA15CEF}"/>
              </a:ext>
            </a:extLst>
          </p:cNvPr>
          <p:cNvSpPr/>
          <p:nvPr/>
        </p:nvSpPr>
        <p:spPr>
          <a:xfrm>
            <a:off x="9875520" y="3778223"/>
            <a:ext cx="16459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4E8F2"/>
            </a:solidFill>
            <a:prstDash val="solid"/>
          </a:ln>
        </p:spPr>
      </p:sp>
      <p:sp>
        <p:nvSpPr>
          <p:cNvPr id="103" name="Text 50">
            <a:extLst>
              <a:ext uri="{FF2B5EF4-FFF2-40B4-BE49-F238E27FC236}">
                <a16:creationId xmlns:a16="http://schemas.microsoft.com/office/drawing/2014/main" id="{28FDB4AB-1D9E-8A71-515A-66A5E8B5649B}"/>
              </a:ext>
            </a:extLst>
          </p:cNvPr>
          <p:cNvSpPr/>
          <p:nvPr/>
        </p:nvSpPr>
        <p:spPr>
          <a:xfrm>
            <a:off x="9985248" y="3730752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12.2%</a:t>
            </a:r>
            <a:endParaRPr lang="en-US" sz="1050" dirty="0"/>
          </a:p>
        </p:txBody>
      </p:sp>
      <p:sp>
        <p:nvSpPr>
          <p:cNvPr id="105" name="Shape 51">
            <a:extLst>
              <a:ext uri="{FF2B5EF4-FFF2-40B4-BE49-F238E27FC236}">
                <a16:creationId xmlns:a16="http://schemas.microsoft.com/office/drawing/2014/main" id="{96D6C2C4-7568-3708-8F8F-1D8C469EF640}"/>
              </a:ext>
            </a:extLst>
          </p:cNvPr>
          <p:cNvSpPr/>
          <p:nvPr/>
        </p:nvSpPr>
        <p:spPr>
          <a:xfrm>
            <a:off x="640080" y="4133088"/>
            <a:ext cx="1280160" cy="402336"/>
          </a:xfrm>
          <a:prstGeom prst="rect">
            <a:avLst/>
          </a:prstGeom>
          <a:solidFill>
            <a:srgbClr val="EDF1F9"/>
          </a:solidFill>
          <a:ln w="9525">
            <a:solidFill>
              <a:srgbClr val="E4E8F2"/>
            </a:solidFill>
            <a:prstDash val="solid"/>
          </a:ln>
        </p:spPr>
      </p:sp>
      <p:sp>
        <p:nvSpPr>
          <p:cNvPr id="107" name="Text 52">
            <a:extLst>
              <a:ext uri="{FF2B5EF4-FFF2-40B4-BE49-F238E27FC236}">
                <a16:creationId xmlns:a16="http://schemas.microsoft.com/office/drawing/2014/main" id="{3BCDBF96-A46A-92EF-8109-2278EC6683E4}"/>
              </a:ext>
            </a:extLst>
          </p:cNvPr>
          <p:cNvSpPr/>
          <p:nvPr/>
        </p:nvSpPr>
        <p:spPr>
          <a:xfrm>
            <a:off x="749808" y="4133088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A893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100</a:t>
            </a:r>
            <a:endParaRPr lang="en-US" sz="1050" dirty="0"/>
          </a:p>
        </p:txBody>
      </p:sp>
      <p:sp>
        <p:nvSpPr>
          <p:cNvPr id="109" name="Shape 53">
            <a:extLst>
              <a:ext uri="{FF2B5EF4-FFF2-40B4-BE49-F238E27FC236}">
                <a16:creationId xmlns:a16="http://schemas.microsoft.com/office/drawing/2014/main" id="{C2C89338-2BA7-3AF4-0D64-03B3AE367944}"/>
              </a:ext>
            </a:extLst>
          </p:cNvPr>
          <p:cNvSpPr/>
          <p:nvPr/>
        </p:nvSpPr>
        <p:spPr>
          <a:xfrm>
            <a:off x="1920240" y="4133088"/>
            <a:ext cx="2743200" cy="402336"/>
          </a:xfrm>
          <a:prstGeom prst="rect">
            <a:avLst/>
          </a:prstGeom>
          <a:solidFill>
            <a:srgbClr val="EDF1F9"/>
          </a:solidFill>
          <a:ln w="9525">
            <a:solidFill>
              <a:srgbClr val="E4E8F2"/>
            </a:solidFill>
            <a:prstDash val="solid"/>
          </a:ln>
        </p:spPr>
      </p:sp>
      <p:sp>
        <p:nvSpPr>
          <p:cNvPr id="111" name="Text 54">
            <a:extLst>
              <a:ext uri="{FF2B5EF4-FFF2-40B4-BE49-F238E27FC236}">
                <a16:creationId xmlns:a16="http://schemas.microsoft.com/office/drawing/2014/main" id="{5D6C6C61-679C-3174-10C4-CC7EDF2D1D6D}"/>
              </a:ext>
            </a:extLst>
          </p:cNvPr>
          <p:cNvSpPr/>
          <p:nvPr/>
        </p:nvSpPr>
        <p:spPr>
          <a:xfrm>
            <a:off x="2029968" y="4133088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34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우량 고객 업셀링</a:t>
            </a:r>
            <a:endParaRPr lang="en-US" sz="1050" dirty="0"/>
          </a:p>
        </p:txBody>
      </p:sp>
      <p:sp>
        <p:nvSpPr>
          <p:cNvPr id="113" name="Shape 55">
            <a:extLst>
              <a:ext uri="{FF2B5EF4-FFF2-40B4-BE49-F238E27FC236}">
                <a16:creationId xmlns:a16="http://schemas.microsoft.com/office/drawing/2014/main" id="{76005FFA-3F69-9159-56ED-A561E5284490}"/>
              </a:ext>
            </a:extLst>
          </p:cNvPr>
          <p:cNvSpPr/>
          <p:nvPr/>
        </p:nvSpPr>
        <p:spPr>
          <a:xfrm>
            <a:off x="4663440" y="4133088"/>
            <a:ext cx="5212080" cy="402336"/>
          </a:xfrm>
          <a:prstGeom prst="rect">
            <a:avLst/>
          </a:prstGeom>
          <a:solidFill>
            <a:srgbClr val="EDF1F9"/>
          </a:solidFill>
          <a:ln w="9525">
            <a:solidFill>
              <a:srgbClr val="E4E8F2"/>
            </a:solidFill>
            <a:prstDash val="solid"/>
          </a:ln>
        </p:spPr>
      </p:sp>
      <p:sp>
        <p:nvSpPr>
          <p:cNvPr id="115" name="Text 56">
            <a:extLst>
              <a:ext uri="{FF2B5EF4-FFF2-40B4-BE49-F238E27FC236}">
                <a16:creationId xmlns:a16="http://schemas.microsoft.com/office/drawing/2014/main" id="{D8A5E867-36A9-CDFD-0A55-D517F9868AE6}"/>
              </a:ext>
            </a:extLst>
          </p:cNvPr>
          <p:cNvSpPr/>
          <p:nvPr/>
        </p:nvSpPr>
        <p:spPr>
          <a:xfrm>
            <a:off x="4773168" y="4133088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low &amp; 우량(예상이상) 군집</a:t>
            </a:r>
            <a:endParaRPr lang="en-US" sz="950" dirty="0"/>
          </a:p>
        </p:txBody>
      </p:sp>
      <p:sp>
        <p:nvSpPr>
          <p:cNvPr id="117" name="Shape 57">
            <a:extLst>
              <a:ext uri="{FF2B5EF4-FFF2-40B4-BE49-F238E27FC236}">
                <a16:creationId xmlns:a16="http://schemas.microsoft.com/office/drawing/2014/main" id="{82F240A0-BD0E-802D-5C93-415FEAF401BF}"/>
              </a:ext>
            </a:extLst>
          </p:cNvPr>
          <p:cNvSpPr/>
          <p:nvPr/>
        </p:nvSpPr>
        <p:spPr>
          <a:xfrm>
            <a:off x="9875520" y="4133088"/>
            <a:ext cx="1645920" cy="402336"/>
          </a:xfrm>
          <a:prstGeom prst="rect">
            <a:avLst/>
          </a:prstGeom>
          <a:solidFill>
            <a:srgbClr val="EDF1F9"/>
          </a:solidFill>
          <a:ln w="9525">
            <a:solidFill>
              <a:srgbClr val="E4E8F2"/>
            </a:solidFill>
            <a:prstDash val="solid"/>
          </a:ln>
        </p:spPr>
      </p:sp>
      <p:sp>
        <p:nvSpPr>
          <p:cNvPr id="119" name="Text 58">
            <a:extLst>
              <a:ext uri="{FF2B5EF4-FFF2-40B4-BE49-F238E27FC236}">
                <a16:creationId xmlns:a16="http://schemas.microsoft.com/office/drawing/2014/main" id="{553363A4-160D-5F3A-902C-82A334DE2366}"/>
              </a:ext>
            </a:extLst>
          </p:cNvPr>
          <p:cNvSpPr/>
          <p:nvPr/>
        </p:nvSpPr>
        <p:spPr>
          <a:xfrm>
            <a:off x="9985248" y="4133088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모델 기반</a:t>
            </a:r>
            <a:endParaRPr lang="en-US" sz="1050" dirty="0"/>
          </a:p>
        </p:txBody>
      </p:sp>
      <p:sp>
        <p:nvSpPr>
          <p:cNvPr id="121" name="Shape 59">
            <a:extLst>
              <a:ext uri="{FF2B5EF4-FFF2-40B4-BE49-F238E27FC236}">
                <a16:creationId xmlns:a16="http://schemas.microsoft.com/office/drawing/2014/main" id="{E3FD1153-72F1-11EA-7785-114298428A19}"/>
              </a:ext>
            </a:extLst>
          </p:cNvPr>
          <p:cNvSpPr/>
          <p:nvPr/>
        </p:nvSpPr>
        <p:spPr>
          <a:xfrm>
            <a:off x="640080" y="4535424"/>
            <a:ext cx="128016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4E8F2"/>
            </a:solidFill>
            <a:prstDash val="solid"/>
          </a:ln>
        </p:spPr>
      </p:sp>
      <p:sp>
        <p:nvSpPr>
          <p:cNvPr id="123" name="Text 60">
            <a:extLst>
              <a:ext uri="{FF2B5EF4-FFF2-40B4-BE49-F238E27FC236}">
                <a16:creationId xmlns:a16="http://schemas.microsoft.com/office/drawing/2014/main" id="{53AEF41F-D022-FA87-6949-6CBCB579E465}"/>
              </a:ext>
            </a:extLst>
          </p:cNvPr>
          <p:cNvSpPr/>
          <p:nvPr/>
        </p:nvSpPr>
        <p:spPr>
          <a:xfrm>
            <a:off x="749808" y="4535424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A893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90</a:t>
            </a:r>
            <a:endParaRPr lang="en-US" sz="1050" dirty="0"/>
          </a:p>
        </p:txBody>
      </p:sp>
      <p:sp>
        <p:nvSpPr>
          <p:cNvPr id="125" name="Shape 61">
            <a:extLst>
              <a:ext uri="{FF2B5EF4-FFF2-40B4-BE49-F238E27FC236}">
                <a16:creationId xmlns:a16="http://schemas.microsoft.com/office/drawing/2014/main" id="{14136A6E-0CBB-0F5B-903F-A2A26B162CA8}"/>
              </a:ext>
            </a:extLst>
          </p:cNvPr>
          <p:cNvSpPr/>
          <p:nvPr/>
        </p:nvSpPr>
        <p:spPr>
          <a:xfrm>
            <a:off x="1920240" y="4535424"/>
            <a:ext cx="27432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4E8F2"/>
            </a:solidFill>
            <a:prstDash val="solid"/>
          </a:ln>
        </p:spPr>
      </p:sp>
      <p:sp>
        <p:nvSpPr>
          <p:cNvPr id="127" name="Text 62">
            <a:extLst>
              <a:ext uri="{FF2B5EF4-FFF2-40B4-BE49-F238E27FC236}">
                <a16:creationId xmlns:a16="http://schemas.microsoft.com/office/drawing/2014/main" id="{5DB793DF-8F1B-678F-FEFF-C64C90286A10}"/>
              </a:ext>
            </a:extLst>
          </p:cNvPr>
          <p:cNvSpPr/>
          <p:nvPr/>
        </p:nvSpPr>
        <p:spPr>
          <a:xfrm>
            <a:off x="2029968" y="4535424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34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안정 우량 업셀링</a:t>
            </a:r>
            <a:endParaRPr lang="en-US" sz="1050" dirty="0"/>
          </a:p>
        </p:txBody>
      </p:sp>
      <p:sp>
        <p:nvSpPr>
          <p:cNvPr id="129" name="Shape 63">
            <a:extLst>
              <a:ext uri="{FF2B5EF4-FFF2-40B4-BE49-F238E27FC236}">
                <a16:creationId xmlns:a16="http://schemas.microsoft.com/office/drawing/2014/main" id="{40550F11-2185-F004-F0AF-C1E227F3B08B}"/>
              </a:ext>
            </a:extLst>
          </p:cNvPr>
          <p:cNvSpPr/>
          <p:nvPr/>
        </p:nvSpPr>
        <p:spPr>
          <a:xfrm>
            <a:off x="4663440" y="4535424"/>
            <a:ext cx="521208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4E8F2"/>
            </a:solidFill>
            <a:prstDash val="solid"/>
          </a:ln>
        </p:spPr>
      </p:sp>
      <p:sp>
        <p:nvSpPr>
          <p:cNvPr id="131" name="Text 64">
            <a:extLst>
              <a:ext uri="{FF2B5EF4-FFF2-40B4-BE49-F238E27FC236}">
                <a16:creationId xmlns:a16="http://schemas.microsoft.com/office/drawing/2014/main" id="{A3B265DB-D3AD-9063-A9D0-69751B1F4578}"/>
              </a:ext>
            </a:extLst>
          </p:cNvPr>
          <p:cNvSpPr/>
          <p:nvPr/>
        </p:nvSpPr>
        <p:spPr>
          <a:xfrm>
            <a:off x="4773168" y="4535424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리볼빙 잔액 1,000~2,000원 구간</a:t>
            </a:r>
            <a:endParaRPr lang="en-US" sz="950" dirty="0"/>
          </a:p>
        </p:txBody>
      </p:sp>
      <p:sp>
        <p:nvSpPr>
          <p:cNvPr id="133" name="Shape 65">
            <a:extLst>
              <a:ext uri="{FF2B5EF4-FFF2-40B4-BE49-F238E27FC236}">
                <a16:creationId xmlns:a16="http://schemas.microsoft.com/office/drawing/2014/main" id="{2EF23742-F69B-C199-4003-5E1231BD42CE}"/>
              </a:ext>
            </a:extLst>
          </p:cNvPr>
          <p:cNvSpPr/>
          <p:nvPr/>
        </p:nvSpPr>
        <p:spPr>
          <a:xfrm>
            <a:off x="9875520" y="4535424"/>
            <a:ext cx="16459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4E8F2"/>
            </a:solidFill>
            <a:prstDash val="solid"/>
          </a:ln>
        </p:spPr>
      </p:sp>
      <p:sp>
        <p:nvSpPr>
          <p:cNvPr id="135" name="Text 66">
            <a:extLst>
              <a:ext uri="{FF2B5EF4-FFF2-40B4-BE49-F238E27FC236}">
                <a16:creationId xmlns:a16="http://schemas.microsoft.com/office/drawing/2014/main" id="{6065779E-0EFB-7B2B-EA94-F1599B0A040E}"/>
              </a:ext>
            </a:extLst>
          </p:cNvPr>
          <p:cNvSpPr/>
          <p:nvPr/>
        </p:nvSpPr>
        <p:spPr>
          <a:xfrm>
            <a:off x="9985248" y="4535424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4.6% (최저)</a:t>
            </a:r>
            <a:endParaRPr lang="en-US" sz="1050" dirty="0"/>
          </a:p>
        </p:txBody>
      </p:sp>
      <p:sp>
        <p:nvSpPr>
          <p:cNvPr id="137" name="Text 67">
            <a:extLst>
              <a:ext uri="{FF2B5EF4-FFF2-40B4-BE49-F238E27FC236}">
                <a16:creationId xmlns:a16="http://schemas.microsoft.com/office/drawing/2014/main" id="{BBF34712-16A0-EFCC-440B-0E9BFB0BC35C}"/>
              </a:ext>
            </a:extLst>
          </p:cNvPr>
          <p:cNvSpPr/>
          <p:nvPr/>
        </p:nvSpPr>
        <p:spPr>
          <a:xfrm>
            <a:off x="640080" y="512064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B234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이중 근거 전략 — </a:t>
            </a: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상위 3종은 모델 예측, 원본 지표 4종은 리볼빙 잔액·거래건수만으로 판정. train/test 양쪽에서 이탈률 차이가 재현된 조건만 채택합니다.</a:t>
            </a:r>
            <a:endParaRPr lang="en-US" sz="1050" dirty="0"/>
          </a:p>
        </p:txBody>
      </p:sp>
      <p:sp>
        <p:nvSpPr>
          <p:cNvPr id="139" name="Text 68">
            <a:extLst>
              <a:ext uri="{FF2B5EF4-FFF2-40B4-BE49-F238E27FC236}">
                <a16:creationId xmlns:a16="http://schemas.microsoft.com/office/drawing/2014/main" id="{42182D68-8566-C600-5710-88B15776B209}"/>
              </a:ext>
            </a:extLst>
          </p:cNvPr>
          <p:cNvSpPr/>
          <p:nvPr/>
        </p:nvSpPr>
        <p:spPr>
          <a:xfrm>
            <a:off x="640080" y="5504688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B234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설명 가능한 캠페인 — </a:t>
            </a: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캠페인 설명에 선정 조건과 검증 이탈률을 그대로 기록. 미리보기는 후보·순위·제외 사유를 스냅샷으로 남깁니다.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228278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Text 202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altLang="en-US" sz="1200" b="1" i="0" spc="200" dirty="0">
                <a:solidFill>
                  <a:srgbClr val="5558D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02 · 비즈니스 로직</a:t>
            </a:r>
          </a:p>
        </p:txBody>
      </p:sp>
      <p:sp>
        <p:nvSpPr>
          <p:cNvPr id="204" name="Text 204"/>
          <p:cNvSpPr/>
          <p:nvPr/>
        </p:nvSpPr>
        <p:spPr>
          <a:xfrm>
            <a:off x="640080" y="777240"/>
            <a:ext cx="1091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altLang="en-US" sz="2500" b="1" i="0" dirty="0">
                <a:solidFill>
                  <a:srgbClr val="1B234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캠페인 상태는 두 층 — 전이 규칙을 코드와 DB가 이중으로 강제</a:t>
            </a:r>
          </a:p>
        </p:txBody>
      </p:sp>
      <p:sp>
        <p:nvSpPr>
          <p:cNvPr id="206" name="Text 206"/>
          <p:cNvSpPr/>
          <p:nvPr/>
        </p:nvSpPr>
        <p:spPr>
          <a:xfrm>
            <a:off x="640080" y="1508760"/>
            <a:ext cx="1091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altLang="en-US" sz="1500" b="1" i="0" dirty="0">
                <a:solidFill>
                  <a:srgbClr val="1B234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캠페인 생명주기 · CampaignLifecycleStatus</a:t>
            </a:r>
          </a:p>
        </p:txBody>
      </p:sp>
      <p:sp>
        <p:nvSpPr>
          <p:cNvPr id="208" name="Shape 208"/>
          <p:cNvSpPr/>
          <p:nvPr/>
        </p:nvSpPr>
        <p:spPr>
          <a:xfrm>
            <a:off x="940080" y="1965960"/>
            <a:ext cx="2100000" cy="52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7CCDA"/>
            </a:solidFill>
            <a:prstDash val="solid"/>
          </a:ln>
          <a:effectLst>
            <a:outerShdw blurRad="76200" dist="25400" dir="5400000" algn="bl" rotWithShape="0">
              <a:srgbClr val="1B2340">
                <a:alpha val="15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10" name="Text 210"/>
          <p:cNvSpPr/>
          <p:nvPr/>
        </p:nvSpPr>
        <p:spPr>
          <a:xfrm>
            <a:off x="940080" y="1965960"/>
            <a:ext cx="2100000" cy="5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300" b="1" i="0" dirty="0">
                <a:solidFill>
                  <a:srgbClr val="1B234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초안</a:t>
            </a:r>
          </a:p>
        </p:txBody>
      </p:sp>
      <p:sp>
        <p:nvSpPr>
          <p:cNvPr id="212" name="Text 212"/>
          <p:cNvSpPr/>
          <p:nvPr/>
        </p:nvSpPr>
        <p:spPr>
          <a:xfrm>
            <a:off x="3040080" y="1965960"/>
            <a:ext cx="627120" cy="5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500" b="0" i="0" dirty="0">
                <a:solidFill>
                  <a:srgbClr val="5558D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→</a:t>
            </a:r>
          </a:p>
        </p:txBody>
      </p:sp>
      <p:sp>
        <p:nvSpPr>
          <p:cNvPr id="214" name="Shape 214"/>
          <p:cNvSpPr/>
          <p:nvPr/>
        </p:nvSpPr>
        <p:spPr>
          <a:xfrm>
            <a:off x="3667200" y="1965960"/>
            <a:ext cx="2100000" cy="52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7CCDA"/>
            </a:solidFill>
            <a:prstDash val="solid"/>
          </a:ln>
          <a:effectLst>
            <a:outerShdw blurRad="76200" dist="25400" dir="5400000" algn="bl" rotWithShape="0">
              <a:srgbClr val="1B2340">
                <a:alpha val="15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16" name="Text 216"/>
          <p:cNvSpPr/>
          <p:nvPr/>
        </p:nvSpPr>
        <p:spPr>
          <a:xfrm>
            <a:off x="3667200" y="1965960"/>
            <a:ext cx="2100000" cy="5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300" b="1" i="0" dirty="0">
                <a:solidFill>
                  <a:srgbClr val="1B234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예정</a:t>
            </a:r>
          </a:p>
        </p:txBody>
      </p:sp>
      <p:sp>
        <p:nvSpPr>
          <p:cNvPr id="218" name="Text 218"/>
          <p:cNvSpPr/>
          <p:nvPr/>
        </p:nvSpPr>
        <p:spPr>
          <a:xfrm>
            <a:off x="5767200" y="1965960"/>
            <a:ext cx="627120" cy="5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500" b="0" i="0" dirty="0">
                <a:solidFill>
                  <a:srgbClr val="5558D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→</a:t>
            </a:r>
          </a:p>
        </p:txBody>
      </p:sp>
      <p:sp>
        <p:nvSpPr>
          <p:cNvPr id="220" name="Shape 220"/>
          <p:cNvSpPr/>
          <p:nvPr/>
        </p:nvSpPr>
        <p:spPr>
          <a:xfrm>
            <a:off x="6394320" y="1965960"/>
            <a:ext cx="2100000" cy="520000"/>
          </a:xfrm>
          <a:prstGeom prst="roundRect">
            <a:avLst>
              <a:gd name="adj" fmla="val 50000"/>
            </a:avLst>
          </a:prstGeom>
          <a:solidFill>
            <a:srgbClr val="EEEEFF"/>
          </a:solidFill>
          <a:ln w="22225">
            <a:solidFill>
              <a:srgbClr val="5558DC"/>
            </a:solidFill>
            <a:prstDash val="solid"/>
          </a:ln>
          <a:effectLst>
            <a:outerShdw blurRad="76200" dist="25400" dir="5400000" algn="bl" rotWithShape="0">
              <a:srgbClr val="1B2340">
                <a:alpha val="15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22" name="Text 222"/>
          <p:cNvSpPr/>
          <p:nvPr/>
        </p:nvSpPr>
        <p:spPr>
          <a:xfrm>
            <a:off x="6394320" y="1965960"/>
            <a:ext cx="2100000" cy="5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300" b="1" i="0" dirty="0">
                <a:solidFill>
                  <a:srgbClr val="5558D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진행</a:t>
            </a:r>
          </a:p>
        </p:txBody>
      </p:sp>
      <p:sp>
        <p:nvSpPr>
          <p:cNvPr id="224" name="Text 224"/>
          <p:cNvSpPr/>
          <p:nvPr/>
        </p:nvSpPr>
        <p:spPr>
          <a:xfrm>
            <a:off x="8494320" y="1965960"/>
            <a:ext cx="627120" cy="5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500" b="0" i="0" dirty="0">
                <a:solidFill>
                  <a:srgbClr val="5558D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→</a:t>
            </a:r>
          </a:p>
        </p:txBody>
      </p:sp>
      <p:sp>
        <p:nvSpPr>
          <p:cNvPr id="226" name="Shape 226"/>
          <p:cNvSpPr/>
          <p:nvPr/>
        </p:nvSpPr>
        <p:spPr>
          <a:xfrm>
            <a:off x="9121440" y="1965960"/>
            <a:ext cx="2100000" cy="520000"/>
          </a:xfrm>
          <a:prstGeom prst="roundRect">
            <a:avLst>
              <a:gd name="adj" fmla="val 50000"/>
            </a:avLst>
          </a:prstGeom>
          <a:solidFill>
            <a:srgbClr val="EEEEFF"/>
          </a:solidFill>
          <a:ln w="22225">
            <a:solidFill>
              <a:srgbClr val="5558DC"/>
            </a:solidFill>
            <a:prstDash val="solid"/>
          </a:ln>
          <a:effectLst>
            <a:outerShdw blurRad="76200" dist="25400" dir="5400000" algn="bl" rotWithShape="0">
              <a:srgbClr val="1B2340">
                <a:alpha val="15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28" name="Text 228"/>
          <p:cNvSpPr/>
          <p:nvPr/>
        </p:nvSpPr>
        <p:spPr>
          <a:xfrm>
            <a:off x="9121440" y="1965960"/>
            <a:ext cx="2100000" cy="5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300" b="1" i="0" dirty="0">
                <a:solidFill>
                  <a:srgbClr val="5558D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완료</a:t>
            </a:r>
          </a:p>
        </p:txBody>
      </p:sp>
      <p:sp>
        <p:nvSpPr>
          <p:cNvPr id="230" name="Text 230"/>
          <p:cNvSpPr/>
          <p:nvPr/>
        </p:nvSpPr>
        <p:spPr>
          <a:xfrm>
            <a:off x="6394320" y="2485960"/>
            <a:ext cx="21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500" b="0" i="0" dirty="0">
                <a:solidFill>
                  <a:srgbClr val="5558D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⇅</a:t>
            </a:r>
          </a:p>
        </p:txBody>
      </p:sp>
      <p:sp>
        <p:nvSpPr>
          <p:cNvPr id="232" name="Shape 232"/>
          <p:cNvSpPr/>
          <p:nvPr/>
        </p:nvSpPr>
        <p:spPr>
          <a:xfrm>
            <a:off x="6394320" y="2785960"/>
            <a:ext cx="2100000" cy="520000"/>
          </a:xfrm>
          <a:prstGeom prst="roundRect">
            <a:avLst>
              <a:gd name="adj" fmla="val 50000"/>
            </a:avLst>
          </a:prstGeom>
          <a:solidFill>
            <a:srgbClr val="EEEEFF"/>
          </a:solidFill>
          <a:ln w="22225">
            <a:solidFill>
              <a:srgbClr val="5558DC"/>
            </a:solidFill>
            <a:prstDash val="solid"/>
          </a:ln>
          <a:effectLst>
            <a:outerShdw blurRad="76200" dist="25400" dir="5400000" algn="bl" rotWithShape="0">
              <a:srgbClr val="1B2340">
                <a:alpha val="15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34" name="Text 234"/>
          <p:cNvSpPr/>
          <p:nvPr/>
        </p:nvSpPr>
        <p:spPr>
          <a:xfrm>
            <a:off x="6394320" y="2785960"/>
            <a:ext cx="2100000" cy="5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300" b="1" i="0" dirty="0">
                <a:solidFill>
                  <a:srgbClr val="5558D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일시중지</a:t>
            </a:r>
          </a:p>
        </p:txBody>
      </p:sp>
      <p:sp>
        <p:nvSpPr>
          <p:cNvPr id="236" name="Text 236"/>
          <p:cNvSpPr/>
          <p:nvPr/>
        </p:nvSpPr>
        <p:spPr>
          <a:xfrm>
            <a:off x="3667200" y="2485960"/>
            <a:ext cx="21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500" b="0" i="0" dirty="0">
                <a:solidFill>
                  <a:srgbClr val="D13F57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↓</a:t>
            </a:r>
          </a:p>
        </p:txBody>
      </p:sp>
      <p:sp>
        <p:nvSpPr>
          <p:cNvPr id="238" name="Shape 238"/>
          <p:cNvSpPr/>
          <p:nvPr/>
        </p:nvSpPr>
        <p:spPr>
          <a:xfrm>
            <a:off x="3667200" y="2785960"/>
            <a:ext cx="2100000" cy="520000"/>
          </a:xfrm>
          <a:prstGeom prst="roundRect">
            <a:avLst>
              <a:gd name="adj" fmla="val 50000"/>
            </a:avLst>
          </a:prstGeom>
          <a:solidFill>
            <a:srgbClr val="FFF0F2"/>
          </a:solidFill>
          <a:ln w="22225">
            <a:solidFill>
              <a:srgbClr val="D13F57"/>
            </a:solidFill>
            <a:prstDash val="solid"/>
          </a:ln>
          <a:effectLst>
            <a:outerShdw blurRad="76200" dist="25400" dir="5400000" algn="bl" rotWithShape="0">
              <a:srgbClr val="1B2340">
                <a:alpha val="15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40" name="Text 240"/>
          <p:cNvSpPr/>
          <p:nvPr/>
        </p:nvSpPr>
        <p:spPr>
          <a:xfrm>
            <a:off x="3667200" y="2785960"/>
            <a:ext cx="2100000" cy="5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300" b="1" i="0" dirty="0">
                <a:solidFill>
                  <a:srgbClr val="D13F57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cancelled</a:t>
            </a:r>
          </a:p>
        </p:txBody>
      </p:sp>
      <p:sp>
        <p:nvSpPr>
          <p:cNvPr id="242" name="Text 242"/>
          <p:cNvSpPr/>
          <p:nvPr/>
        </p:nvSpPr>
        <p:spPr>
          <a:xfrm>
            <a:off x="9121440" y="2785960"/>
            <a:ext cx="2400000" cy="5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altLang="en-US" sz="1000" b="0" i="1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완료전 언제든 cancelled 가능</a:t>
            </a:r>
          </a:p>
        </p:txBody>
      </p:sp>
      <p:sp>
        <p:nvSpPr>
          <p:cNvPr id="244" name="Text 244"/>
          <p:cNvSpPr/>
          <p:nvPr/>
        </p:nvSpPr>
        <p:spPr>
          <a:xfrm>
            <a:off x="640080" y="3465960"/>
            <a:ext cx="10911840" cy="4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ko-KR" altLang="en-US" sz="1100" b="0" i="1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개입군에 미처리 대상이 남아 있으면 완료로 전환할 수 없습니다 · 일시중지에서도 완료로 바로 전환할 수 있습니다.</a:t>
            </a:r>
          </a:p>
        </p:txBody>
      </p:sp>
      <p:sp>
        <p:nvSpPr>
          <p:cNvPr id="246" name="Text 246"/>
          <p:cNvSpPr/>
          <p:nvPr/>
        </p:nvSpPr>
        <p:spPr>
          <a:xfrm>
            <a:off x="640080" y="3925960"/>
            <a:ext cx="1091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altLang="en-US" sz="1500" b="1" i="0" dirty="0">
                <a:solidFill>
                  <a:srgbClr val="1B234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대상 처리 상태 · CampaignStatus</a:t>
            </a:r>
          </a:p>
        </p:txBody>
      </p:sp>
      <p:sp>
        <p:nvSpPr>
          <p:cNvPr id="248" name="Shape 248"/>
          <p:cNvSpPr/>
          <p:nvPr/>
        </p:nvSpPr>
        <p:spPr>
          <a:xfrm>
            <a:off x="940080" y="4385960"/>
            <a:ext cx="2100000" cy="52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7CCDA"/>
            </a:solidFill>
            <a:prstDash val="solid"/>
          </a:ln>
          <a:effectLst>
            <a:outerShdw blurRad="76200" dist="25400" dir="5400000" algn="bl" rotWithShape="0">
              <a:srgbClr val="1B2340">
                <a:alpha val="15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50" name="Text 250"/>
          <p:cNvSpPr/>
          <p:nvPr/>
        </p:nvSpPr>
        <p:spPr>
          <a:xfrm>
            <a:off x="940080" y="4385960"/>
            <a:ext cx="2100000" cy="5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300" b="1" i="0" dirty="0">
                <a:solidFill>
                  <a:srgbClr val="1B234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대기</a:t>
            </a:r>
          </a:p>
        </p:txBody>
      </p:sp>
      <p:sp>
        <p:nvSpPr>
          <p:cNvPr id="252" name="Text 252"/>
          <p:cNvSpPr/>
          <p:nvPr/>
        </p:nvSpPr>
        <p:spPr>
          <a:xfrm>
            <a:off x="3040080" y="4385960"/>
            <a:ext cx="627120" cy="5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500" b="0" i="0" dirty="0">
                <a:solidFill>
                  <a:srgbClr val="5558D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⇄</a:t>
            </a:r>
          </a:p>
        </p:txBody>
      </p:sp>
      <p:sp>
        <p:nvSpPr>
          <p:cNvPr id="254" name="Shape 254"/>
          <p:cNvSpPr/>
          <p:nvPr/>
        </p:nvSpPr>
        <p:spPr>
          <a:xfrm>
            <a:off x="3667200" y="4385960"/>
            <a:ext cx="2100000" cy="52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7CCDA"/>
            </a:solidFill>
            <a:prstDash val="solid"/>
          </a:ln>
          <a:effectLst>
            <a:outerShdw blurRad="76200" dist="25400" dir="5400000" algn="bl" rotWithShape="0">
              <a:srgbClr val="1B2340">
                <a:alpha val="15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56" name="Text 256"/>
          <p:cNvSpPr/>
          <p:nvPr/>
        </p:nvSpPr>
        <p:spPr>
          <a:xfrm>
            <a:off x="3667200" y="4385960"/>
            <a:ext cx="2100000" cy="5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300" b="1" i="0" dirty="0">
                <a:solidFill>
                  <a:srgbClr val="1B234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배정</a:t>
            </a:r>
          </a:p>
        </p:txBody>
      </p:sp>
      <p:sp>
        <p:nvSpPr>
          <p:cNvPr id="258" name="Text 258"/>
          <p:cNvSpPr/>
          <p:nvPr/>
        </p:nvSpPr>
        <p:spPr>
          <a:xfrm>
            <a:off x="5767200" y="4385960"/>
            <a:ext cx="627120" cy="5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500" b="0" i="0" dirty="0">
                <a:solidFill>
                  <a:srgbClr val="5558D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→</a:t>
            </a:r>
          </a:p>
        </p:txBody>
      </p:sp>
      <p:sp>
        <p:nvSpPr>
          <p:cNvPr id="260" name="Shape 260"/>
          <p:cNvSpPr/>
          <p:nvPr/>
        </p:nvSpPr>
        <p:spPr>
          <a:xfrm>
            <a:off x="6394320" y="4385960"/>
            <a:ext cx="2100000" cy="520000"/>
          </a:xfrm>
          <a:prstGeom prst="roundRect">
            <a:avLst>
              <a:gd name="adj" fmla="val 50000"/>
            </a:avLst>
          </a:prstGeom>
          <a:solidFill>
            <a:srgbClr val="EEEEFF"/>
          </a:solidFill>
          <a:ln w="22225">
            <a:solidFill>
              <a:srgbClr val="5558DC"/>
            </a:solidFill>
            <a:prstDash val="solid"/>
          </a:ln>
          <a:effectLst>
            <a:outerShdw blurRad="76200" dist="25400" dir="5400000" algn="bl" rotWithShape="0">
              <a:srgbClr val="1B2340">
                <a:alpha val="15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62" name="Text 262"/>
          <p:cNvSpPr/>
          <p:nvPr/>
        </p:nvSpPr>
        <p:spPr>
          <a:xfrm>
            <a:off x="6394320" y="4385960"/>
            <a:ext cx="2100000" cy="5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300" b="1" i="0" dirty="0">
                <a:solidFill>
                  <a:srgbClr val="5558D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접촉</a:t>
            </a:r>
          </a:p>
        </p:txBody>
      </p:sp>
      <p:sp>
        <p:nvSpPr>
          <p:cNvPr id="264" name="Text 264"/>
          <p:cNvSpPr/>
          <p:nvPr/>
        </p:nvSpPr>
        <p:spPr>
          <a:xfrm>
            <a:off x="8494320" y="4385960"/>
            <a:ext cx="627120" cy="5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500" b="0" i="0" dirty="0">
                <a:solidFill>
                  <a:srgbClr val="5558D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→</a:t>
            </a:r>
          </a:p>
        </p:txBody>
      </p:sp>
      <p:sp>
        <p:nvSpPr>
          <p:cNvPr id="266" name="Shape 266"/>
          <p:cNvSpPr/>
          <p:nvPr/>
        </p:nvSpPr>
        <p:spPr>
          <a:xfrm>
            <a:off x="9121440" y="4385960"/>
            <a:ext cx="2100000" cy="520000"/>
          </a:xfrm>
          <a:prstGeom prst="roundRect">
            <a:avLst>
              <a:gd name="adj" fmla="val 50000"/>
            </a:avLst>
          </a:prstGeom>
          <a:solidFill>
            <a:srgbClr val="EEEEFF"/>
          </a:solidFill>
          <a:ln w="22225">
            <a:solidFill>
              <a:srgbClr val="5558DC"/>
            </a:solidFill>
            <a:prstDash val="solid"/>
          </a:ln>
          <a:effectLst>
            <a:outerShdw blurRad="76200" dist="25400" dir="5400000" algn="bl" rotWithShape="0">
              <a:srgbClr val="1B2340">
                <a:alpha val="15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68" name="Text 268"/>
          <p:cNvSpPr/>
          <p:nvPr/>
        </p:nvSpPr>
        <p:spPr>
          <a:xfrm>
            <a:off x="9121440" y="4385960"/>
            <a:ext cx="2100000" cy="5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300" b="1" i="0" dirty="0">
                <a:solidFill>
                  <a:srgbClr val="5558D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완료</a:t>
            </a:r>
          </a:p>
        </p:txBody>
      </p:sp>
      <p:sp>
        <p:nvSpPr>
          <p:cNvPr id="270" name="Shape 270"/>
          <p:cNvSpPr/>
          <p:nvPr/>
        </p:nvSpPr>
        <p:spPr>
          <a:xfrm>
            <a:off x="8971440" y="3915960"/>
            <a:ext cx="2400000" cy="32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C7CCDA"/>
            </a:solidFill>
            <a:prstDash val="solid"/>
          </a:ln>
          <a:effectLst>
            <a:outerShdw blurRad="76200" dist="25400" dir="5400000" algn="bl" rotWithShape="0">
              <a:srgbClr val="1B2340">
                <a:alpha val="15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72" name="Text 272"/>
          <p:cNvSpPr/>
          <p:nvPr/>
        </p:nvSpPr>
        <p:spPr>
          <a:xfrm>
            <a:off x="8971440" y="3915960"/>
            <a:ext cx="2400000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000" b="1" i="0" dirty="0">
                <a:solidFill>
                  <a:srgbClr val="1B234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여기서만 전환 입력 가능</a:t>
            </a:r>
          </a:p>
        </p:txBody>
      </p:sp>
      <p:sp>
        <p:nvSpPr>
          <p:cNvPr id="274" name="Text 274"/>
          <p:cNvSpPr/>
          <p:nvPr/>
        </p:nvSpPr>
        <p:spPr>
          <a:xfrm>
            <a:off x="9121440" y="4235960"/>
            <a:ext cx="2100000" cy="1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200" b="0" i="0" dirty="0">
                <a:solidFill>
                  <a:srgbClr val="5558D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↓</a:t>
            </a:r>
          </a:p>
        </p:txBody>
      </p:sp>
      <p:sp>
        <p:nvSpPr>
          <p:cNvPr id="276" name="Text 276"/>
          <p:cNvSpPr/>
          <p:nvPr/>
        </p:nvSpPr>
        <p:spPr>
          <a:xfrm>
            <a:off x="640080" y="5065960"/>
            <a:ext cx="10911840" cy="4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ko-KR" altLang="en-US" sz="1100" b="0" i="1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배정 해제(assigned→pending)는 허용, 접촉 취소는 불가 — 접촉은 되돌릴 수 없는 사실이므로.</a:t>
            </a:r>
          </a:p>
        </p:txBody>
      </p:sp>
      <p:sp>
        <p:nvSpPr>
          <p:cNvPr id="278" name="Shape 278"/>
          <p:cNvSpPr/>
          <p:nvPr/>
        </p:nvSpPr>
        <p:spPr>
          <a:xfrm>
            <a:off x="502920" y="5525960"/>
            <a:ext cx="11186160" cy="85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  <a:effectLst>
            <a:outerShdw blurRad="76200" dist="25400" dir="5400000" algn="bl" rotWithShape="0">
              <a:srgbClr val="1B2340">
                <a:alpha val="15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80" name="Text 280"/>
          <p:cNvSpPr/>
          <p:nvPr/>
        </p:nvSpPr>
        <p:spPr>
          <a:xfrm>
            <a:off x="867280" y="5525960"/>
            <a:ext cx="10457400" cy="8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altLang="en-US" sz="1200" b="0" i="0" dirty="0">
                <a:solidFill>
                  <a:srgbClr val="1B234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모든 상태값은 Python Enum + DB CHECK 제약을 이중으로 걸어, 애플리케이션 밖에서 들어오는 값도 차단합니다. 변경 이력은 campaign_events에 append-only로 기록됩니다.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AA893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03 · 역할 기반 접근 제어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34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4개 역할이 같은 데이터를 다른 화면 · 다른 권한으로 사용</a:t>
            </a:r>
            <a:endParaRPr lang="en-US" sz="2400" dirty="0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8E48AE75-D41F-564F-4B2C-641714CE8881}"/>
              </a:ext>
            </a:extLst>
          </p:cNvPr>
          <p:cNvGrpSpPr/>
          <p:nvPr/>
        </p:nvGrpSpPr>
        <p:grpSpPr>
          <a:xfrm>
            <a:off x="640080" y="1691640"/>
            <a:ext cx="11247120" cy="2136345"/>
            <a:chOff x="640080" y="1691640"/>
            <a:chExt cx="11247120" cy="2834640"/>
          </a:xfrm>
        </p:grpSpPr>
        <p:sp>
          <p:nvSpPr>
            <p:cNvPr id="4" name="Shape 2"/>
            <p:cNvSpPr/>
            <p:nvPr/>
          </p:nvSpPr>
          <p:spPr>
            <a:xfrm>
              <a:off x="640080" y="1691640"/>
              <a:ext cx="2331720" cy="4572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4E8F2"/>
              </a:solidFill>
              <a:prstDash val="solid"/>
            </a:ln>
            <a:effectLst>
              <a:outerShdw blurRad="76200" dist="25400" dir="5400000" algn="bl" rotWithShape="0">
                <a:srgbClr val="1B2340">
                  <a:alpha val="15000"/>
                </a:srgbClr>
              </a:outerShdw>
            </a:effectLst>
          </p:spPr>
        </p:sp>
        <p:sp>
          <p:nvSpPr>
            <p:cNvPr id="5" name="Text 3"/>
            <p:cNvSpPr/>
            <p:nvPr/>
          </p:nvSpPr>
          <p:spPr>
            <a:xfrm>
              <a:off x="777240" y="1691640"/>
              <a:ext cx="20574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B2340"/>
                  </a:solidFill>
                  <a:latin typeface="Calibri" pitchFamily="34" charset="0"/>
                  <a:ea typeface="맑은 고딕" pitchFamily="34" charset="-122"/>
                  <a:cs typeface="맑은 고딕" pitchFamily="34" charset="-120"/>
                </a:rPr>
                <a:t>역할</a:t>
              </a:r>
              <a:endParaRPr lang="en-US" sz="1200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2971800" y="1691640"/>
              <a:ext cx="2468880" cy="4572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4E8F2"/>
              </a:solidFill>
              <a:prstDash val="solid"/>
            </a:ln>
            <a:effectLst>
              <a:outerShdw blurRad="76200" dist="25400" dir="5400000" algn="bl" rotWithShape="0">
                <a:srgbClr val="1B2340">
                  <a:alpha val="15000"/>
                </a:srgbClr>
              </a:outerShdw>
            </a:effectLst>
          </p:spPr>
        </p:sp>
        <p:sp>
          <p:nvSpPr>
            <p:cNvPr id="7" name="Text 5"/>
            <p:cNvSpPr/>
            <p:nvPr/>
          </p:nvSpPr>
          <p:spPr>
            <a:xfrm>
              <a:off x="3108960" y="1691640"/>
              <a:ext cx="219456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B2340"/>
                  </a:solidFill>
                  <a:latin typeface="Calibri" pitchFamily="34" charset="0"/>
                  <a:ea typeface="맑은 고딕" pitchFamily="34" charset="-122"/>
                  <a:cs typeface="맑은 고딕" pitchFamily="34" charset="-120"/>
                </a:rPr>
                <a:t>화면</a:t>
              </a:r>
              <a:endParaRPr lang="en-US" sz="12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5440680" y="1691640"/>
              <a:ext cx="4206240" cy="4572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4E8F2"/>
              </a:solidFill>
              <a:prstDash val="solid"/>
            </a:ln>
            <a:effectLst>
              <a:outerShdw blurRad="76200" dist="25400" dir="5400000" algn="bl" rotWithShape="0">
                <a:srgbClr val="1B2340">
                  <a:alpha val="15000"/>
                </a:srgbClr>
              </a:outerShdw>
            </a:effectLst>
          </p:spPr>
        </p:sp>
        <p:sp>
          <p:nvSpPr>
            <p:cNvPr id="9" name="Text 7"/>
            <p:cNvSpPr/>
            <p:nvPr/>
          </p:nvSpPr>
          <p:spPr>
            <a:xfrm>
              <a:off x="5577840" y="1691640"/>
              <a:ext cx="393192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B2340"/>
                  </a:solidFill>
                  <a:latin typeface="Calibri" pitchFamily="34" charset="0"/>
                  <a:ea typeface="맑은 고딕" pitchFamily="34" charset="-122"/>
                  <a:cs typeface="맑은 고딕" pitchFamily="34" charset="-120"/>
                </a:rPr>
                <a:t>주요 업무</a:t>
              </a:r>
              <a:endParaRPr lang="en-US" sz="12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9646920" y="1691640"/>
              <a:ext cx="2240280" cy="4572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4E8F2"/>
              </a:solidFill>
              <a:prstDash val="solid"/>
            </a:ln>
            <a:effectLst>
              <a:outerShdw blurRad="76200" dist="25400" dir="5400000" algn="bl" rotWithShape="0">
                <a:srgbClr val="1B2340">
                  <a:alpha val="15000"/>
                </a:srgbClr>
              </a:outerShdw>
            </a:effectLst>
          </p:spPr>
        </p:sp>
        <p:sp>
          <p:nvSpPr>
            <p:cNvPr id="11" name="Text 9"/>
            <p:cNvSpPr/>
            <p:nvPr/>
          </p:nvSpPr>
          <p:spPr>
            <a:xfrm>
              <a:off x="9784080" y="1691640"/>
              <a:ext cx="196596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B2340"/>
                  </a:solidFill>
                  <a:latin typeface="Calibri" pitchFamily="34" charset="0"/>
                  <a:ea typeface="맑은 고딕" pitchFamily="34" charset="-122"/>
                  <a:cs typeface="맑은 고딕" pitchFamily="34" charset="-120"/>
                </a:rPr>
                <a:t>쓰기 권한</a:t>
              </a:r>
              <a:endParaRPr lang="en-US" sz="12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640080" y="2148840"/>
              <a:ext cx="2331720" cy="5943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4E8F2"/>
              </a:solidFill>
              <a:prstDash val="solid"/>
            </a:ln>
          </p:spPr>
        </p:sp>
        <p:sp>
          <p:nvSpPr>
            <p:cNvPr id="13" name="Text 11"/>
            <p:cNvSpPr/>
            <p:nvPr/>
          </p:nvSpPr>
          <p:spPr>
            <a:xfrm>
              <a:off x="777240" y="2148840"/>
              <a:ext cx="2057400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B2340"/>
                  </a:solidFill>
                  <a:latin typeface="Calibri" pitchFamily="34" charset="0"/>
                  <a:ea typeface="맑은 고딕" pitchFamily="34" charset="-122"/>
                  <a:cs typeface="맑은 고딕" pitchFamily="34" charset="-120"/>
                </a:rPr>
                <a:t>관리자 (admin)</a:t>
              </a:r>
              <a:endParaRPr lang="en-US" sz="115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2971800" y="2148840"/>
              <a:ext cx="2468880" cy="5943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4E8F2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3108960" y="2148840"/>
              <a:ext cx="2194560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6B7280"/>
                  </a:solidFill>
                  <a:latin typeface="Calibri" pitchFamily="34" charset="0"/>
                  <a:ea typeface="맑은 고딕" pitchFamily="34" charset="-122"/>
                  <a:cs typeface="맑은 고딕" pitchFamily="34" charset="-120"/>
                </a:rPr>
                <a:t>관리자 콘솔 · 전체 대시보드</a:t>
              </a:r>
              <a:endParaRPr lang="en-US" sz="115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5440680" y="2148840"/>
              <a:ext cx="4206240" cy="5943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4E8F2"/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5577840" y="2148840"/>
              <a:ext cx="3931920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6B7280"/>
                  </a:solidFill>
                  <a:latin typeface="Calibri" pitchFamily="34" charset="0"/>
                  <a:ea typeface="맑은 고딕" pitchFamily="34" charset="-122"/>
                  <a:cs typeface="맑은 고딕" pitchFamily="34" charset="-120"/>
                </a:rPr>
                <a:t>팀 계정 승인/역할 변경, 전체 지표 모니터링</a:t>
              </a:r>
              <a:endParaRPr lang="en-US" sz="115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9646920" y="2148840"/>
              <a:ext cx="2240280" cy="5943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4E8F2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9784080" y="2148840"/>
              <a:ext cx="1965960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6B7280"/>
                  </a:solidFill>
                  <a:latin typeface="Calibri" pitchFamily="34" charset="0"/>
                  <a:ea typeface="맑은 고딕" pitchFamily="34" charset="-122"/>
                  <a:cs typeface="맑은 고딕" pitchFamily="34" charset="-120"/>
                </a:rPr>
                <a:t>전체 권한</a:t>
              </a:r>
              <a:endParaRPr lang="en-US" sz="115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640080" y="2743200"/>
              <a:ext cx="2331720" cy="594360"/>
            </a:xfrm>
            <a:prstGeom prst="rect">
              <a:avLst/>
            </a:prstGeom>
            <a:solidFill>
              <a:srgbClr val="EDF1F9"/>
            </a:solidFill>
            <a:ln w="9525">
              <a:solidFill>
                <a:srgbClr val="E4E8F2"/>
              </a:solidFill>
              <a:prstDash val="solid"/>
            </a:ln>
          </p:spPr>
        </p:sp>
        <p:sp>
          <p:nvSpPr>
            <p:cNvPr id="21" name="Text 19"/>
            <p:cNvSpPr/>
            <p:nvPr/>
          </p:nvSpPr>
          <p:spPr>
            <a:xfrm>
              <a:off x="777240" y="2743200"/>
              <a:ext cx="2057400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B2340"/>
                  </a:solidFill>
                  <a:latin typeface="Calibri" pitchFamily="34" charset="0"/>
                  <a:ea typeface="맑은 고딕" pitchFamily="34" charset="-122"/>
                  <a:cs typeface="맑은 고딕" pitchFamily="34" charset="-120"/>
                </a:rPr>
                <a:t>운영팀 (operations)</a:t>
              </a:r>
              <a:endParaRPr lang="en-US" sz="115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2971800" y="2743200"/>
              <a:ext cx="2468880" cy="594360"/>
            </a:xfrm>
            <a:prstGeom prst="rect">
              <a:avLst/>
            </a:prstGeom>
            <a:solidFill>
              <a:srgbClr val="EDF1F9"/>
            </a:solidFill>
            <a:ln w="9525">
              <a:solidFill>
                <a:srgbClr val="E4E8F2"/>
              </a:solidFill>
              <a:prstDash val="solid"/>
            </a:ln>
          </p:spPr>
        </p:sp>
        <p:sp>
          <p:nvSpPr>
            <p:cNvPr id="23" name="Text 21"/>
            <p:cNvSpPr/>
            <p:nvPr/>
          </p:nvSpPr>
          <p:spPr>
            <a:xfrm>
              <a:off x="3108960" y="2743200"/>
              <a:ext cx="2194560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6B7280"/>
                  </a:solidFill>
                  <a:latin typeface="Calibri" pitchFamily="34" charset="0"/>
                  <a:ea typeface="맑은 고딕" pitchFamily="34" charset="-122"/>
                  <a:cs typeface="맑은 고딕" pitchFamily="34" charset="-120"/>
                </a:rPr>
                <a:t>운영 업무 센터</a:t>
              </a:r>
              <a:endParaRPr lang="en-US" sz="115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5440680" y="2743200"/>
              <a:ext cx="4206240" cy="594360"/>
            </a:xfrm>
            <a:prstGeom prst="rect">
              <a:avLst/>
            </a:prstGeom>
            <a:solidFill>
              <a:srgbClr val="EDF1F9"/>
            </a:solidFill>
            <a:ln w="9525">
              <a:solidFill>
                <a:srgbClr val="E4E8F2"/>
              </a:solidFill>
              <a:prstDash val="solid"/>
            </a:ln>
          </p:spPr>
        </p:sp>
        <p:sp>
          <p:nvSpPr>
            <p:cNvPr id="25" name="Text 23"/>
            <p:cNvSpPr/>
            <p:nvPr/>
          </p:nvSpPr>
          <p:spPr>
            <a:xfrm>
              <a:off x="5577840" y="2743200"/>
              <a:ext cx="3931920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6B7280"/>
                  </a:solidFill>
                  <a:latin typeface="Calibri" pitchFamily="34" charset="0"/>
                  <a:ea typeface="맑은 고딕" pitchFamily="34" charset="-122"/>
                  <a:cs typeface="맑은 고딕" pitchFamily="34" charset="-120"/>
                </a:rPr>
                <a:t>고위험 고객 상담, 캠페인 대상 처리 큐 관리</a:t>
              </a:r>
              <a:endParaRPr lang="en-US" sz="115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9646920" y="2743200"/>
              <a:ext cx="2240280" cy="594360"/>
            </a:xfrm>
            <a:prstGeom prst="rect">
              <a:avLst/>
            </a:prstGeom>
            <a:solidFill>
              <a:srgbClr val="EDF1F9"/>
            </a:solidFill>
            <a:ln w="9525">
              <a:solidFill>
                <a:srgbClr val="E4E8F2"/>
              </a:solidFill>
              <a:prstDash val="solid"/>
            </a:ln>
          </p:spPr>
        </p:sp>
        <p:sp>
          <p:nvSpPr>
            <p:cNvPr id="27" name="Text 25"/>
            <p:cNvSpPr/>
            <p:nvPr/>
          </p:nvSpPr>
          <p:spPr>
            <a:xfrm>
              <a:off x="9784080" y="2743200"/>
              <a:ext cx="1965960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6B7280"/>
                  </a:solidFill>
                  <a:latin typeface="Calibri" pitchFamily="34" charset="0"/>
                  <a:ea typeface="맑은 고딕" pitchFamily="34" charset="-122"/>
                  <a:cs typeface="맑은 고딕" pitchFamily="34" charset="-120"/>
                </a:rPr>
                <a:t>대상 상태·결과 처리</a:t>
              </a:r>
              <a:endParaRPr lang="en-US" sz="115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640080" y="3337560"/>
              <a:ext cx="2331720" cy="5943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4E8F2"/>
              </a:solidFill>
              <a:prstDash val="solid"/>
            </a:ln>
          </p:spPr>
        </p:sp>
        <p:sp>
          <p:nvSpPr>
            <p:cNvPr id="29" name="Text 27"/>
            <p:cNvSpPr/>
            <p:nvPr/>
          </p:nvSpPr>
          <p:spPr>
            <a:xfrm>
              <a:off x="777240" y="3337560"/>
              <a:ext cx="2057400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B2340"/>
                  </a:solidFill>
                  <a:latin typeface="Calibri" pitchFamily="34" charset="0"/>
                  <a:ea typeface="맑은 고딕" pitchFamily="34" charset="-122"/>
                  <a:cs typeface="맑은 고딕" pitchFamily="34" charset="-120"/>
                </a:rPr>
                <a:t>분석팀 (analyst)</a:t>
              </a:r>
              <a:endParaRPr lang="en-US" sz="115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2971800" y="3337560"/>
              <a:ext cx="2468880" cy="5943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4E8F2"/>
              </a:solidFill>
              <a:prstDash val="solid"/>
            </a:ln>
          </p:spPr>
        </p:sp>
        <p:sp>
          <p:nvSpPr>
            <p:cNvPr id="31" name="Text 29"/>
            <p:cNvSpPr/>
            <p:nvPr/>
          </p:nvSpPr>
          <p:spPr>
            <a:xfrm>
              <a:off x="3108960" y="3337560"/>
              <a:ext cx="2194560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6B7280"/>
                  </a:solidFill>
                  <a:latin typeface="Calibri" pitchFamily="34" charset="0"/>
                  <a:ea typeface="맑은 고딕" pitchFamily="34" charset="-122"/>
                  <a:cs typeface="맑은 고딕" pitchFamily="34" charset="-120"/>
                </a:rPr>
                <a:t>고객 분석 대시보드 · 인사이트</a:t>
              </a:r>
              <a:endParaRPr lang="en-US" sz="115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5440680" y="3337560"/>
              <a:ext cx="4206240" cy="5943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4E8F2"/>
              </a:solidFill>
              <a:prstDash val="solid"/>
            </a:ln>
          </p:spPr>
        </p:sp>
        <p:sp>
          <p:nvSpPr>
            <p:cNvPr id="33" name="Text 31"/>
            <p:cNvSpPr/>
            <p:nvPr/>
          </p:nvSpPr>
          <p:spPr>
            <a:xfrm>
              <a:off x="5577840" y="3337560"/>
              <a:ext cx="3931920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6B7280"/>
                  </a:solidFill>
                  <a:latin typeface="Calibri" pitchFamily="34" charset="0"/>
                  <a:ea typeface="맑은 고딕" pitchFamily="34" charset="-122"/>
                  <a:cs typeface="맑은 고딕" pitchFamily="34" charset="-120"/>
                </a:rPr>
                <a:t>이탈 확률·상관관계·군집 분석, CSV 내보내기</a:t>
              </a:r>
              <a:endParaRPr lang="en-US" sz="1150" dirty="0"/>
            </a:p>
          </p:txBody>
        </p:sp>
        <p:sp>
          <p:nvSpPr>
            <p:cNvPr id="34" name="Shape 32"/>
            <p:cNvSpPr/>
            <p:nvPr/>
          </p:nvSpPr>
          <p:spPr>
            <a:xfrm>
              <a:off x="9646920" y="3337560"/>
              <a:ext cx="2240280" cy="5943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4E8F2"/>
              </a:solidFill>
              <a:prstDash val="solid"/>
            </a:ln>
          </p:spPr>
        </p:sp>
        <p:sp>
          <p:nvSpPr>
            <p:cNvPr id="35" name="Text 33"/>
            <p:cNvSpPr/>
            <p:nvPr/>
          </p:nvSpPr>
          <p:spPr>
            <a:xfrm>
              <a:off x="9784080" y="3337560"/>
              <a:ext cx="1965960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6B7280"/>
                  </a:solidFill>
                  <a:latin typeface="Calibri" pitchFamily="34" charset="0"/>
                  <a:ea typeface="맑은 고딕" pitchFamily="34" charset="-122"/>
                  <a:cs typeface="맑은 고딕" pitchFamily="34" charset="-120"/>
                </a:rPr>
                <a:t>읽기 전용</a:t>
              </a:r>
              <a:endParaRPr lang="en-US" sz="1150" dirty="0"/>
            </a:p>
          </p:txBody>
        </p:sp>
        <p:sp>
          <p:nvSpPr>
            <p:cNvPr id="36" name="Shape 34"/>
            <p:cNvSpPr/>
            <p:nvPr/>
          </p:nvSpPr>
          <p:spPr>
            <a:xfrm>
              <a:off x="640080" y="3931920"/>
              <a:ext cx="2331720" cy="594360"/>
            </a:xfrm>
            <a:prstGeom prst="rect">
              <a:avLst/>
            </a:prstGeom>
            <a:solidFill>
              <a:srgbClr val="EDF1F9"/>
            </a:solidFill>
            <a:ln w="9525">
              <a:solidFill>
                <a:srgbClr val="E4E8F2"/>
              </a:solidFill>
              <a:prstDash val="solid"/>
            </a:ln>
          </p:spPr>
        </p:sp>
        <p:sp>
          <p:nvSpPr>
            <p:cNvPr id="37" name="Text 35"/>
            <p:cNvSpPr/>
            <p:nvPr/>
          </p:nvSpPr>
          <p:spPr>
            <a:xfrm>
              <a:off x="777240" y="3931920"/>
              <a:ext cx="2057400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B2340"/>
                  </a:solidFill>
                  <a:latin typeface="Calibri" pitchFamily="34" charset="0"/>
                  <a:ea typeface="맑은 고딕" pitchFamily="34" charset="-122"/>
                  <a:cs typeface="맑은 고딕" pitchFamily="34" charset="-120"/>
                </a:rPr>
                <a:t>마케팅팀 (marketing)</a:t>
              </a:r>
              <a:endParaRPr lang="en-US" sz="1150" dirty="0"/>
            </a:p>
          </p:txBody>
        </p:sp>
        <p:sp>
          <p:nvSpPr>
            <p:cNvPr id="38" name="Shape 36"/>
            <p:cNvSpPr/>
            <p:nvPr/>
          </p:nvSpPr>
          <p:spPr>
            <a:xfrm>
              <a:off x="2971800" y="3931920"/>
              <a:ext cx="2468880" cy="594360"/>
            </a:xfrm>
            <a:prstGeom prst="rect">
              <a:avLst/>
            </a:prstGeom>
            <a:solidFill>
              <a:srgbClr val="EDF1F9"/>
            </a:solidFill>
            <a:ln w="9525">
              <a:solidFill>
                <a:srgbClr val="E4E8F2"/>
              </a:solidFill>
              <a:prstDash val="solid"/>
            </a:ln>
          </p:spPr>
        </p:sp>
        <p:sp>
          <p:nvSpPr>
            <p:cNvPr id="39" name="Text 37"/>
            <p:cNvSpPr/>
            <p:nvPr/>
          </p:nvSpPr>
          <p:spPr>
            <a:xfrm>
              <a:off x="3108960" y="3931920"/>
              <a:ext cx="2194560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6B7280"/>
                  </a:solidFill>
                  <a:latin typeface="Calibri" pitchFamily="34" charset="0"/>
                  <a:ea typeface="맑은 고딕" pitchFamily="34" charset="-122"/>
                  <a:cs typeface="맑은 고딕" pitchFamily="34" charset="-120"/>
                </a:rPr>
                <a:t>마케팅 캠페인 센터</a:t>
              </a:r>
              <a:endParaRPr lang="en-US" sz="1150" dirty="0"/>
            </a:p>
          </p:txBody>
        </p:sp>
        <p:sp>
          <p:nvSpPr>
            <p:cNvPr id="40" name="Shape 38"/>
            <p:cNvSpPr/>
            <p:nvPr/>
          </p:nvSpPr>
          <p:spPr>
            <a:xfrm>
              <a:off x="5440680" y="3931920"/>
              <a:ext cx="4206240" cy="594360"/>
            </a:xfrm>
            <a:prstGeom prst="rect">
              <a:avLst/>
            </a:prstGeom>
            <a:solidFill>
              <a:srgbClr val="EDF1F9"/>
            </a:solidFill>
            <a:ln w="9525">
              <a:solidFill>
                <a:srgbClr val="E4E8F2"/>
              </a:solidFill>
              <a:prstDash val="solid"/>
            </a:ln>
          </p:spPr>
        </p:sp>
        <p:sp>
          <p:nvSpPr>
            <p:cNvPr id="41" name="Text 39"/>
            <p:cNvSpPr/>
            <p:nvPr/>
          </p:nvSpPr>
          <p:spPr>
            <a:xfrm>
              <a:off x="5577840" y="3931920"/>
              <a:ext cx="3931920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6B7280"/>
                  </a:solidFill>
                  <a:latin typeface="Calibri" pitchFamily="34" charset="0"/>
                  <a:ea typeface="맑은 고딕" pitchFamily="34" charset="-122"/>
                  <a:cs typeface="맑은 고딕" pitchFamily="34" charset="-120"/>
                </a:rPr>
                <a:t>세그먼트 타겟팅, 캠페인 생성·성과 확인</a:t>
              </a:r>
              <a:endParaRPr lang="en-US" sz="1150" dirty="0"/>
            </a:p>
          </p:txBody>
        </p:sp>
        <p:sp>
          <p:nvSpPr>
            <p:cNvPr id="42" name="Shape 40"/>
            <p:cNvSpPr/>
            <p:nvPr/>
          </p:nvSpPr>
          <p:spPr>
            <a:xfrm>
              <a:off x="9646920" y="3931920"/>
              <a:ext cx="2240280" cy="594360"/>
            </a:xfrm>
            <a:prstGeom prst="rect">
              <a:avLst/>
            </a:prstGeom>
            <a:solidFill>
              <a:srgbClr val="EDF1F9"/>
            </a:solidFill>
            <a:ln w="9525">
              <a:solidFill>
                <a:srgbClr val="E4E8F2"/>
              </a:solidFill>
              <a:prstDash val="solid"/>
            </a:ln>
          </p:spPr>
        </p:sp>
        <p:sp>
          <p:nvSpPr>
            <p:cNvPr id="43" name="Text 41"/>
            <p:cNvSpPr/>
            <p:nvPr/>
          </p:nvSpPr>
          <p:spPr>
            <a:xfrm>
              <a:off x="9784080" y="3931920"/>
              <a:ext cx="1965960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6B7280"/>
                  </a:solidFill>
                  <a:latin typeface="Calibri" pitchFamily="34" charset="0"/>
                  <a:ea typeface="맑은 고딕" pitchFamily="34" charset="-122"/>
                  <a:cs typeface="맑은 고딕" pitchFamily="34" charset="-120"/>
                </a:rPr>
                <a:t>캠페인 생성·타겟팅 실행</a:t>
              </a:r>
              <a:endParaRPr lang="en-US" sz="1150" dirty="0"/>
            </a:p>
          </p:txBody>
        </p:sp>
      </p:grpSp>
      <p:sp>
        <p:nvSpPr>
          <p:cNvPr id="44" name="Text 42"/>
          <p:cNvSpPr/>
          <p:nvPr/>
        </p:nvSpPr>
        <p:spPr>
          <a:xfrm>
            <a:off x="640080" y="3800722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AA893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신규 가입 계정은 기본적으로 analyst 역할·비활성 상태로 생성되며, 관리자 승인 후 활성화됩니다.</a:t>
            </a:r>
            <a:endParaRPr lang="en-US" sz="1150" dirty="0"/>
          </a:p>
        </p:txBody>
      </p:sp>
      <p:grpSp>
        <p:nvGrpSpPr>
          <p:cNvPr id="168" name="그룹 167">
            <a:extLst>
              <a:ext uri="{FF2B5EF4-FFF2-40B4-BE49-F238E27FC236}">
                <a16:creationId xmlns:a16="http://schemas.microsoft.com/office/drawing/2014/main" id="{106A63CA-B42B-7311-6DA3-5A6F5AE9C743}"/>
              </a:ext>
            </a:extLst>
          </p:cNvPr>
          <p:cNvGrpSpPr/>
          <p:nvPr/>
        </p:nvGrpSpPr>
        <p:grpSpPr>
          <a:xfrm>
            <a:off x="640080" y="4186986"/>
            <a:ext cx="11247120" cy="1958747"/>
            <a:chOff x="640080" y="1691640"/>
            <a:chExt cx="10881360" cy="2953512"/>
          </a:xfrm>
        </p:grpSpPr>
        <p:sp>
          <p:nvSpPr>
            <p:cNvPr id="49" name="Shape 2">
              <a:extLst>
                <a:ext uri="{FF2B5EF4-FFF2-40B4-BE49-F238E27FC236}">
                  <a16:creationId xmlns:a16="http://schemas.microsoft.com/office/drawing/2014/main" id="{91F7C29F-5392-25D8-2C4D-D1FE4AC13D3C}"/>
                </a:ext>
              </a:extLst>
            </p:cNvPr>
            <p:cNvSpPr/>
            <p:nvPr/>
          </p:nvSpPr>
          <p:spPr>
            <a:xfrm>
              <a:off x="640080" y="1691640"/>
              <a:ext cx="3931920" cy="43891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4E8F2"/>
              </a:solidFill>
              <a:prstDash val="solid"/>
            </a:ln>
            <a:effectLst>
              <a:outerShdw blurRad="76200" dist="25400" dir="5400000" algn="bl" rotWithShape="0">
                <a:srgbClr val="1B2340">
                  <a:alpha val="15000"/>
                </a:srgbClr>
              </a:outerShdw>
            </a:effectLst>
          </p:spPr>
        </p:sp>
        <p:sp>
          <p:nvSpPr>
            <p:cNvPr id="51" name="Text 3">
              <a:extLst>
                <a:ext uri="{FF2B5EF4-FFF2-40B4-BE49-F238E27FC236}">
                  <a16:creationId xmlns:a16="http://schemas.microsoft.com/office/drawing/2014/main" id="{3A83D57D-3110-BA3E-870F-99736417F2B6}"/>
                </a:ext>
              </a:extLst>
            </p:cNvPr>
            <p:cNvSpPr/>
            <p:nvPr/>
          </p:nvSpPr>
          <p:spPr>
            <a:xfrm>
              <a:off x="777240" y="1691640"/>
              <a:ext cx="374904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150" b="1" dirty="0">
                  <a:solidFill>
                    <a:srgbClr val="1B2340"/>
                  </a:solidFill>
                  <a:latin typeface="Calibri" pitchFamily="34" charset="0"/>
                  <a:ea typeface="맑은 고딕" pitchFamily="34" charset="-122"/>
                  <a:cs typeface="맑은 고딕" pitchFamily="34" charset="-120"/>
                </a:rPr>
                <a:t>동작</a:t>
              </a:r>
              <a:endParaRPr lang="en-US" sz="1150" dirty="0"/>
            </a:p>
          </p:txBody>
        </p:sp>
        <p:sp>
          <p:nvSpPr>
            <p:cNvPr id="53" name="Shape 4">
              <a:extLst>
                <a:ext uri="{FF2B5EF4-FFF2-40B4-BE49-F238E27FC236}">
                  <a16:creationId xmlns:a16="http://schemas.microsoft.com/office/drawing/2014/main" id="{39F70756-E70C-D92F-B8CE-23E30261A884}"/>
                </a:ext>
              </a:extLst>
            </p:cNvPr>
            <p:cNvSpPr/>
            <p:nvPr/>
          </p:nvSpPr>
          <p:spPr>
            <a:xfrm>
              <a:off x="4572000" y="1691640"/>
              <a:ext cx="1737360" cy="43891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4E8F2"/>
              </a:solidFill>
              <a:prstDash val="solid"/>
            </a:ln>
            <a:effectLst>
              <a:outerShdw blurRad="76200" dist="25400" dir="5400000" algn="bl" rotWithShape="0">
                <a:srgbClr val="1B2340">
                  <a:alpha val="15000"/>
                </a:srgbClr>
              </a:outerShdw>
            </a:effectLst>
          </p:spPr>
        </p:sp>
        <p:sp>
          <p:nvSpPr>
            <p:cNvPr id="55" name="Text 5">
              <a:extLst>
                <a:ext uri="{FF2B5EF4-FFF2-40B4-BE49-F238E27FC236}">
                  <a16:creationId xmlns:a16="http://schemas.microsoft.com/office/drawing/2014/main" id="{91EC5CB3-4669-94B7-A377-1CE06857C45D}"/>
                </a:ext>
              </a:extLst>
            </p:cNvPr>
            <p:cNvSpPr/>
            <p:nvPr/>
          </p:nvSpPr>
          <p:spPr>
            <a:xfrm>
              <a:off x="4709160" y="1691640"/>
              <a:ext cx="155448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ko-KR" altLang="en-US" sz="1150" b="1" dirty="0">
                  <a:solidFill>
                    <a:srgbClr val="1B2340"/>
                  </a:solidFill>
                  <a:latin typeface="Calibri" pitchFamily="34" charset="0"/>
                  <a:ea typeface="맑은 고딕" pitchFamily="34" charset="-122"/>
                  <a:cs typeface="맑은 고딕" pitchFamily="34" charset="-120"/>
                </a:rPr>
                <a:t>관리자</a:t>
              </a:r>
              <a:endParaRPr lang="en-US" sz="1150" dirty="0"/>
            </a:p>
          </p:txBody>
        </p:sp>
        <p:sp>
          <p:nvSpPr>
            <p:cNvPr id="57" name="Shape 6">
              <a:extLst>
                <a:ext uri="{FF2B5EF4-FFF2-40B4-BE49-F238E27FC236}">
                  <a16:creationId xmlns:a16="http://schemas.microsoft.com/office/drawing/2014/main" id="{8710C726-8390-438D-0BEC-7A3997AF86E2}"/>
                </a:ext>
              </a:extLst>
            </p:cNvPr>
            <p:cNvSpPr/>
            <p:nvPr/>
          </p:nvSpPr>
          <p:spPr>
            <a:xfrm>
              <a:off x="6309360" y="1691640"/>
              <a:ext cx="1737360" cy="43891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4E8F2"/>
              </a:solidFill>
              <a:prstDash val="solid"/>
            </a:ln>
            <a:effectLst>
              <a:outerShdw blurRad="76200" dist="25400" dir="5400000" algn="bl" rotWithShape="0">
                <a:srgbClr val="1B2340">
                  <a:alpha val="15000"/>
                </a:srgbClr>
              </a:outerShdw>
            </a:effectLst>
          </p:spPr>
        </p:sp>
        <p:sp>
          <p:nvSpPr>
            <p:cNvPr id="59" name="Text 7">
              <a:extLst>
                <a:ext uri="{FF2B5EF4-FFF2-40B4-BE49-F238E27FC236}">
                  <a16:creationId xmlns:a16="http://schemas.microsoft.com/office/drawing/2014/main" id="{72542022-F58F-96C8-600F-24F4BA08ECEF}"/>
                </a:ext>
              </a:extLst>
            </p:cNvPr>
            <p:cNvSpPr/>
            <p:nvPr/>
          </p:nvSpPr>
          <p:spPr>
            <a:xfrm>
              <a:off x="6446520" y="1691640"/>
              <a:ext cx="155448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ko-KR" altLang="en-US" sz="1150" b="1" dirty="0">
                  <a:solidFill>
                    <a:srgbClr val="1B2340"/>
                  </a:solidFill>
                  <a:latin typeface="Calibri" pitchFamily="34" charset="0"/>
                  <a:ea typeface="맑은 고딕" pitchFamily="34" charset="-122"/>
                  <a:cs typeface="맑은 고딕" pitchFamily="34" charset="-120"/>
                </a:rPr>
                <a:t>마케팅팀</a:t>
              </a:r>
              <a:endParaRPr lang="en-US" sz="1150" dirty="0"/>
            </a:p>
          </p:txBody>
        </p:sp>
        <p:sp>
          <p:nvSpPr>
            <p:cNvPr id="61" name="Shape 8">
              <a:extLst>
                <a:ext uri="{FF2B5EF4-FFF2-40B4-BE49-F238E27FC236}">
                  <a16:creationId xmlns:a16="http://schemas.microsoft.com/office/drawing/2014/main" id="{D4C8F30E-009B-F426-E5A0-B5757D612436}"/>
                </a:ext>
              </a:extLst>
            </p:cNvPr>
            <p:cNvSpPr/>
            <p:nvPr/>
          </p:nvSpPr>
          <p:spPr>
            <a:xfrm>
              <a:off x="8046720" y="1691640"/>
              <a:ext cx="1737360" cy="43891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4E8F2"/>
              </a:solidFill>
              <a:prstDash val="solid"/>
            </a:ln>
            <a:effectLst>
              <a:outerShdw blurRad="76200" dist="25400" dir="5400000" algn="bl" rotWithShape="0">
                <a:srgbClr val="1B2340">
                  <a:alpha val="15000"/>
                </a:srgbClr>
              </a:outerShdw>
            </a:effectLst>
          </p:spPr>
        </p:sp>
        <p:sp>
          <p:nvSpPr>
            <p:cNvPr id="63" name="Text 9">
              <a:extLst>
                <a:ext uri="{FF2B5EF4-FFF2-40B4-BE49-F238E27FC236}">
                  <a16:creationId xmlns:a16="http://schemas.microsoft.com/office/drawing/2014/main" id="{8E93B717-1216-C86E-10B1-0037DACF520E}"/>
                </a:ext>
              </a:extLst>
            </p:cNvPr>
            <p:cNvSpPr/>
            <p:nvPr/>
          </p:nvSpPr>
          <p:spPr>
            <a:xfrm>
              <a:off x="8183880" y="1691640"/>
              <a:ext cx="155448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ko-KR" altLang="en-US" sz="1150" b="1" dirty="0">
                  <a:solidFill>
                    <a:srgbClr val="1B2340"/>
                  </a:solidFill>
                  <a:latin typeface="Calibri" pitchFamily="34" charset="0"/>
                  <a:ea typeface="맑은 고딕" pitchFamily="34" charset="-122"/>
                  <a:cs typeface="맑은 고딕" pitchFamily="34" charset="-120"/>
                </a:rPr>
                <a:t>운영팀</a:t>
              </a:r>
              <a:endParaRPr lang="en-US" sz="1150" dirty="0"/>
            </a:p>
          </p:txBody>
        </p:sp>
        <p:sp>
          <p:nvSpPr>
            <p:cNvPr id="65" name="Shape 10">
              <a:extLst>
                <a:ext uri="{FF2B5EF4-FFF2-40B4-BE49-F238E27FC236}">
                  <a16:creationId xmlns:a16="http://schemas.microsoft.com/office/drawing/2014/main" id="{5361E8F4-0F35-3CAE-B84F-A4A4EA16969C}"/>
                </a:ext>
              </a:extLst>
            </p:cNvPr>
            <p:cNvSpPr/>
            <p:nvPr/>
          </p:nvSpPr>
          <p:spPr>
            <a:xfrm>
              <a:off x="9784080" y="1691640"/>
              <a:ext cx="1737360" cy="43891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4E8F2"/>
              </a:solidFill>
              <a:prstDash val="solid"/>
            </a:ln>
            <a:effectLst>
              <a:outerShdw blurRad="76200" dist="25400" dir="5400000" algn="bl" rotWithShape="0">
                <a:srgbClr val="1B2340">
                  <a:alpha val="15000"/>
                </a:srgbClr>
              </a:outerShdw>
            </a:effectLst>
          </p:spPr>
        </p:sp>
        <p:sp>
          <p:nvSpPr>
            <p:cNvPr id="67" name="Text 11">
              <a:extLst>
                <a:ext uri="{FF2B5EF4-FFF2-40B4-BE49-F238E27FC236}">
                  <a16:creationId xmlns:a16="http://schemas.microsoft.com/office/drawing/2014/main" id="{5DD99243-130F-39B1-BF1E-F367DAB5A1F4}"/>
                </a:ext>
              </a:extLst>
            </p:cNvPr>
            <p:cNvSpPr/>
            <p:nvPr/>
          </p:nvSpPr>
          <p:spPr>
            <a:xfrm>
              <a:off x="9921240" y="1691640"/>
              <a:ext cx="155448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ko-KR" altLang="en-US" sz="1150" b="1" dirty="0" err="1">
                  <a:solidFill>
                    <a:srgbClr val="1B2340"/>
                  </a:solidFill>
                  <a:latin typeface="Calibri" pitchFamily="34" charset="0"/>
                  <a:ea typeface="맑은 고딕" pitchFamily="34" charset="-122"/>
                  <a:cs typeface="맑은 고딕" pitchFamily="34" charset="-120"/>
                </a:rPr>
                <a:t>분석팀</a:t>
              </a:r>
              <a:endParaRPr lang="en-US" sz="1150" dirty="0"/>
            </a:p>
          </p:txBody>
        </p:sp>
        <p:sp>
          <p:nvSpPr>
            <p:cNvPr id="69" name="Shape 12">
              <a:extLst>
                <a:ext uri="{FF2B5EF4-FFF2-40B4-BE49-F238E27FC236}">
                  <a16:creationId xmlns:a16="http://schemas.microsoft.com/office/drawing/2014/main" id="{F87152C3-64E6-6F1E-E27A-7CE650F5780B}"/>
                </a:ext>
              </a:extLst>
            </p:cNvPr>
            <p:cNvSpPr/>
            <p:nvPr/>
          </p:nvSpPr>
          <p:spPr>
            <a:xfrm>
              <a:off x="640080" y="2130552"/>
              <a:ext cx="3931920" cy="5029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4E8F2"/>
              </a:solidFill>
              <a:prstDash val="solid"/>
            </a:ln>
          </p:spPr>
        </p:sp>
        <p:sp>
          <p:nvSpPr>
            <p:cNvPr id="71" name="Text 13">
              <a:extLst>
                <a:ext uri="{FF2B5EF4-FFF2-40B4-BE49-F238E27FC236}">
                  <a16:creationId xmlns:a16="http://schemas.microsoft.com/office/drawing/2014/main" id="{D724264D-2BC8-7AC9-C6E8-7A83E4D01642}"/>
                </a:ext>
              </a:extLst>
            </p:cNvPr>
            <p:cNvSpPr/>
            <p:nvPr/>
          </p:nvSpPr>
          <p:spPr>
            <a:xfrm>
              <a:off x="777240" y="2130552"/>
              <a:ext cx="374904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1B2340"/>
                  </a:solidFill>
                  <a:latin typeface="Calibri" pitchFamily="34" charset="0"/>
                  <a:ea typeface="맑은 고딕" pitchFamily="34" charset="-122"/>
                  <a:cs typeface="맑은 고딕" pitchFamily="34" charset="-120"/>
                </a:rPr>
                <a:t>캠페인 조회</a:t>
              </a:r>
              <a:endParaRPr lang="en-US" sz="1200" dirty="0"/>
            </a:p>
          </p:txBody>
        </p:sp>
        <p:sp>
          <p:nvSpPr>
            <p:cNvPr id="73" name="Shape 14">
              <a:extLst>
                <a:ext uri="{FF2B5EF4-FFF2-40B4-BE49-F238E27FC236}">
                  <a16:creationId xmlns:a16="http://schemas.microsoft.com/office/drawing/2014/main" id="{FCA473BA-357A-5A68-F127-24BAD084BC91}"/>
                </a:ext>
              </a:extLst>
            </p:cNvPr>
            <p:cNvSpPr/>
            <p:nvPr/>
          </p:nvSpPr>
          <p:spPr>
            <a:xfrm>
              <a:off x="4572000" y="2130552"/>
              <a:ext cx="1737360" cy="5029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4E8F2"/>
              </a:solidFill>
              <a:prstDash val="solid"/>
            </a:ln>
          </p:spPr>
        </p:sp>
        <p:sp>
          <p:nvSpPr>
            <p:cNvPr id="75" name="Text 15">
              <a:extLst>
                <a:ext uri="{FF2B5EF4-FFF2-40B4-BE49-F238E27FC236}">
                  <a16:creationId xmlns:a16="http://schemas.microsoft.com/office/drawing/2014/main" id="{35594188-D718-ABC7-1483-2633ECD5B44C}"/>
                </a:ext>
              </a:extLst>
            </p:cNvPr>
            <p:cNvSpPr/>
            <p:nvPr/>
          </p:nvSpPr>
          <p:spPr>
            <a:xfrm>
              <a:off x="4709160" y="2130552"/>
              <a:ext cx="155448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500" dirty="0">
                  <a:solidFill>
                    <a:srgbClr val="1AA893"/>
                  </a:solidFill>
                  <a:latin typeface="Calibri" pitchFamily="34" charset="0"/>
                  <a:ea typeface="맑은 고딕" pitchFamily="34" charset="-122"/>
                  <a:cs typeface="맑은 고딕" pitchFamily="34" charset="-120"/>
                </a:rPr>
                <a:t>●</a:t>
              </a:r>
              <a:endParaRPr lang="en-US" sz="1500" dirty="0"/>
            </a:p>
          </p:txBody>
        </p:sp>
        <p:sp>
          <p:nvSpPr>
            <p:cNvPr id="77" name="Shape 16">
              <a:extLst>
                <a:ext uri="{FF2B5EF4-FFF2-40B4-BE49-F238E27FC236}">
                  <a16:creationId xmlns:a16="http://schemas.microsoft.com/office/drawing/2014/main" id="{BD5C4354-7D94-BB39-182F-3A2F5CF24E91}"/>
                </a:ext>
              </a:extLst>
            </p:cNvPr>
            <p:cNvSpPr/>
            <p:nvPr/>
          </p:nvSpPr>
          <p:spPr>
            <a:xfrm>
              <a:off x="6309360" y="2130552"/>
              <a:ext cx="1737360" cy="5029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4E8F2"/>
              </a:solidFill>
              <a:prstDash val="solid"/>
            </a:ln>
          </p:spPr>
        </p:sp>
        <p:sp>
          <p:nvSpPr>
            <p:cNvPr id="79" name="Text 17">
              <a:extLst>
                <a:ext uri="{FF2B5EF4-FFF2-40B4-BE49-F238E27FC236}">
                  <a16:creationId xmlns:a16="http://schemas.microsoft.com/office/drawing/2014/main" id="{CE87D85E-4155-08C8-F914-B062D191CE3A}"/>
                </a:ext>
              </a:extLst>
            </p:cNvPr>
            <p:cNvSpPr/>
            <p:nvPr/>
          </p:nvSpPr>
          <p:spPr>
            <a:xfrm>
              <a:off x="6446520" y="2130552"/>
              <a:ext cx="155448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500" dirty="0">
                  <a:solidFill>
                    <a:srgbClr val="1AA893"/>
                  </a:solidFill>
                  <a:latin typeface="Calibri" pitchFamily="34" charset="0"/>
                  <a:ea typeface="맑은 고딕" pitchFamily="34" charset="-122"/>
                  <a:cs typeface="맑은 고딕" pitchFamily="34" charset="-120"/>
                </a:rPr>
                <a:t>●</a:t>
              </a:r>
              <a:endParaRPr lang="en-US" sz="1500" dirty="0"/>
            </a:p>
          </p:txBody>
        </p:sp>
        <p:sp>
          <p:nvSpPr>
            <p:cNvPr id="81" name="Shape 18">
              <a:extLst>
                <a:ext uri="{FF2B5EF4-FFF2-40B4-BE49-F238E27FC236}">
                  <a16:creationId xmlns:a16="http://schemas.microsoft.com/office/drawing/2014/main" id="{90884F68-4C89-12EE-A7BB-1D173AF512B6}"/>
                </a:ext>
              </a:extLst>
            </p:cNvPr>
            <p:cNvSpPr/>
            <p:nvPr/>
          </p:nvSpPr>
          <p:spPr>
            <a:xfrm>
              <a:off x="8046720" y="2130552"/>
              <a:ext cx="1737360" cy="5029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4E8F2"/>
              </a:solidFill>
              <a:prstDash val="solid"/>
            </a:ln>
          </p:spPr>
        </p:sp>
        <p:sp>
          <p:nvSpPr>
            <p:cNvPr id="83" name="Text 19">
              <a:extLst>
                <a:ext uri="{FF2B5EF4-FFF2-40B4-BE49-F238E27FC236}">
                  <a16:creationId xmlns:a16="http://schemas.microsoft.com/office/drawing/2014/main" id="{C7B1E0CA-0311-CAB0-0175-D0277279C6B0}"/>
                </a:ext>
              </a:extLst>
            </p:cNvPr>
            <p:cNvSpPr/>
            <p:nvPr/>
          </p:nvSpPr>
          <p:spPr>
            <a:xfrm>
              <a:off x="8183880" y="2130552"/>
              <a:ext cx="155448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500" dirty="0">
                  <a:solidFill>
                    <a:srgbClr val="1AA893"/>
                  </a:solidFill>
                  <a:latin typeface="Calibri" pitchFamily="34" charset="0"/>
                  <a:ea typeface="맑은 고딕" pitchFamily="34" charset="-122"/>
                  <a:cs typeface="맑은 고딕" pitchFamily="34" charset="-120"/>
                </a:rPr>
                <a:t>●</a:t>
              </a:r>
              <a:endParaRPr lang="en-US" sz="1500" dirty="0"/>
            </a:p>
          </p:txBody>
        </p:sp>
        <p:sp>
          <p:nvSpPr>
            <p:cNvPr id="85" name="Shape 20">
              <a:extLst>
                <a:ext uri="{FF2B5EF4-FFF2-40B4-BE49-F238E27FC236}">
                  <a16:creationId xmlns:a16="http://schemas.microsoft.com/office/drawing/2014/main" id="{02DFF55F-A492-BFEC-7906-83438A8F5C00}"/>
                </a:ext>
              </a:extLst>
            </p:cNvPr>
            <p:cNvSpPr/>
            <p:nvPr/>
          </p:nvSpPr>
          <p:spPr>
            <a:xfrm>
              <a:off x="9784080" y="2130552"/>
              <a:ext cx="1737360" cy="5029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4E8F2"/>
              </a:solidFill>
              <a:prstDash val="solid"/>
            </a:ln>
          </p:spPr>
        </p:sp>
        <p:sp>
          <p:nvSpPr>
            <p:cNvPr id="87" name="Text 21">
              <a:extLst>
                <a:ext uri="{FF2B5EF4-FFF2-40B4-BE49-F238E27FC236}">
                  <a16:creationId xmlns:a16="http://schemas.microsoft.com/office/drawing/2014/main" id="{7B1C95D0-C33C-D97C-CFDB-1B81363DC5A8}"/>
                </a:ext>
              </a:extLst>
            </p:cNvPr>
            <p:cNvSpPr/>
            <p:nvPr/>
          </p:nvSpPr>
          <p:spPr>
            <a:xfrm>
              <a:off x="9921240" y="2130552"/>
              <a:ext cx="155448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500" dirty="0">
                  <a:solidFill>
                    <a:srgbClr val="1AA893"/>
                  </a:solidFill>
                  <a:latin typeface="Calibri" pitchFamily="34" charset="0"/>
                  <a:ea typeface="맑은 고딕" pitchFamily="34" charset="-122"/>
                  <a:cs typeface="맑은 고딕" pitchFamily="34" charset="-120"/>
                </a:rPr>
                <a:t>●</a:t>
              </a:r>
              <a:endParaRPr lang="en-US" sz="1500" dirty="0"/>
            </a:p>
          </p:txBody>
        </p:sp>
        <p:sp>
          <p:nvSpPr>
            <p:cNvPr id="89" name="Shape 22">
              <a:extLst>
                <a:ext uri="{FF2B5EF4-FFF2-40B4-BE49-F238E27FC236}">
                  <a16:creationId xmlns:a16="http://schemas.microsoft.com/office/drawing/2014/main" id="{29EBC25A-DF79-294C-ECE6-DBF4D0FBF40E}"/>
                </a:ext>
              </a:extLst>
            </p:cNvPr>
            <p:cNvSpPr/>
            <p:nvPr/>
          </p:nvSpPr>
          <p:spPr>
            <a:xfrm>
              <a:off x="640080" y="2633472"/>
              <a:ext cx="3931920" cy="502920"/>
            </a:xfrm>
            <a:prstGeom prst="rect">
              <a:avLst/>
            </a:prstGeom>
            <a:solidFill>
              <a:srgbClr val="EDF1F9"/>
            </a:solidFill>
            <a:ln w="9525">
              <a:solidFill>
                <a:srgbClr val="E4E8F2"/>
              </a:solidFill>
              <a:prstDash val="solid"/>
            </a:ln>
          </p:spPr>
        </p:sp>
        <p:sp>
          <p:nvSpPr>
            <p:cNvPr id="91" name="Text 23">
              <a:extLst>
                <a:ext uri="{FF2B5EF4-FFF2-40B4-BE49-F238E27FC236}">
                  <a16:creationId xmlns:a16="http://schemas.microsoft.com/office/drawing/2014/main" id="{3EB939EE-6DB4-C229-5428-1FB44055BFFA}"/>
                </a:ext>
              </a:extLst>
            </p:cNvPr>
            <p:cNvSpPr/>
            <p:nvPr/>
          </p:nvSpPr>
          <p:spPr>
            <a:xfrm>
              <a:off x="777240" y="2633472"/>
              <a:ext cx="374904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1B2340"/>
                  </a:solidFill>
                  <a:latin typeface="Calibri" pitchFamily="34" charset="0"/>
                  <a:ea typeface="맑은 고딕" pitchFamily="34" charset="-122"/>
                  <a:cs typeface="맑은 고딕" pitchFamily="34" charset="-120"/>
                </a:rPr>
                <a:t>캠페인 생성·수정</a:t>
              </a:r>
              <a:endParaRPr lang="en-US" sz="1200" dirty="0"/>
            </a:p>
          </p:txBody>
        </p:sp>
        <p:sp>
          <p:nvSpPr>
            <p:cNvPr id="93" name="Shape 24">
              <a:extLst>
                <a:ext uri="{FF2B5EF4-FFF2-40B4-BE49-F238E27FC236}">
                  <a16:creationId xmlns:a16="http://schemas.microsoft.com/office/drawing/2014/main" id="{2392F087-7A78-4115-8C60-133C0A94097E}"/>
                </a:ext>
              </a:extLst>
            </p:cNvPr>
            <p:cNvSpPr/>
            <p:nvPr/>
          </p:nvSpPr>
          <p:spPr>
            <a:xfrm>
              <a:off x="4572000" y="2633472"/>
              <a:ext cx="1737360" cy="502920"/>
            </a:xfrm>
            <a:prstGeom prst="rect">
              <a:avLst/>
            </a:prstGeom>
            <a:solidFill>
              <a:srgbClr val="EDF1F9"/>
            </a:solidFill>
            <a:ln w="9525">
              <a:solidFill>
                <a:srgbClr val="E4E8F2"/>
              </a:solidFill>
              <a:prstDash val="solid"/>
            </a:ln>
          </p:spPr>
        </p:sp>
        <p:sp>
          <p:nvSpPr>
            <p:cNvPr id="95" name="Text 25">
              <a:extLst>
                <a:ext uri="{FF2B5EF4-FFF2-40B4-BE49-F238E27FC236}">
                  <a16:creationId xmlns:a16="http://schemas.microsoft.com/office/drawing/2014/main" id="{23BAC01C-52E5-78FA-122C-627E928B8E7C}"/>
                </a:ext>
              </a:extLst>
            </p:cNvPr>
            <p:cNvSpPr/>
            <p:nvPr/>
          </p:nvSpPr>
          <p:spPr>
            <a:xfrm>
              <a:off x="4709160" y="2633472"/>
              <a:ext cx="155448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500" dirty="0">
                  <a:solidFill>
                    <a:srgbClr val="1AA893"/>
                  </a:solidFill>
                  <a:latin typeface="Calibri" pitchFamily="34" charset="0"/>
                  <a:ea typeface="맑은 고딕" pitchFamily="34" charset="-122"/>
                  <a:cs typeface="맑은 고딕" pitchFamily="34" charset="-120"/>
                </a:rPr>
                <a:t>●</a:t>
              </a:r>
              <a:endParaRPr lang="en-US" sz="1500" dirty="0"/>
            </a:p>
          </p:txBody>
        </p:sp>
        <p:sp>
          <p:nvSpPr>
            <p:cNvPr id="97" name="Shape 26">
              <a:extLst>
                <a:ext uri="{FF2B5EF4-FFF2-40B4-BE49-F238E27FC236}">
                  <a16:creationId xmlns:a16="http://schemas.microsoft.com/office/drawing/2014/main" id="{60206438-824B-7A7E-95AA-EAD5E894F2E3}"/>
                </a:ext>
              </a:extLst>
            </p:cNvPr>
            <p:cNvSpPr/>
            <p:nvPr/>
          </p:nvSpPr>
          <p:spPr>
            <a:xfrm>
              <a:off x="6309360" y="2633472"/>
              <a:ext cx="1737360" cy="502920"/>
            </a:xfrm>
            <a:prstGeom prst="rect">
              <a:avLst/>
            </a:prstGeom>
            <a:solidFill>
              <a:srgbClr val="EDF1F9"/>
            </a:solidFill>
            <a:ln w="9525">
              <a:solidFill>
                <a:srgbClr val="E4E8F2"/>
              </a:solidFill>
              <a:prstDash val="solid"/>
            </a:ln>
          </p:spPr>
        </p:sp>
        <p:sp>
          <p:nvSpPr>
            <p:cNvPr id="99" name="Text 27">
              <a:extLst>
                <a:ext uri="{FF2B5EF4-FFF2-40B4-BE49-F238E27FC236}">
                  <a16:creationId xmlns:a16="http://schemas.microsoft.com/office/drawing/2014/main" id="{B172790C-0AA9-7E1C-31A6-66DAF6D39053}"/>
                </a:ext>
              </a:extLst>
            </p:cNvPr>
            <p:cNvSpPr/>
            <p:nvPr/>
          </p:nvSpPr>
          <p:spPr>
            <a:xfrm>
              <a:off x="6446520" y="2633472"/>
              <a:ext cx="155448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500" dirty="0">
                  <a:solidFill>
                    <a:srgbClr val="1AA893"/>
                  </a:solidFill>
                  <a:latin typeface="Calibri" pitchFamily="34" charset="0"/>
                  <a:ea typeface="맑은 고딕" pitchFamily="34" charset="-122"/>
                  <a:cs typeface="맑은 고딕" pitchFamily="34" charset="-120"/>
                </a:rPr>
                <a:t>●</a:t>
              </a:r>
              <a:endParaRPr lang="en-US" sz="1500" dirty="0"/>
            </a:p>
          </p:txBody>
        </p:sp>
        <p:sp>
          <p:nvSpPr>
            <p:cNvPr id="101" name="Shape 28">
              <a:extLst>
                <a:ext uri="{FF2B5EF4-FFF2-40B4-BE49-F238E27FC236}">
                  <a16:creationId xmlns:a16="http://schemas.microsoft.com/office/drawing/2014/main" id="{844D8721-6760-AF07-2B83-61B793470726}"/>
                </a:ext>
              </a:extLst>
            </p:cNvPr>
            <p:cNvSpPr/>
            <p:nvPr/>
          </p:nvSpPr>
          <p:spPr>
            <a:xfrm>
              <a:off x="8046720" y="2633472"/>
              <a:ext cx="1737360" cy="502920"/>
            </a:xfrm>
            <a:prstGeom prst="rect">
              <a:avLst/>
            </a:prstGeom>
            <a:solidFill>
              <a:srgbClr val="EDF1F9"/>
            </a:solidFill>
            <a:ln w="9525">
              <a:solidFill>
                <a:srgbClr val="E4E8F2"/>
              </a:solidFill>
              <a:prstDash val="solid"/>
            </a:ln>
          </p:spPr>
        </p:sp>
        <p:sp>
          <p:nvSpPr>
            <p:cNvPr id="103" name="Text 29">
              <a:extLst>
                <a:ext uri="{FF2B5EF4-FFF2-40B4-BE49-F238E27FC236}">
                  <a16:creationId xmlns:a16="http://schemas.microsoft.com/office/drawing/2014/main" id="{8C8FBFB4-FED9-3542-4B0A-BE456A196AED}"/>
                </a:ext>
              </a:extLst>
            </p:cNvPr>
            <p:cNvSpPr/>
            <p:nvPr/>
          </p:nvSpPr>
          <p:spPr>
            <a:xfrm>
              <a:off x="8183880" y="2633472"/>
              <a:ext cx="155448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500" dirty="0">
                  <a:solidFill>
                    <a:srgbClr val="C7CCDA"/>
                  </a:solidFill>
                  <a:latin typeface="Calibri" pitchFamily="34" charset="0"/>
                  <a:ea typeface="맑은 고딕" pitchFamily="34" charset="-122"/>
                  <a:cs typeface="맑은 고딕" pitchFamily="34" charset="-120"/>
                </a:rPr>
                <a:t>—</a:t>
              </a:r>
              <a:endParaRPr lang="en-US" sz="1500" dirty="0"/>
            </a:p>
          </p:txBody>
        </p:sp>
        <p:sp>
          <p:nvSpPr>
            <p:cNvPr id="105" name="Shape 30">
              <a:extLst>
                <a:ext uri="{FF2B5EF4-FFF2-40B4-BE49-F238E27FC236}">
                  <a16:creationId xmlns:a16="http://schemas.microsoft.com/office/drawing/2014/main" id="{B4CDCEC2-95BB-1911-5160-AEB6FF72D21B}"/>
                </a:ext>
              </a:extLst>
            </p:cNvPr>
            <p:cNvSpPr/>
            <p:nvPr/>
          </p:nvSpPr>
          <p:spPr>
            <a:xfrm>
              <a:off x="9784080" y="2633472"/>
              <a:ext cx="1737360" cy="502920"/>
            </a:xfrm>
            <a:prstGeom prst="rect">
              <a:avLst/>
            </a:prstGeom>
            <a:solidFill>
              <a:srgbClr val="EDF1F9"/>
            </a:solidFill>
            <a:ln w="9525">
              <a:solidFill>
                <a:srgbClr val="E4E8F2"/>
              </a:solidFill>
              <a:prstDash val="solid"/>
            </a:ln>
          </p:spPr>
        </p:sp>
        <p:sp>
          <p:nvSpPr>
            <p:cNvPr id="107" name="Text 31">
              <a:extLst>
                <a:ext uri="{FF2B5EF4-FFF2-40B4-BE49-F238E27FC236}">
                  <a16:creationId xmlns:a16="http://schemas.microsoft.com/office/drawing/2014/main" id="{A94586F4-1D01-07C7-0057-7FA9D5F7B276}"/>
                </a:ext>
              </a:extLst>
            </p:cNvPr>
            <p:cNvSpPr/>
            <p:nvPr/>
          </p:nvSpPr>
          <p:spPr>
            <a:xfrm>
              <a:off x="9921240" y="2633472"/>
              <a:ext cx="155448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500" dirty="0">
                  <a:solidFill>
                    <a:srgbClr val="C7CCDA"/>
                  </a:solidFill>
                  <a:latin typeface="Calibri" pitchFamily="34" charset="0"/>
                  <a:ea typeface="맑은 고딕" pitchFamily="34" charset="-122"/>
                  <a:cs typeface="맑은 고딕" pitchFamily="34" charset="-120"/>
                </a:rPr>
                <a:t>—</a:t>
              </a:r>
              <a:endParaRPr lang="en-US" sz="1500" dirty="0"/>
            </a:p>
          </p:txBody>
        </p:sp>
        <p:sp>
          <p:nvSpPr>
            <p:cNvPr id="109" name="Shape 32">
              <a:extLst>
                <a:ext uri="{FF2B5EF4-FFF2-40B4-BE49-F238E27FC236}">
                  <a16:creationId xmlns:a16="http://schemas.microsoft.com/office/drawing/2014/main" id="{FE410E98-392C-E787-5869-0502011B7FA9}"/>
                </a:ext>
              </a:extLst>
            </p:cNvPr>
            <p:cNvSpPr/>
            <p:nvPr/>
          </p:nvSpPr>
          <p:spPr>
            <a:xfrm>
              <a:off x="640080" y="3136392"/>
              <a:ext cx="3931920" cy="5029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4E8F2"/>
              </a:solidFill>
              <a:prstDash val="solid"/>
            </a:ln>
          </p:spPr>
        </p:sp>
        <p:sp>
          <p:nvSpPr>
            <p:cNvPr id="111" name="Text 33">
              <a:extLst>
                <a:ext uri="{FF2B5EF4-FFF2-40B4-BE49-F238E27FC236}">
                  <a16:creationId xmlns:a16="http://schemas.microsoft.com/office/drawing/2014/main" id="{3DFE8416-BF9F-76BE-A28D-C365E5D36053}"/>
                </a:ext>
              </a:extLst>
            </p:cNvPr>
            <p:cNvSpPr/>
            <p:nvPr/>
          </p:nvSpPr>
          <p:spPr>
            <a:xfrm>
              <a:off x="777240" y="3136392"/>
              <a:ext cx="374904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1B2340"/>
                  </a:solidFill>
                  <a:latin typeface="Calibri" pitchFamily="34" charset="0"/>
                  <a:ea typeface="맑은 고딕" pitchFamily="34" charset="-122"/>
                  <a:cs typeface="맑은 고딕" pitchFamily="34" charset="-120"/>
                </a:rPr>
                <a:t>세그먼트 일괄 타겟팅</a:t>
              </a:r>
              <a:endParaRPr lang="en-US" sz="1200" dirty="0"/>
            </a:p>
          </p:txBody>
        </p:sp>
        <p:sp>
          <p:nvSpPr>
            <p:cNvPr id="113" name="Shape 34">
              <a:extLst>
                <a:ext uri="{FF2B5EF4-FFF2-40B4-BE49-F238E27FC236}">
                  <a16:creationId xmlns:a16="http://schemas.microsoft.com/office/drawing/2014/main" id="{2DF9B783-F600-14D4-041A-D04C3DE5E97F}"/>
                </a:ext>
              </a:extLst>
            </p:cNvPr>
            <p:cNvSpPr/>
            <p:nvPr/>
          </p:nvSpPr>
          <p:spPr>
            <a:xfrm>
              <a:off x="4572000" y="3136392"/>
              <a:ext cx="1737360" cy="5029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4E8F2"/>
              </a:solidFill>
              <a:prstDash val="solid"/>
            </a:ln>
          </p:spPr>
        </p:sp>
        <p:sp>
          <p:nvSpPr>
            <p:cNvPr id="115" name="Text 35">
              <a:extLst>
                <a:ext uri="{FF2B5EF4-FFF2-40B4-BE49-F238E27FC236}">
                  <a16:creationId xmlns:a16="http://schemas.microsoft.com/office/drawing/2014/main" id="{464900D7-F6B5-77B3-7285-A694363D9B81}"/>
                </a:ext>
              </a:extLst>
            </p:cNvPr>
            <p:cNvSpPr/>
            <p:nvPr/>
          </p:nvSpPr>
          <p:spPr>
            <a:xfrm>
              <a:off x="4709160" y="3136392"/>
              <a:ext cx="155448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500" dirty="0">
                  <a:solidFill>
                    <a:srgbClr val="1AA893"/>
                  </a:solidFill>
                  <a:latin typeface="Calibri" pitchFamily="34" charset="0"/>
                  <a:ea typeface="맑은 고딕" pitchFamily="34" charset="-122"/>
                  <a:cs typeface="맑은 고딕" pitchFamily="34" charset="-120"/>
                </a:rPr>
                <a:t>●</a:t>
              </a:r>
              <a:endParaRPr lang="en-US" sz="1500" dirty="0"/>
            </a:p>
          </p:txBody>
        </p:sp>
        <p:sp>
          <p:nvSpPr>
            <p:cNvPr id="117" name="Shape 36">
              <a:extLst>
                <a:ext uri="{FF2B5EF4-FFF2-40B4-BE49-F238E27FC236}">
                  <a16:creationId xmlns:a16="http://schemas.microsoft.com/office/drawing/2014/main" id="{01463477-60AD-65B8-191F-117331A652E7}"/>
                </a:ext>
              </a:extLst>
            </p:cNvPr>
            <p:cNvSpPr/>
            <p:nvPr/>
          </p:nvSpPr>
          <p:spPr>
            <a:xfrm>
              <a:off x="6309360" y="3136392"/>
              <a:ext cx="1737360" cy="5029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4E8F2"/>
              </a:solidFill>
              <a:prstDash val="solid"/>
            </a:ln>
          </p:spPr>
        </p:sp>
        <p:sp>
          <p:nvSpPr>
            <p:cNvPr id="119" name="Text 37">
              <a:extLst>
                <a:ext uri="{FF2B5EF4-FFF2-40B4-BE49-F238E27FC236}">
                  <a16:creationId xmlns:a16="http://schemas.microsoft.com/office/drawing/2014/main" id="{AD9CF9C8-F6F6-2B1F-79E6-F72B94E4DB42}"/>
                </a:ext>
              </a:extLst>
            </p:cNvPr>
            <p:cNvSpPr/>
            <p:nvPr/>
          </p:nvSpPr>
          <p:spPr>
            <a:xfrm>
              <a:off x="6446520" y="3136392"/>
              <a:ext cx="155448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500" dirty="0">
                  <a:solidFill>
                    <a:srgbClr val="1AA893"/>
                  </a:solidFill>
                  <a:latin typeface="Calibri" pitchFamily="34" charset="0"/>
                  <a:ea typeface="맑은 고딕" pitchFamily="34" charset="-122"/>
                  <a:cs typeface="맑은 고딕" pitchFamily="34" charset="-120"/>
                </a:rPr>
                <a:t>●</a:t>
              </a:r>
              <a:endParaRPr lang="en-US" sz="1500" dirty="0"/>
            </a:p>
          </p:txBody>
        </p:sp>
        <p:sp>
          <p:nvSpPr>
            <p:cNvPr id="121" name="Shape 38">
              <a:extLst>
                <a:ext uri="{FF2B5EF4-FFF2-40B4-BE49-F238E27FC236}">
                  <a16:creationId xmlns:a16="http://schemas.microsoft.com/office/drawing/2014/main" id="{7744D32C-913C-DD71-AE89-50548640A195}"/>
                </a:ext>
              </a:extLst>
            </p:cNvPr>
            <p:cNvSpPr/>
            <p:nvPr/>
          </p:nvSpPr>
          <p:spPr>
            <a:xfrm>
              <a:off x="8046720" y="3136392"/>
              <a:ext cx="1737360" cy="5029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4E8F2"/>
              </a:solidFill>
              <a:prstDash val="solid"/>
            </a:ln>
          </p:spPr>
        </p:sp>
        <p:sp>
          <p:nvSpPr>
            <p:cNvPr id="123" name="Text 39">
              <a:extLst>
                <a:ext uri="{FF2B5EF4-FFF2-40B4-BE49-F238E27FC236}">
                  <a16:creationId xmlns:a16="http://schemas.microsoft.com/office/drawing/2014/main" id="{608C4359-2C43-3EA6-07FC-5A9C7B95D953}"/>
                </a:ext>
              </a:extLst>
            </p:cNvPr>
            <p:cNvSpPr/>
            <p:nvPr/>
          </p:nvSpPr>
          <p:spPr>
            <a:xfrm>
              <a:off x="8183880" y="3136392"/>
              <a:ext cx="155448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500" dirty="0">
                  <a:solidFill>
                    <a:srgbClr val="C7CCDA"/>
                  </a:solidFill>
                  <a:latin typeface="Calibri" pitchFamily="34" charset="0"/>
                  <a:ea typeface="맑은 고딕" pitchFamily="34" charset="-122"/>
                  <a:cs typeface="맑은 고딕" pitchFamily="34" charset="-120"/>
                </a:rPr>
                <a:t>—</a:t>
              </a:r>
              <a:endParaRPr lang="en-US" sz="1500" dirty="0"/>
            </a:p>
          </p:txBody>
        </p:sp>
        <p:sp>
          <p:nvSpPr>
            <p:cNvPr id="125" name="Shape 40">
              <a:extLst>
                <a:ext uri="{FF2B5EF4-FFF2-40B4-BE49-F238E27FC236}">
                  <a16:creationId xmlns:a16="http://schemas.microsoft.com/office/drawing/2014/main" id="{8FC0E06B-93F0-0750-FC9B-87AA9672A6BF}"/>
                </a:ext>
              </a:extLst>
            </p:cNvPr>
            <p:cNvSpPr/>
            <p:nvPr/>
          </p:nvSpPr>
          <p:spPr>
            <a:xfrm>
              <a:off x="9784080" y="3136392"/>
              <a:ext cx="1737360" cy="5029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4E8F2"/>
              </a:solidFill>
              <a:prstDash val="solid"/>
            </a:ln>
          </p:spPr>
        </p:sp>
        <p:sp>
          <p:nvSpPr>
            <p:cNvPr id="127" name="Text 41">
              <a:extLst>
                <a:ext uri="{FF2B5EF4-FFF2-40B4-BE49-F238E27FC236}">
                  <a16:creationId xmlns:a16="http://schemas.microsoft.com/office/drawing/2014/main" id="{CF11253F-C84F-8FEF-0AFF-798AAB707E5A}"/>
                </a:ext>
              </a:extLst>
            </p:cNvPr>
            <p:cNvSpPr/>
            <p:nvPr/>
          </p:nvSpPr>
          <p:spPr>
            <a:xfrm>
              <a:off x="9921240" y="3136392"/>
              <a:ext cx="155448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500" dirty="0">
                  <a:solidFill>
                    <a:srgbClr val="C7CCDA"/>
                  </a:solidFill>
                  <a:latin typeface="Calibri" pitchFamily="34" charset="0"/>
                  <a:ea typeface="맑은 고딕" pitchFamily="34" charset="-122"/>
                  <a:cs typeface="맑은 고딕" pitchFamily="34" charset="-120"/>
                </a:rPr>
                <a:t>—</a:t>
              </a:r>
              <a:endParaRPr lang="en-US" sz="1500" dirty="0"/>
            </a:p>
          </p:txBody>
        </p:sp>
        <p:sp>
          <p:nvSpPr>
            <p:cNvPr id="129" name="Shape 42">
              <a:extLst>
                <a:ext uri="{FF2B5EF4-FFF2-40B4-BE49-F238E27FC236}">
                  <a16:creationId xmlns:a16="http://schemas.microsoft.com/office/drawing/2014/main" id="{A0D9792A-F9DE-B761-EC96-7288F84B1568}"/>
                </a:ext>
              </a:extLst>
            </p:cNvPr>
            <p:cNvSpPr/>
            <p:nvPr/>
          </p:nvSpPr>
          <p:spPr>
            <a:xfrm>
              <a:off x="640080" y="3639312"/>
              <a:ext cx="3931920" cy="502920"/>
            </a:xfrm>
            <a:prstGeom prst="rect">
              <a:avLst/>
            </a:prstGeom>
            <a:solidFill>
              <a:srgbClr val="EDF1F9"/>
            </a:solidFill>
            <a:ln w="9525">
              <a:solidFill>
                <a:srgbClr val="E4E8F2"/>
              </a:solidFill>
              <a:prstDash val="solid"/>
            </a:ln>
          </p:spPr>
        </p:sp>
        <p:sp>
          <p:nvSpPr>
            <p:cNvPr id="131" name="Text 43">
              <a:extLst>
                <a:ext uri="{FF2B5EF4-FFF2-40B4-BE49-F238E27FC236}">
                  <a16:creationId xmlns:a16="http://schemas.microsoft.com/office/drawing/2014/main" id="{452143ED-D546-DB6B-FDCA-69ACE993BA4D}"/>
                </a:ext>
              </a:extLst>
            </p:cNvPr>
            <p:cNvSpPr/>
            <p:nvPr/>
          </p:nvSpPr>
          <p:spPr>
            <a:xfrm>
              <a:off x="777240" y="3639312"/>
              <a:ext cx="374904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1B2340"/>
                  </a:solidFill>
                  <a:latin typeface="Calibri" pitchFamily="34" charset="0"/>
                  <a:ea typeface="맑은 고딕" pitchFamily="34" charset="-122"/>
                  <a:cs typeface="맑은 고딕" pitchFamily="34" charset="-120"/>
                </a:rPr>
                <a:t>대상 처리 (상태·결과·전환)</a:t>
              </a:r>
              <a:endParaRPr lang="en-US" sz="1200" dirty="0"/>
            </a:p>
          </p:txBody>
        </p:sp>
        <p:sp>
          <p:nvSpPr>
            <p:cNvPr id="133" name="Shape 44">
              <a:extLst>
                <a:ext uri="{FF2B5EF4-FFF2-40B4-BE49-F238E27FC236}">
                  <a16:creationId xmlns:a16="http://schemas.microsoft.com/office/drawing/2014/main" id="{6F4CC3F1-DDCC-46BF-60D0-2C25F9F32064}"/>
                </a:ext>
              </a:extLst>
            </p:cNvPr>
            <p:cNvSpPr/>
            <p:nvPr/>
          </p:nvSpPr>
          <p:spPr>
            <a:xfrm>
              <a:off x="4572000" y="3639312"/>
              <a:ext cx="1737360" cy="502920"/>
            </a:xfrm>
            <a:prstGeom prst="rect">
              <a:avLst/>
            </a:prstGeom>
            <a:solidFill>
              <a:srgbClr val="EDF1F9"/>
            </a:solidFill>
            <a:ln w="9525">
              <a:solidFill>
                <a:srgbClr val="E4E8F2"/>
              </a:solidFill>
              <a:prstDash val="solid"/>
            </a:ln>
          </p:spPr>
        </p:sp>
        <p:sp>
          <p:nvSpPr>
            <p:cNvPr id="135" name="Text 45">
              <a:extLst>
                <a:ext uri="{FF2B5EF4-FFF2-40B4-BE49-F238E27FC236}">
                  <a16:creationId xmlns:a16="http://schemas.microsoft.com/office/drawing/2014/main" id="{800F43D4-282F-9B06-1208-39D48BD2BB1E}"/>
                </a:ext>
              </a:extLst>
            </p:cNvPr>
            <p:cNvSpPr/>
            <p:nvPr/>
          </p:nvSpPr>
          <p:spPr>
            <a:xfrm>
              <a:off x="4709160" y="3639312"/>
              <a:ext cx="155448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500" dirty="0">
                  <a:solidFill>
                    <a:srgbClr val="1AA893"/>
                  </a:solidFill>
                  <a:latin typeface="Calibri" pitchFamily="34" charset="0"/>
                  <a:ea typeface="맑은 고딕" pitchFamily="34" charset="-122"/>
                  <a:cs typeface="맑은 고딕" pitchFamily="34" charset="-120"/>
                </a:rPr>
                <a:t>●</a:t>
              </a:r>
              <a:endParaRPr lang="en-US" sz="1500" dirty="0"/>
            </a:p>
          </p:txBody>
        </p:sp>
        <p:sp>
          <p:nvSpPr>
            <p:cNvPr id="137" name="Shape 46">
              <a:extLst>
                <a:ext uri="{FF2B5EF4-FFF2-40B4-BE49-F238E27FC236}">
                  <a16:creationId xmlns:a16="http://schemas.microsoft.com/office/drawing/2014/main" id="{66F37C91-C0A7-7E68-C63B-E94D2EB13198}"/>
                </a:ext>
              </a:extLst>
            </p:cNvPr>
            <p:cNvSpPr/>
            <p:nvPr/>
          </p:nvSpPr>
          <p:spPr>
            <a:xfrm>
              <a:off x="6309360" y="3639312"/>
              <a:ext cx="1737360" cy="502920"/>
            </a:xfrm>
            <a:prstGeom prst="rect">
              <a:avLst/>
            </a:prstGeom>
            <a:solidFill>
              <a:srgbClr val="EDF1F9"/>
            </a:solidFill>
            <a:ln w="9525">
              <a:solidFill>
                <a:srgbClr val="E4E8F2"/>
              </a:solidFill>
              <a:prstDash val="solid"/>
            </a:ln>
          </p:spPr>
        </p:sp>
        <p:sp>
          <p:nvSpPr>
            <p:cNvPr id="139" name="Text 47">
              <a:extLst>
                <a:ext uri="{FF2B5EF4-FFF2-40B4-BE49-F238E27FC236}">
                  <a16:creationId xmlns:a16="http://schemas.microsoft.com/office/drawing/2014/main" id="{13EA9FAD-DBB5-99E8-1A1D-E2F475207A73}"/>
                </a:ext>
              </a:extLst>
            </p:cNvPr>
            <p:cNvSpPr/>
            <p:nvPr/>
          </p:nvSpPr>
          <p:spPr>
            <a:xfrm>
              <a:off x="6446520" y="3639312"/>
              <a:ext cx="155448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500" dirty="0">
                  <a:solidFill>
                    <a:srgbClr val="C7CCDA"/>
                  </a:solidFill>
                  <a:latin typeface="Calibri" pitchFamily="34" charset="0"/>
                  <a:ea typeface="맑은 고딕" pitchFamily="34" charset="-122"/>
                  <a:cs typeface="맑은 고딕" pitchFamily="34" charset="-120"/>
                </a:rPr>
                <a:t>—</a:t>
              </a:r>
              <a:endParaRPr lang="en-US" sz="1500" dirty="0"/>
            </a:p>
          </p:txBody>
        </p:sp>
        <p:sp>
          <p:nvSpPr>
            <p:cNvPr id="141" name="Shape 48">
              <a:extLst>
                <a:ext uri="{FF2B5EF4-FFF2-40B4-BE49-F238E27FC236}">
                  <a16:creationId xmlns:a16="http://schemas.microsoft.com/office/drawing/2014/main" id="{BB3A0A11-DFAE-A237-2B7B-9F18F23FD1AD}"/>
                </a:ext>
              </a:extLst>
            </p:cNvPr>
            <p:cNvSpPr/>
            <p:nvPr/>
          </p:nvSpPr>
          <p:spPr>
            <a:xfrm>
              <a:off x="8046720" y="3639312"/>
              <a:ext cx="1737360" cy="502920"/>
            </a:xfrm>
            <a:prstGeom prst="rect">
              <a:avLst/>
            </a:prstGeom>
            <a:solidFill>
              <a:srgbClr val="EDF1F9"/>
            </a:solidFill>
            <a:ln w="9525">
              <a:solidFill>
                <a:srgbClr val="E4E8F2"/>
              </a:solidFill>
              <a:prstDash val="solid"/>
            </a:ln>
          </p:spPr>
        </p:sp>
        <p:sp>
          <p:nvSpPr>
            <p:cNvPr id="143" name="Text 49">
              <a:extLst>
                <a:ext uri="{FF2B5EF4-FFF2-40B4-BE49-F238E27FC236}">
                  <a16:creationId xmlns:a16="http://schemas.microsoft.com/office/drawing/2014/main" id="{0B9686B0-30BB-7E02-3BA5-56EA64CBD26B}"/>
                </a:ext>
              </a:extLst>
            </p:cNvPr>
            <p:cNvSpPr/>
            <p:nvPr/>
          </p:nvSpPr>
          <p:spPr>
            <a:xfrm>
              <a:off x="8183880" y="3639312"/>
              <a:ext cx="155448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500" dirty="0">
                  <a:solidFill>
                    <a:srgbClr val="1AA893"/>
                  </a:solidFill>
                  <a:latin typeface="Calibri" pitchFamily="34" charset="0"/>
                  <a:ea typeface="맑은 고딕" pitchFamily="34" charset="-122"/>
                  <a:cs typeface="맑은 고딕" pitchFamily="34" charset="-120"/>
                </a:rPr>
                <a:t>●</a:t>
              </a:r>
              <a:endParaRPr lang="en-US" sz="1500" dirty="0"/>
            </a:p>
          </p:txBody>
        </p:sp>
        <p:sp>
          <p:nvSpPr>
            <p:cNvPr id="145" name="Shape 50">
              <a:extLst>
                <a:ext uri="{FF2B5EF4-FFF2-40B4-BE49-F238E27FC236}">
                  <a16:creationId xmlns:a16="http://schemas.microsoft.com/office/drawing/2014/main" id="{57C52791-A5C8-C887-6984-008A514E6B13}"/>
                </a:ext>
              </a:extLst>
            </p:cNvPr>
            <p:cNvSpPr/>
            <p:nvPr/>
          </p:nvSpPr>
          <p:spPr>
            <a:xfrm>
              <a:off x="9784080" y="3639312"/>
              <a:ext cx="1737360" cy="502920"/>
            </a:xfrm>
            <a:prstGeom prst="rect">
              <a:avLst/>
            </a:prstGeom>
            <a:solidFill>
              <a:srgbClr val="EDF1F9"/>
            </a:solidFill>
            <a:ln w="9525">
              <a:solidFill>
                <a:srgbClr val="E4E8F2"/>
              </a:solidFill>
              <a:prstDash val="solid"/>
            </a:ln>
          </p:spPr>
        </p:sp>
        <p:sp>
          <p:nvSpPr>
            <p:cNvPr id="147" name="Text 51">
              <a:extLst>
                <a:ext uri="{FF2B5EF4-FFF2-40B4-BE49-F238E27FC236}">
                  <a16:creationId xmlns:a16="http://schemas.microsoft.com/office/drawing/2014/main" id="{82BE099D-B5FC-1FAF-9F37-4CD1ACC31CF8}"/>
                </a:ext>
              </a:extLst>
            </p:cNvPr>
            <p:cNvSpPr/>
            <p:nvPr/>
          </p:nvSpPr>
          <p:spPr>
            <a:xfrm>
              <a:off x="9921240" y="3639312"/>
              <a:ext cx="155448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500" dirty="0">
                  <a:solidFill>
                    <a:srgbClr val="C7CCDA"/>
                  </a:solidFill>
                  <a:latin typeface="Calibri" pitchFamily="34" charset="0"/>
                  <a:ea typeface="맑은 고딕" pitchFamily="34" charset="-122"/>
                  <a:cs typeface="맑은 고딕" pitchFamily="34" charset="-120"/>
                </a:rPr>
                <a:t>—</a:t>
              </a:r>
              <a:endParaRPr lang="en-US" sz="1500" dirty="0"/>
            </a:p>
          </p:txBody>
        </p:sp>
        <p:sp>
          <p:nvSpPr>
            <p:cNvPr id="149" name="Shape 52">
              <a:extLst>
                <a:ext uri="{FF2B5EF4-FFF2-40B4-BE49-F238E27FC236}">
                  <a16:creationId xmlns:a16="http://schemas.microsoft.com/office/drawing/2014/main" id="{9AA18C68-C12A-57BB-0EFE-A670847FF546}"/>
                </a:ext>
              </a:extLst>
            </p:cNvPr>
            <p:cNvSpPr/>
            <p:nvPr/>
          </p:nvSpPr>
          <p:spPr>
            <a:xfrm>
              <a:off x="640080" y="4142232"/>
              <a:ext cx="3931920" cy="5029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4E8F2"/>
              </a:solidFill>
              <a:prstDash val="solid"/>
            </a:ln>
          </p:spPr>
        </p:sp>
        <p:sp>
          <p:nvSpPr>
            <p:cNvPr id="151" name="Text 53">
              <a:extLst>
                <a:ext uri="{FF2B5EF4-FFF2-40B4-BE49-F238E27FC236}">
                  <a16:creationId xmlns:a16="http://schemas.microsoft.com/office/drawing/2014/main" id="{D4A20F90-3294-3628-FD10-B83DD460CE65}"/>
                </a:ext>
              </a:extLst>
            </p:cNvPr>
            <p:cNvSpPr/>
            <p:nvPr/>
          </p:nvSpPr>
          <p:spPr>
            <a:xfrm>
              <a:off x="777240" y="4142232"/>
              <a:ext cx="374904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1B2340"/>
                  </a:solidFill>
                  <a:latin typeface="Calibri" pitchFamily="34" charset="0"/>
                  <a:ea typeface="맑은 고딕" pitchFamily="34" charset="-122"/>
                  <a:cs typeface="맑은 고딕" pitchFamily="34" charset="-120"/>
                </a:rPr>
                <a:t>수신 거부 변경</a:t>
              </a:r>
              <a:endParaRPr lang="en-US" sz="1200" dirty="0"/>
            </a:p>
          </p:txBody>
        </p:sp>
        <p:sp>
          <p:nvSpPr>
            <p:cNvPr id="153" name="Shape 54">
              <a:extLst>
                <a:ext uri="{FF2B5EF4-FFF2-40B4-BE49-F238E27FC236}">
                  <a16:creationId xmlns:a16="http://schemas.microsoft.com/office/drawing/2014/main" id="{10EC6CD3-4937-EF6C-C3CA-5D2B481C838A}"/>
                </a:ext>
              </a:extLst>
            </p:cNvPr>
            <p:cNvSpPr/>
            <p:nvPr/>
          </p:nvSpPr>
          <p:spPr>
            <a:xfrm>
              <a:off x="4572000" y="4142232"/>
              <a:ext cx="1737360" cy="5029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4E8F2"/>
              </a:solidFill>
              <a:prstDash val="solid"/>
            </a:ln>
          </p:spPr>
        </p:sp>
        <p:sp>
          <p:nvSpPr>
            <p:cNvPr id="155" name="Text 55">
              <a:extLst>
                <a:ext uri="{FF2B5EF4-FFF2-40B4-BE49-F238E27FC236}">
                  <a16:creationId xmlns:a16="http://schemas.microsoft.com/office/drawing/2014/main" id="{0A49F563-2D42-F603-9810-6A8CAA297375}"/>
                </a:ext>
              </a:extLst>
            </p:cNvPr>
            <p:cNvSpPr/>
            <p:nvPr/>
          </p:nvSpPr>
          <p:spPr>
            <a:xfrm>
              <a:off x="4709160" y="4142232"/>
              <a:ext cx="155448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500" dirty="0">
                  <a:solidFill>
                    <a:srgbClr val="1AA893"/>
                  </a:solidFill>
                  <a:latin typeface="Calibri" pitchFamily="34" charset="0"/>
                  <a:ea typeface="맑은 고딕" pitchFamily="34" charset="-122"/>
                  <a:cs typeface="맑은 고딕" pitchFamily="34" charset="-120"/>
                </a:rPr>
                <a:t>●</a:t>
              </a:r>
              <a:endParaRPr lang="en-US" sz="1500" dirty="0"/>
            </a:p>
          </p:txBody>
        </p:sp>
        <p:sp>
          <p:nvSpPr>
            <p:cNvPr id="157" name="Shape 56">
              <a:extLst>
                <a:ext uri="{FF2B5EF4-FFF2-40B4-BE49-F238E27FC236}">
                  <a16:creationId xmlns:a16="http://schemas.microsoft.com/office/drawing/2014/main" id="{EAE4AAB3-47B7-8C61-BF15-7B7C7D31EACB}"/>
                </a:ext>
              </a:extLst>
            </p:cNvPr>
            <p:cNvSpPr/>
            <p:nvPr/>
          </p:nvSpPr>
          <p:spPr>
            <a:xfrm>
              <a:off x="6309360" y="4142232"/>
              <a:ext cx="1737360" cy="5029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4E8F2"/>
              </a:solidFill>
              <a:prstDash val="solid"/>
            </a:ln>
          </p:spPr>
        </p:sp>
        <p:sp>
          <p:nvSpPr>
            <p:cNvPr id="159" name="Text 57">
              <a:extLst>
                <a:ext uri="{FF2B5EF4-FFF2-40B4-BE49-F238E27FC236}">
                  <a16:creationId xmlns:a16="http://schemas.microsoft.com/office/drawing/2014/main" id="{55DB38D3-DC2C-A98D-886B-D3CAD4B240F3}"/>
                </a:ext>
              </a:extLst>
            </p:cNvPr>
            <p:cNvSpPr/>
            <p:nvPr/>
          </p:nvSpPr>
          <p:spPr>
            <a:xfrm>
              <a:off x="6446520" y="4142232"/>
              <a:ext cx="155448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500" dirty="0">
                  <a:solidFill>
                    <a:srgbClr val="C7CCDA"/>
                  </a:solidFill>
                  <a:latin typeface="Calibri" pitchFamily="34" charset="0"/>
                  <a:ea typeface="맑은 고딕" pitchFamily="34" charset="-122"/>
                  <a:cs typeface="맑은 고딕" pitchFamily="34" charset="-120"/>
                </a:rPr>
                <a:t>—</a:t>
              </a:r>
              <a:endParaRPr lang="en-US" sz="1500" dirty="0"/>
            </a:p>
          </p:txBody>
        </p:sp>
        <p:sp>
          <p:nvSpPr>
            <p:cNvPr id="161" name="Shape 58">
              <a:extLst>
                <a:ext uri="{FF2B5EF4-FFF2-40B4-BE49-F238E27FC236}">
                  <a16:creationId xmlns:a16="http://schemas.microsoft.com/office/drawing/2014/main" id="{E5CB406C-35A3-E061-0797-4127814CF09D}"/>
                </a:ext>
              </a:extLst>
            </p:cNvPr>
            <p:cNvSpPr/>
            <p:nvPr/>
          </p:nvSpPr>
          <p:spPr>
            <a:xfrm>
              <a:off x="8046720" y="4142232"/>
              <a:ext cx="1737360" cy="5029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4E8F2"/>
              </a:solidFill>
              <a:prstDash val="solid"/>
            </a:ln>
          </p:spPr>
        </p:sp>
        <p:sp>
          <p:nvSpPr>
            <p:cNvPr id="163" name="Text 59">
              <a:extLst>
                <a:ext uri="{FF2B5EF4-FFF2-40B4-BE49-F238E27FC236}">
                  <a16:creationId xmlns:a16="http://schemas.microsoft.com/office/drawing/2014/main" id="{78FDF27A-8BC5-E420-7082-A1DB063AC2B6}"/>
                </a:ext>
              </a:extLst>
            </p:cNvPr>
            <p:cNvSpPr/>
            <p:nvPr/>
          </p:nvSpPr>
          <p:spPr>
            <a:xfrm>
              <a:off x="8183880" y="4142232"/>
              <a:ext cx="155448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500" dirty="0">
                  <a:solidFill>
                    <a:srgbClr val="C7CCDA"/>
                  </a:solidFill>
                  <a:latin typeface="Calibri" pitchFamily="34" charset="0"/>
                  <a:ea typeface="맑은 고딕" pitchFamily="34" charset="-122"/>
                  <a:cs typeface="맑은 고딕" pitchFamily="34" charset="-120"/>
                </a:rPr>
                <a:t>—</a:t>
              </a:r>
              <a:endParaRPr lang="en-US" sz="1500" dirty="0"/>
            </a:p>
          </p:txBody>
        </p:sp>
        <p:sp>
          <p:nvSpPr>
            <p:cNvPr id="165" name="Shape 60">
              <a:extLst>
                <a:ext uri="{FF2B5EF4-FFF2-40B4-BE49-F238E27FC236}">
                  <a16:creationId xmlns:a16="http://schemas.microsoft.com/office/drawing/2014/main" id="{F890324E-5900-D839-A005-BBC09DC45763}"/>
                </a:ext>
              </a:extLst>
            </p:cNvPr>
            <p:cNvSpPr/>
            <p:nvPr/>
          </p:nvSpPr>
          <p:spPr>
            <a:xfrm>
              <a:off x="9784080" y="4142232"/>
              <a:ext cx="1737360" cy="5029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4E8F2"/>
              </a:solidFill>
              <a:prstDash val="solid"/>
            </a:ln>
          </p:spPr>
        </p:sp>
        <p:sp>
          <p:nvSpPr>
            <p:cNvPr id="167" name="Text 61">
              <a:extLst>
                <a:ext uri="{FF2B5EF4-FFF2-40B4-BE49-F238E27FC236}">
                  <a16:creationId xmlns:a16="http://schemas.microsoft.com/office/drawing/2014/main" id="{61C569EA-97BB-5C4E-CD61-57AB5755FC6A}"/>
                </a:ext>
              </a:extLst>
            </p:cNvPr>
            <p:cNvSpPr/>
            <p:nvPr/>
          </p:nvSpPr>
          <p:spPr>
            <a:xfrm>
              <a:off x="9921240" y="4142232"/>
              <a:ext cx="155448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500" dirty="0">
                  <a:solidFill>
                    <a:srgbClr val="C7CCDA"/>
                  </a:solidFill>
                  <a:latin typeface="Calibri" pitchFamily="34" charset="0"/>
                  <a:ea typeface="맑은 고딕" pitchFamily="34" charset="-122"/>
                  <a:cs typeface="맑은 고딕" pitchFamily="34" charset="-120"/>
                </a:rPr>
                <a:t>—</a:t>
              </a:r>
              <a:endParaRPr lang="en-US" sz="1500" dirty="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AC9BEC87-A402-2221-30E4-89E4E4AC9B4B}"/>
              </a:ext>
            </a:extLst>
          </p:cNvPr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200" b="1" kern="0" spc="200" dirty="0">
                <a:solidFill>
                  <a:srgbClr val="1AA893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04 · </a:t>
            </a:r>
            <a:r>
              <a:rPr lang="en-US" altLang="ko-KR" sz="1200" b="1" kern="0" spc="200" dirty="0" err="1">
                <a:solidFill>
                  <a:srgbClr val="1AA893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화면</a:t>
            </a:r>
            <a:r>
              <a:rPr lang="en-US" altLang="ko-KR" sz="1200" b="1" kern="0" spc="200" dirty="0">
                <a:solidFill>
                  <a:srgbClr val="1AA893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200" b="1" kern="0" spc="200" dirty="0" err="1">
                <a:solidFill>
                  <a:srgbClr val="1AA893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살펴보기</a:t>
            </a:r>
            <a:r>
              <a:rPr lang="en-US" altLang="ko-KR" sz="1200" b="1" kern="0" spc="200" dirty="0">
                <a:solidFill>
                  <a:srgbClr val="1AA893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— </a:t>
            </a:r>
            <a:r>
              <a:rPr lang="ko-KR" altLang="en-US" sz="1200" b="1" kern="0" spc="200" dirty="0">
                <a:solidFill>
                  <a:srgbClr val="1AA893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로그인</a:t>
            </a:r>
            <a:endParaRPr lang="en-US" altLang="ko-KR" sz="12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1A463EE2-161A-0986-7605-FDE67AC3C646}"/>
              </a:ext>
            </a:extLst>
          </p:cNvPr>
          <p:cNvSpPr/>
          <p:nvPr/>
        </p:nvSpPr>
        <p:spPr>
          <a:xfrm>
            <a:off x="640080" y="77724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34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로그인 — 역할 분기의 시작점</a:t>
            </a:r>
            <a:endParaRPr lang="en-US" sz="2500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BCDD9CFC-AF1B-5B93-E839-5241FD62478B}"/>
              </a:ext>
            </a:extLst>
          </p:cNvPr>
          <p:cNvSpPr/>
          <p:nvPr/>
        </p:nvSpPr>
        <p:spPr>
          <a:xfrm>
            <a:off x="9779508" y="457200"/>
            <a:ext cx="174193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AA893"/>
            </a:solidFill>
            <a:prstDash val="solid"/>
          </a:ln>
        </p:spPr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465A61F0-2CED-2A2C-E9C1-E90955D80941}"/>
              </a:ext>
            </a:extLst>
          </p:cNvPr>
          <p:cNvSpPr/>
          <p:nvPr/>
        </p:nvSpPr>
        <p:spPr>
          <a:xfrm>
            <a:off x="9779508" y="457200"/>
            <a:ext cx="17419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1AA893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ALL ROLES</a:t>
            </a:r>
            <a:endParaRPr lang="en-US" sz="1050" dirty="0"/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465DE984-4746-D911-66A1-C59647B9F059}"/>
              </a:ext>
            </a:extLst>
          </p:cNvPr>
          <p:cNvSpPr/>
          <p:nvPr/>
        </p:nvSpPr>
        <p:spPr>
          <a:xfrm>
            <a:off x="640080" y="1554480"/>
            <a:ext cx="10881360" cy="370332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blurRad="127000" dist="38100" dir="5400000" algn="bl" rotWithShape="0">
              <a:srgbClr val="1B2340">
                <a:alpha val="15000"/>
              </a:srgbClr>
            </a:outerShdw>
          </a:effectLst>
        </p:spPr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90C16C23-BDF4-F988-C567-F573BF6828CB}"/>
              </a:ext>
            </a:extLst>
          </p:cNvPr>
          <p:cNvSpPr/>
          <p:nvPr/>
        </p:nvSpPr>
        <p:spPr>
          <a:xfrm>
            <a:off x="640080" y="1554480"/>
            <a:ext cx="10881360" cy="365760"/>
          </a:xfrm>
          <a:prstGeom prst="rect">
            <a:avLst/>
          </a:prstGeom>
          <a:solidFill>
            <a:srgbClr val="EDF0F6"/>
          </a:solidFill>
          <a:ln/>
        </p:spPr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B2D52C29-46C5-9F90-C9C9-7996CD1DCAC0}"/>
              </a:ext>
            </a:extLst>
          </p:cNvPr>
          <p:cNvSpPr/>
          <p:nvPr/>
        </p:nvSpPr>
        <p:spPr>
          <a:xfrm>
            <a:off x="804672" y="1682496"/>
            <a:ext cx="109728" cy="109728"/>
          </a:xfrm>
          <a:prstGeom prst="ellipse">
            <a:avLst/>
          </a:prstGeom>
          <a:solidFill>
            <a:srgbClr val="E8536A"/>
          </a:solidFill>
          <a:ln/>
        </p:spPr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E61CD1C3-27C9-41E5-63F9-C1A4155412CB}"/>
              </a:ext>
            </a:extLst>
          </p:cNvPr>
          <p:cNvSpPr/>
          <p:nvPr/>
        </p:nvSpPr>
        <p:spPr>
          <a:xfrm>
            <a:off x="1005840" y="1682496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5C0322F9-32BF-6C3B-D902-3ADFF6024F1B}"/>
              </a:ext>
            </a:extLst>
          </p:cNvPr>
          <p:cNvSpPr/>
          <p:nvPr/>
        </p:nvSpPr>
        <p:spPr>
          <a:xfrm>
            <a:off x="1207008" y="1682496"/>
            <a:ext cx="109728" cy="109728"/>
          </a:xfrm>
          <a:prstGeom prst="ellipse">
            <a:avLst/>
          </a:prstGeom>
          <a:solidFill>
            <a:srgbClr val="2FBF8F"/>
          </a:solidFill>
          <a:ln/>
        </p:spPr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529124B4-D800-6844-29A4-3A005D16EAC0}"/>
              </a:ext>
            </a:extLst>
          </p:cNvPr>
          <p:cNvSpPr/>
          <p:nvPr/>
        </p:nvSpPr>
        <p:spPr>
          <a:xfrm>
            <a:off x="1508760" y="155448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127.0.0.1:5173 — CardOps Console</a:t>
            </a:r>
            <a:endParaRPr lang="en-US" sz="950" dirty="0"/>
          </a:p>
        </p:txBody>
      </p:sp>
      <p:sp>
        <p:nvSpPr>
          <p:cNvPr id="23" name="Shape 10">
            <a:extLst>
              <a:ext uri="{FF2B5EF4-FFF2-40B4-BE49-F238E27FC236}">
                <a16:creationId xmlns:a16="http://schemas.microsoft.com/office/drawing/2014/main" id="{E390E130-ABBF-E6D6-6D3F-F2CACC220810}"/>
              </a:ext>
            </a:extLst>
          </p:cNvPr>
          <p:cNvSpPr/>
          <p:nvPr/>
        </p:nvSpPr>
        <p:spPr>
          <a:xfrm>
            <a:off x="5843016" y="2194560"/>
            <a:ext cx="475488" cy="475488"/>
          </a:xfrm>
          <a:prstGeom prst="ellipse">
            <a:avLst/>
          </a:prstGeom>
          <a:solidFill>
            <a:srgbClr val="EAF2FF"/>
          </a:solidFill>
          <a:ln/>
        </p:spPr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3E63EE77-7CFC-8DEC-3249-0A052DBE0BE7}"/>
              </a:ext>
            </a:extLst>
          </p:cNvPr>
          <p:cNvSpPr/>
          <p:nvPr/>
        </p:nvSpPr>
        <p:spPr>
          <a:xfrm>
            <a:off x="5843016" y="21945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8AB0A8EF-7E43-25DD-382E-428989596076}"/>
              </a:ext>
            </a:extLst>
          </p:cNvPr>
          <p:cNvSpPr/>
          <p:nvPr/>
        </p:nvSpPr>
        <p:spPr>
          <a:xfrm>
            <a:off x="3977640" y="2724912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34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CardOps</a:t>
            </a:r>
            <a:endParaRPr lang="en-US" sz="1800" dirty="0"/>
          </a:p>
        </p:txBody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FB8E3C4E-6F66-A442-52EF-5452C7C74806}"/>
              </a:ext>
            </a:extLst>
          </p:cNvPr>
          <p:cNvSpPr/>
          <p:nvPr/>
        </p:nvSpPr>
        <p:spPr>
          <a:xfrm>
            <a:off x="3977640" y="3054096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CREDIT CARD OPERATIONS CONSOLE</a:t>
            </a:r>
            <a:endParaRPr lang="en-US" sz="800" dirty="0"/>
          </a:p>
        </p:txBody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5E3F6F33-B863-4D5A-C097-99846B6B3324}"/>
              </a:ext>
            </a:extLst>
          </p:cNvPr>
          <p:cNvSpPr/>
          <p:nvPr/>
        </p:nvSpPr>
        <p:spPr>
          <a:xfrm>
            <a:off x="3977640" y="3419856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34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팀 계정 아이디</a:t>
            </a:r>
            <a:endParaRPr lang="en-US" sz="900" dirty="0"/>
          </a:p>
        </p:txBody>
      </p:sp>
      <p:sp>
        <p:nvSpPr>
          <p:cNvPr id="33" name="Shape 15">
            <a:extLst>
              <a:ext uri="{FF2B5EF4-FFF2-40B4-BE49-F238E27FC236}">
                <a16:creationId xmlns:a16="http://schemas.microsoft.com/office/drawing/2014/main" id="{00E708FA-4485-3E2F-EF86-4F58015E240C}"/>
              </a:ext>
            </a:extLst>
          </p:cNvPr>
          <p:cNvSpPr/>
          <p:nvPr/>
        </p:nvSpPr>
        <p:spPr>
          <a:xfrm>
            <a:off x="3977640" y="3639312"/>
            <a:ext cx="42062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8882695F-2910-23D3-2871-5210A8C5FA14}"/>
              </a:ext>
            </a:extLst>
          </p:cNvPr>
          <p:cNvSpPr/>
          <p:nvPr/>
        </p:nvSpPr>
        <p:spPr>
          <a:xfrm>
            <a:off x="4114800" y="363931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7BCCB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예: analysis_team</a:t>
            </a:r>
            <a:endParaRPr lang="en-US" sz="900" dirty="0"/>
          </a:p>
        </p:txBody>
      </p:sp>
      <p:sp>
        <p:nvSpPr>
          <p:cNvPr id="37" name="Text 17">
            <a:extLst>
              <a:ext uri="{FF2B5EF4-FFF2-40B4-BE49-F238E27FC236}">
                <a16:creationId xmlns:a16="http://schemas.microsoft.com/office/drawing/2014/main" id="{D17EE49D-4EE0-F9F3-4A4F-44944F4F9D5F}"/>
              </a:ext>
            </a:extLst>
          </p:cNvPr>
          <p:cNvSpPr/>
          <p:nvPr/>
        </p:nvSpPr>
        <p:spPr>
          <a:xfrm>
            <a:off x="3977640" y="4059936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34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비밀번호</a:t>
            </a:r>
            <a:endParaRPr lang="en-US" sz="900" dirty="0"/>
          </a:p>
        </p:txBody>
      </p:sp>
      <p:sp>
        <p:nvSpPr>
          <p:cNvPr id="39" name="Shape 18">
            <a:extLst>
              <a:ext uri="{FF2B5EF4-FFF2-40B4-BE49-F238E27FC236}">
                <a16:creationId xmlns:a16="http://schemas.microsoft.com/office/drawing/2014/main" id="{9716E06B-5ABE-A4EC-261E-29C42933FAF3}"/>
              </a:ext>
            </a:extLst>
          </p:cNvPr>
          <p:cNvSpPr/>
          <p:nvPr/>
        </p:nvSpPr>
        <p:spPr>
          <a:xfrm>
            <a:off x="3977640" y="4279392"/>
            <a:ext cx="42062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41" name="Text 19">
            <a:extLst>
              <a:ext uri="{FF2B5EF4-FFF2-40B4-BE49-F238E27FC236}">
                <a16:creationId xmlns:a16="http://schemas.microsoft.com/office/drawing/2014/main" id="{72C1B7D8-3DDD-8762-0AB1-47234289124B}"/>
              </a:ext>
            </a:extLst>
          </p:cNvPr>
          <p:cNvSpPr/>
          <p:nvPr/>
        </p:nvSpPr>
        <p:spPr>
          <a:xfrm>
            <a:off x="4114800" y="427939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7BCCB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비밀번호를 입력하세요</a:t>
            </a:r>
            <a:endParaRPr lang="en-US" sz="900" dirty="0"/>
          </a:p>
        </p:txBody>
      </p:sp>
      <p:sp>
        <p:nvSpPr>
          <p:cNvPr id="43" name="Shape 20">
            <a:extLst>
              <a:ext uri="{FF2B5EF4-FFF2-40B4-BE49-F238E27FC236}">
                <a16:creationId xmlns:a16="http://schemas.microsoft.com/office/drawing/2014/main" id="{5209365A-86C8-F245-7D88-732E24AB3F47}"/>
              </a:ext>
            </a:extLst>
          </p:cNvPr>
          <p:cNvSpPr/>
          <p:nvPr/>
        </p:nvSpPr>
        <p:spPr>
          <a:xfrm>
            <a:off x="3977640" y="4754880"/>
            <a:ext cx="42062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blurRad="76200" dist="25400" dir="5400000" algn="bl" rotWithShape="0">
              <a:srgbClr val="1B2340">
                <a:alpha val="15000"/>
              </a:srgbClr>
            </a:outerShdw>
          </a:effectLst>
        </p:spPr>
      </p:sp>
      <p:sp>
        <p:nvSpPr>
          <p:cNvPr id="45" name="Text 21">
            <a:extLst>
              <a:ext uri="{FF2B5EF4-FFF2-40B4-BE49-F238E27FC236}">
                <a16:creationId xmlns:a16="http://schemas.microsoft.com/office/drawing/2014/main" id="{EDADFAE5-4379-13FD-832F-1B107C50AF09}"/>
              </a:ext>
            </a:extLst>
          </p:cNvPr>
          <p:cNvSpPr/>
          <p:nvPr/>
        </p:nvSpPr>
        <p:spPr>
          <a:xfrm>
            <a:off x="3977640" y="475488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34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로그인 →</a:t>
            </a:r>
            <a:endParaRPr lang="en-US" sz="1050" dirty="0"/>
          </a:p>
        </p:txBody>
      </p:sp>
      <p:sp>
        <p:nvSpPr>
          <p:cNvPr id="51" name="Shape 24">
            <a:extLst>
              <a:ext uri="{FF2B5EF4-FFF2-40B4-BE49-F238E27FC236}">
                <a16:creationId xmlns:a16="http://schemas.microsoft.com/office/drawing/2014/main" id="{50449E34-A75C-FE57-074C-D736454FC67E}"/>
              </a:ext>
            </a:extLst>
          </p:cNvPr>
          <p:cNvSpPr/>
          <p:nvPr/>
        </p:nvSpPr>
        <p:spPr>
          <a:xfrm>
            <a:off x="681540" y="5532120"/>
            <a:ext cx="108399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53" name="Text 25">
            <a:extLst>
              <a:ext uri="{FF2B5EF4-FFF2-40B4-BE49-F238E27FC236}">
                <a16:creationId xmlns:a16="http://schemas.microsoft.com/office/drawing/2014/main" id="{4D04C18F-5EDE-4F46-CB02-5C08F24A1BD5}"/>
              </a:ext>
            </a:extLst>
          </p:cNvPr>
          <p:cNvSpPr/>
          <p:nvPr/>
        </p:nvSpPr>
        <p:spPr>
          <a:xfrm>
            <a:off x="804672" y="56235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인증 성공 시 역할(admin/analyst/operations/marketing)에 따라 탭 구성과 기본 화면이 분기됩니다.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2172287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AA893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04 · 화면 살펴보기 — 관리자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34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관리자 콘솔 — 의사결정 지표 중심 요약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blurRad="127000" dist="38100" dir="5400000" algn="bl" rotWithShape="0">
              <a:srgbClr val="1B234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00200"/>
            <a:ext cx="10881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blurRad="76200" dist="25400" dir="5400000" algn="bl" rotWithShape="0">
              <a:srgbClr val="1B234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6002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34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CARDOPS CONSOLE / 관리자 콘솔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966960" y="170992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3FD8C4"/>
          </a:solidFill>
          <a:ln/>
        </p:spPr>
      </p:sp>
      <p:sp>
        <p:nvSpPr>
          <p:cNvPr id="8" name="Text 6"/>
          <p:cNvSpPr/>
          <p:nvPr/>
        </p:nvSpPr>
        <p:spPr>
          <a:xfrm>
            <a:off x="9966960" y="17099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1B36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로그아웃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14400" y="22860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팀 계정과 업무 권한을 관리합니다.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14400" y="2834640"/>
            <a:ext cx="3261360" cy="1371600"/>
          </a:xfrm>
          <a:prstGeom prst="roundRect">
            <a:avLst>
              <a:gd name="adj" fmla="val 5333"/>
            </a:avLst>
          </a:prstGeom>
          <a:solidFill>
            <a:srgbClr val="F5F7FB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971800"/>
            <a:ext cx="289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고위험 커버리지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97280" y="3246120"/>
            <a:ext cx="289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8536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19%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1097280" y="3822192"/>
            <a:ext cx="289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고위험 542명 중 103명 캠페인 등록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450080" y="2834640"/>
            <a:ext cx="3261360" cy="1371600"/>
          </a:xfrm>
          <a:prstGeom prst="roundRect">
            <a:avLst>
              <a:gd name="adj" fmla="val 5333"/>
            </a:avLst>
          </a:prstGeom>
          <a:solidFill>
            <a:srgbClr val="F5F7FB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32960" y="2971800"/>
            <a:ext cx="289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위험도별 방어매출 · ROI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632960" y="3246120"/>
            <a:ext cx="289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FBF8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177%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4632960" y="3822192"/>
            <a:ext cx="289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낮음(저위험) 92명 · 최고 ROI 구간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985760" y="2834640"/>
            <a:ext cx="3261360" cy="1371600"/>
          </a:xfrm>
          <a:prstGeom prst="roundRect">
            <a:avLst>
              <a:gd name="adj" fmla="val 5333"/>
            </a:avLst>
          </a:prstGeom>
          <a:solidFill>
            <a:srgbClr val="F5F7FB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68640" y="2971800"/>
            <a:ext cx="289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위험도별 방어매출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168640" y="3246120"/>
            <a:ext cx="289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A893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₩1.7M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8168640" y="3822192"/>
            <a:ext cx="289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높음(고위험) 115명 방어매출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14400" y="4389120"/>
            <a:ext cx="10332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blurRad="76200" dist="25400" dir="5400000" algn="bl" rotWithShape="0">
              <a:srgbClr val="1B234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143000" y="457200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D8C4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핵심 — 의사결정 지표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43000" y="4919472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고위험 커버리지 19% — 목표 대비 낮습니다. 신규 캠페인 등록 대상 확대가 필요합니다. 위험도별 방어매출·ROI, 팀 계정 관리를 한 화면에서 확인합니다.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CardOps Console · 관리자 콘솔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601200" y="65105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20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CARDOPS CONSOLE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AA893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04 · 화면 살펴보기 — 운영팀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34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운영 업무 센터 — 이중 신호 고객 상담 큐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blurRad="127000" dist="38100" dir="5400000" algn="bl" rotWithShape="0">
              <a:srgbClr val="1B234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00200"/>
            <a:ext cx="10881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blurRad="76200" dist="25400" dir="5400000" algn="bl" rotWithShape="0">
              <a:srgbClr val="1B234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6002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34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CARDOPS CONSOLE / 운영 업무 센터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966960" y="170992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3FD8C4"/>
          </a:solidFill>
          <a:ln/>
        </p:spPr>
      </p:sp>
      <p:sp>
        <p:nvSpPr>
          <p:cNvPr id="8" name="Text 6"/>
          <p:cNvSpPr/>
          <p:nvPr/>
        </p:nvSpPr>
        <p:spPr>
          <a:xfrm>
            <a:off x="9966960" y="17099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1B36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로그아웃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14400" y="22860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고위험 고객의 상담과 후속 처리를 관리합니다.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14400" y="2834640"/>
            <a:ext cx="3261360" cy="1371600"/>
          </a:xfrm>
          <a:prstGeom prst="roundRect">
            <a:avLst>
              <a:gd name="adj" fmla="val 5333"/>
            </a:avLst>
          </a:prstGeom>
          <a:solidFill>
            <a:srgbClr val="F5F7FB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971800"/>
            <a:ext cx="289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HIGH RISK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97280" y="3246120"/>
            <a:ext cx="289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8536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542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1097280" y="3822192"/>
            <a:ext cx="289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우선 상담 대상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450080" y="2834640"/>
            <a:ext cx="3261360" cy="1371600"/>
          </a:xfrm>
          <a:prstGeom prst="roundRect">
            <a:avLst>
              <a:gd name="adj" fmla="val 5333"/>
            </a:avLst>
          </a:prstGeom>
          <a:solidFill>
            <a:srgbClr val="F5F7FB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32960" y="2971800"/>
            <a:ext cx="289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OPEN QUEUE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632960" y="3246120"/>
            <a:ext cx="289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2A93B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45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4632960" y="3822192"/>
            <a:ext cx="289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처리 대기 캠페인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985760" y="2834640"/>
            <a:ext cx="3261360" cy="1371600"/>
          </a:xfrm>
          <a:prstGeom prst="roundRect">
            <a:avLst>
              <a:gd name="adj" fmla="val 5333"/>
            </a:avLst>
          </a:prstGeom>
          <a:solidFill>
            <a:srgbClr val="F5F7FB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68640" y="2971800"/>
            <a:ext cx="289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AVERAGE CHURN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168640" y="3246120"/>
            <a:ext cx="289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A893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96%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8168640" y="3822192"/>
            <a:ext cx="289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고위험 고객 기준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14400" y="4389120"/>
            <a:ext cx="10332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blurRad="76200" dist="25400" dir="5400000" algn="bl" rotWithShape="0">
              <a:srgbClr val="1B234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143000" y="457200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D8C4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조기경보 겹침 고객 (이중 신호) — 166명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43000" y="4919472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고위험(risk_level) + 활동성 급감 하위 20% 동시 해당. 위험도별 SLA(낮음 6시간 · 주의 12시간 · 높음 4시간)와 우선 관리 고객 리스트, 캠페인 처리 큐를 함께 확인합니다.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AA893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04 · 화면 살펴보기 — 분석팀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34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고객 분석 대시보드 — 이탈 확률 분포 &amp; 상관관계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blurRad="127000" dist="38100" dir="5400000" algn="bl" rotWithShape="0">
              <a:srgbClr val="1B234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00200"/>
            <a:ext cx="10881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blurRad="76200" dist="25400" dir="5400000" algn="bl" rotWithShape="0">
              <a:srgbClr val="1B234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6002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34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CARDOPS CONSOLE / INSIGHTS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966960" y="170992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3FD8C4"/>
          </a:solidFill>
          <a:ln/>
        </p:spPr>
      </p:sp>
      <p:sp>
        <p:nvSpPr>
          <p:cNvPr id="8" name="Text 6"/>
          <p:cNvSpPr/>
          <p:nvPr/>
        </p:nvSpPr>
        <p:spPr>
          <a:xfrm>
            <a:off x="9966960" y="17099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1B36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로그아웃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14400" y="22860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고객 행동 데이터를 기반으로 이탈 위험과 실행 우선순위를 확인합니다.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14400" y="2834640"/>
            <a:ext cx="3261360" cy="1371600"/>
          </a:xfrm>
          <a:prstGeom prst="roundRect">
            <a:avLst>
              <a:gd name="adj" fmla="val 5333"/>
            </a:avLst>
          </a:prstGeom>
          <a:solidFill>
            <a:srgbClr val="F5F7FB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971800"/>
            <a:ext cx="289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분석 대상 고객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97280" y="3246120"/>
            <a:ext cx="289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A893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2,000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1097280" y="3822192"/>
            <a:ext cx="289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8월 4일 배치 완료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450080" y="2834640"/>
            <a:ext cx="3261360" cy="1371600"/>
          </a:xfrm>
          <a:prstGeom prst="roundRect">
            <a:avLst>
              <a:gd name="adj" fmla="val 5333"/>
            </a:avLst>
          </a:prstGeom>
          <a:solidFill>
            <a:srgbClr val="F5F7FB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32960" y="2971800"/>
            <a:ext cx="289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고위험 고객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632960" y="3246120"/>
            <a:ext cx="289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8536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542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4632960" y="3822192"/>
            <a:ext cx="289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위험도 상위 27%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985760" y="2834640"/>
            <a:ext cx="3261360" cy="1371600"/>
          </a:xfrm>
          <a:prstGeom prst="roundRect">
            <a:avLst>
              <a:gd name="adj" fmla="val 5333"/>
            </a:avLst>
          </a:prstGeom>
          <a:solidFill>
            <a:srgbClr val="F5F7FB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68640" y="2971800"/>
            <a:ext cx="289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평균 이탈 확률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168640" y="3246120"/>
            <a:ext cx="289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2A93B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63%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8168640" y="3822192"/>
            <a:ext cx="289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정상 관리 고객 1,458명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14400" y="4389120"/>
            <a:ext cx="10332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blurRad="76200" dist="25400" dir="5400000" algn="bl" rotWithShape="0">
              <a:srgbClr val="1B234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143000" y="457200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D8C4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위험도별 고객 분포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43000" y="4919472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높음 542명(27%) · 주의 1,037명(52%) · 낮음 421명(21%). 범주형 변수별 이탈 확률, 변수-예측 상관관계, 고객별 분석 결과 CSV 내보내기를 지원합니다.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AA893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04 · 화면 살펴보기 — 마케팅팀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34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마케팅 캠페인 센터 — 세그먼트 타겟팅 &amp; A/B 성과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blurRad="127000" dist="38100" dir="5400000" algn="bl" rotWithShape="0">
              <a:srgbClr val="1B234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00200"/>
            <a:ext cx="10881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blurRad="76200" dist="25400" dir="5400000" algn="bl" rotWithShape="0">
              <a:srgbClr val="1B234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6002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34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CARDOPS CONSOLE / CAMPAIGNS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966960" y="170992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3FD8C4"/>
          </a:solidFill>
          <a:ln/>
        </p:spPr>
      </p:sp>
      <p:sp>
        <p:nvSpPr>
          <p:cNvPr id="8" name="Text 6"/>
          <p:cNvSpPr/>
          <p:nvPr/>
        </p:nvSpPr>
        <p:spPr>
          <a:xfrm>
            <a:off x="9966960" y="17099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1B36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로그아웃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14400" y="22860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후보 고객 선정부터 캠페인 생성·타겟팅·성과 확인까지 한 곳에서 관리합니다.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14400" y="2834640"/>
            <a:ext cx="3261360" cy="1371600"/>
          </a:xfrm>
          <a:prstGeom prst="roundRect">
            <a:avLst>
              <a:gd name="adj" fmla="val 5333"/>
            </a:avLst>
          </a:prstGeom>
          <a:solidFill>
            <a:srgbClr val="F5F7FB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971800"/>
            <a:ext cx="289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타겟팅 세그먼트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97280" y="3246120"/>
            <a:ext cx="289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8536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고위험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1097280" y="3822192"/>
            <a:ext cx="289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고객 리텐션 · risk_level = high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450080" y="2834640"/>
            <a:ext cx="3261360" cy="1371600"/>
          </a:xfrm>
          <a:prstGeom prst="roundRect">
            <a:avLst>
              <a:gd name="adj" fmla="val 5333"/>
            </a:avLst>
          </a:prstGeom>
          <a:solidFill>
            <a:srgbClr val="F5F7FB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32960" y="2971800"/>
            <a:ext cx="289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A/B 대조군 비율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632960" y="3246120"/>
            <a:ext cx="289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2A93B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20%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4632960" y="3822192"/>
            <a:ext cx="289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대조군 사용 · 유지 관측 30일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985760" y="2834640"/>
            <a:ext cx="3261360" cy="1371600"/>
          </a:xfrm>
          <a:prstGeom prst="roundRect">
            <a:avLst>
              <a:gd name="adj" fmla="val 5333"/>
            </a:avLst>
          </a:prstGeom>
          <a:solidFill>
            <a:srgbClr val="F5F7FB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68640" y="2971800"/>
            <a:ext cx="289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권한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168640" y="3246120"/>
            <a:ext cx="289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A893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ADMIN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8168640" y="3822192"/>
            <a:ext cx="289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MARKETING 전용 실행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14400" y="4389120"/>
            <a:ext cx="10332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blurRad="76200" dist="25400" dir="5400000" algn="bl" rotWithShape="0">
              <a:srgbClr val="1B234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143000" y="457200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D8C4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세그먼트 일괄 타겟팅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43000" y="4919472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세그먼트를 선택하고 미리보기를 생성하면 활성 캠페인·최근 접촉·수신 거부 제외 결과가 표시됩니다. 캠페인별 대조군 비교와 증분 ROI 측정을 지원합니다.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Shape 728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EEEEFF"/>
          </a:solidFill>
          <a:ln>
            <a:noFill/>
          </a:ln>
        </p:spPr>
      </p:sp>
      <p:sp>
        <p:nvSpPr>
          <p:cNvPr id="730" name="Shape 730"/>
          <p:cNvSpPr/>
          <p:nvPr/>
        </p:nvSpPr>
        <p:spPr>
          <a:xfrm>
            <a:off x="9875520" y="4389120"/>
            <a:ext cx="3840480" cy="3840480"/>
          </a:xfrm>
          <a:prstGeom prst="ellipse">
            <a:avLst/>
          </a:prstGeom>
          <a:solidFill>
            <a:srgbClr val="5558DC"/>
          </a:solidFill>
          <a:ln>
            <a:noFill/>
          </a:ln>
        </p:spPr>
      </p:sp>
      <p:sp>
        <p:nvSpPr>
          <p:cNvPr id="732" name="Text 732"/>
          <p:cNvSpPr/>
          <p:nvPr/>
        </p:nvSpPr>
        <p:spPr>
          <a:xfrm>
            <a:off x="822960" y="1280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altLang="en-US" sz="1300" b="1" spc="300" dirty="0">
                <a:solidFill>
                  <a:srgbClr val="5558D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CLOSING</a:t>
            </a:r>
          </a:p>
        </p:txBody>
      </p:sp>
      <p:sp>
        <p:nvSpPr>
          <p:cNvPr id="734" name="Text 734"/>
          <p:cNvSpPr/>
          <p:nvPr/>
        </p:nvSpPr>
        <p:spPr>
          <a:xfrm>
            <a:off x="822960" y="1691640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ko-KR" altLang="en-US" sz="3400" b="1" dirty="0">
                <a:solidFill>
                  <a:srgbClr val="1B234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데이터 → 예측 → 업무 액션까지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ko-KR" altLang="en-US" sz="3400" b="1" dirty="0">
                <a:solidFill>
                  <a:srgbClr val="1B234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하나의 콘솔로 연결하다</a:t>
            </a:r>
          </a:p>
        </p:txBody>
      </p:sp>
      <p:sp>
        <p:nvSpPr>
          <p:cNvPr id="736" name="Text 736"/>
          <p:cNvSpPr/>
          <p:nvPr/>
        </p:nvSpPr>
        <p:spPr>
          <a:xfrm>
            <a:off x="822960" y="324612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ko-KR" altLang="en-US" sz="1450" b="0" dirty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이탈 확률이라는 숫자를 역할별 실행 가능한 업무(상담·타겟팅·캠페인)로 바꾸는 것이 CardOps Console의 핵심 가치입니다.</a:t>
            </a:r>
          </a:p>
        </p:txBody>
      </p:sp>
      <p:sp>
        <p:nvSpPr>
          <p:cNvPr id="738" name="Shape 738"/>
          <p:cNvSpPr/>
          <p:nvPr/>
        </p:nvSpPr>
        <p:spPr>
          <a:xfrm>
            <a:off x="822960" y="4297680"/>
            <a:ext cx="3291840" cy="100584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blurRad="76200" dist="25400" dir="5400000" algn="bl" rotWithShape="0">
              <a:srgbClr val="1B2340">
                <a:alpha val="15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740" name="Text 740"/>
          <p:cNvSpPr/>
          <p:nvPr/>
        </p:nvSpPr>
        <p:spPr>
          <a:xfrm>
            <a:off x="1051560" y="440740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5558D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Backend</a:t>
            </a:r>
          </a:p>
        </p:txBody>
      </p:sp>
      <p:sp>
        <p:nvSpPr>
          <p:cNvPr id="742" name="Text 742"/>
          <p:cNvSpPr/>
          <p:nvPr/>
        </p:nvSpPr>
        <p:spPr>
          <a:xfrm>
            <a:off x="1051560" y="473659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altLang="en-US" sz="1100" b="0" dirty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FastAPI · SQLAlchemy · Alembic</a:t>
            </a:r>
          </a:p>
        </p:txBody>
      </p:sp>
      <p:sp>
        <p:nvSpPr>
          <p:cNvPr id="744" name="Shape 744"/>
          <p:cNvSpPr/>
          <p:nvPr/>
        </p:nvSpPr>
        <p:spPr>
          <a:xfrm>
            <a:off x="4343400" y="4297680"/>
            <a:ext cx="3291840" cy="100584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blurRad="76200" dist="25400" dir="5400000" algn="bl" rotWithShape="0">
              <a:srgbClr val="1B2340">
                <a:alpha val="15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746" name="Text 746"/>
          <p:cNvSpPr/>
          <p:nvPr/>
        </p:nvSpPr>
        <p:spPr>
          <a:xfrm>
            <a:off x="4572000" y="440740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5558D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Frontend</a:t>
            </a:r>
          </a:p>
        </p:txBody>
      </p:sp>
      <p:sp>
        <p:nvSpPr>
          <p:cNvPr id="748" name="Text 748"/>
          <p:cNvSpPr/>
          <p:nvPr/>
        </p:nvSpPr>
        <p:spPr>
          <a:xfrm>
            <a:off x="4572000" y="473659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altLang="en-US" sz="1100" b="0" dirty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React 19 · Vite · Recharts</a:t>
            </a:r>
          </a:p>
        </p:txBody>
      </p:sp>
      <p:sp>
        <p:nvSpPr>
          <p:cNvPr id="750" name="Shape 750"/>
          <p:cNvSpPr/>
          <p:nvPr/>
        </p:nvSpPr>
        <p:spPr>
          <a:xfrm>
            <a:off x="7863840" y="4297680"/>
            <a:ext cx="3291840" cy="100584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blurRad="76200" dist="25400" dir="5400000" algn="bl" rotWithShape="0">
              <a:srgbClr val="1B2340">
                <a:alpha val="15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752" name="Text 752"/>
          <p:cNvSpPr/>
          <p:nvPr/>
        </p:nvSpPr>
        <p:spPr>
          <a:xfrm>
            <a:off x="8092440" y="440740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5558D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ML</a:t>
            </a:r>
          </a:p>
        </p:txBody>
      </p:sp>
      <p:sp>
        <p:nvSpPr>
          <p:cNvPr id="754" name="Text 754"/>
          <p:cNvSpPr/>
          <p:nvPr/>
        </p:nvSpPr>
        <p:spPr>
          <a:xfrm>
            <a:off x="8092440" y="473659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altLang="en-US" sz="1100" b="0" dirty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XGBoost · LightGBM · 회귀 · 군집</a:t>
            </a:r>
          </a:p>
        </p:txBody>
      </p:sp>
      <p:sp>
        <p:nvSpPr>
          <p:cNvPr id="756" name="Text 756"/>
          <p:cNvSpPr/>
          <p:nvPr/>
        </p:nvSpPr>
        <p:spPr>
          <a:xfrm>
            <a:off x="822960" y="57150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altLang="en-US" sz="1800" b="1" dirty="0">
                <a:solidFill>
                  <a:srgbClr val="1B234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감사합니다 · Q&amp;A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 102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altLang="en-US" sz="1200" b="1" i="0" spc="200" dirty="0">
                <a:solidFill>
                  <a:srgbClr val="5558D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 xml:space="preserve">02 · </a:t>
            </a:r>
            <a:r>
              <a:rPr lang="ko-KR" altLang="en-US" sz="1200" b="1" i="0" spc="200" dirty="0">
                <a:solidFill>
                  <a:srgbClr val="5558D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비즈니스 로직</a:t>
            </a:r>
          </a:p>
        </p:txBody>
      </p:sp>
      <p:sp>
        <p:nvSpPr>
          <p:cNvPr id="104" name="Text 104"/>
          <p:cNvSpPr/>
          <p:nvPr/>
        </p:nvSpPr>
        <p:spPr>
          <a:xfrm>
            <a:off x="640080" y="777240"/>
            <a:ext cx="10911840" cy="7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altLang="en-US" sz="2100" b="1" i="0" dirty="0">
                <a:solidFill>
                  <a:srgbClr val="1B234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다이어그램이 아니라 실제 코드 — 이중 신호는 이렇게 판정됩니다</a:t>
            </a:r>
          </a:p>
        </p:txBody>
      </p:sp>
      <p:sp>
        <p:nvSpPr>
          <p:cNvPr id="106" name="Shape 106"/>
          <p:cNvSpPr/>
          <p:nvPr/>
        </p:nvSpPr>
        <p:spPr>
          <a:xfrm>
            <a:off x="640080" y="1650000"/>
            <a:ext cx="10911840" cy="3474720"/>
          </a:xfrm>
          <a:prstGeom prst="roundRect">
            <a:avLst>
              <a:gd name="adj" fmla="val 4500"/>
            </a:avLst>
          </a:prstGeom>
          <a:solidFill>
            <a:srgbClr val="F5F7FB"/>
          </a:solidFill>
          <a:ln w="12700">
            <a:solidFill>
              <a:srgbClr val="E4E8F2"/>
            </a:solidFill>
            <a:prstDash val="solid"/>
          </a:ln>
          <a:effectLst>
            <a:outerShdw blurRad="76200" dist="25400" dir="5400000" algn="bl" rotWithShape="0">
              <a:srgbClr val="1B2340">
                <a:alpha val="15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108" name="Text 108"/>
          <p:cNvSpPr/>
          <p:nvPr/>
        </p:nvSpPr>
        <p:spPr>
          <a:xfrm>
            <a:off x="1005840" y="1878600"/>
            <a:ext cx="10180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ko-KR" altLang="en-US" sz="1000" b="0" i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src/features/department/DepartmentDashboardPage.tsx</a:t>
            </a:r>
          </a:p>
          <a:p>
            <a:pPr marL="0" indent="0" algn="l">
              <a:buNone/>
            </a:pPr>
            <a:r>
              <a:rPr lang="ko-KR" altLang="en-US" sz="1000" b="0" i="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/>
            </a:r>
          </a:p>
          <a:p>
            <a:pPr marL="0" indent="0" algn="l">
              <a:buNone/>
            </a:pPr>
            <a:r>
              <a:rPr lang="ko-KR" altLang="en-US" sz="1000" b="0" i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위험도 high + 활동성 갭 하위 20% 동시 해당 → 이중 신호</a:t>
            </a:r>
          </a:p>
          <a:p>
            <a:pPr marL="0" indent="0" algn="l">
              <a:buNone/>
            </a:pPr>
            <a:r>
              <a:rPr lang="ko-KR" altLang="en-US" sz="1000" b="1" i="0" dirty="0">
                <a:solidFill>
                  <a:srgbClr val="424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const </a:t>
            </a:r>
            <a:r>
              <a:rPr lang="ko-KR" altLang="en-US" sz="1000" b="0" i="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dualSignalInsights =</a:t>
            </a:r>
          </a:p>
          <a:p>
            <a:pPr marL="0" indent="0" algn="l">
              <a:buNone/>
            </a:pPr>
            <a:r>
              <a:rPr lang="ko-KR" altLang="en-US" sz="1000" b="0" i="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dualSignal === null || dualSignal.activity_gap_threshold === null</a:t>
            </a:r>
          </a:p>
          <a:p>
            <a:pPr marL="0" indent="0" algn="l">
              <a:buNone/>
            </a:pPr>
            <a:r>
              <a:rPr lang="ko-KR" altLang="en-US" sz="1000" b="0" i="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? []</a:t>
            </a:r>
          </a:p>
          <a:p>
            <a:pPr marL="0" indent="0" algn="l">
              <a:buNone/>
            </a:pPr>
            <a:r>
              <a:rPr lang="ko-KR" altLang="en-US" sz="1000" b="0" i="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: (insights?.items ?? []).filter((item) =&gt;</a:t>
            </a:r>
          </a:p>
          <a:p>
            <a:pPr marL="0" indent="0" algn="l">
              <a:buNone/>
            </a:pPr>
            <a:r>
              <a:rPr lang="ko-KR" altLang="en-US" sz="1000" b="0" i="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item.activity_gap &lt;= dualSignal.activity_gap_threshold</a:t>
            </a:r>
          </a:p>
          <a:p>
            <a:pPr marL="0" indent="0" algn="l">
              <a:buNone/>
            </a:pPr>
            <a:r>
              <a:rPr lang="ko-KR" altLang="en-US" sz="1000" b="0" i="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);</a:t>
            </a:r>
          </a:p>
          <a:p>
            <a:pPr marL="0" indent="0" algn="l">
              <a:buNone/>
            </a:pPr>
            <a:r>
              <a:rPr lang="ko-KR" altLang="en-US" sz="1000" b="0" i="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/>
            </a:r>
          </a:p>
          <a:p>
            <a:pPr marL="0" indent="0" algn="l">
              <a:buNone/>
            </a:pPr>
            <a:r>
              <a:rPr lang="ko-KR" altLang="en-US" sz="1000" b="0" i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운영 업무 센터 배너에 그대로 쓰이는 판정 문구</a:t>
            </a:r>
          </a:p>
          <a:p>
            <a:pPr marL="0" indent="0" algn="l">
              <a:buNone/>
            </a:pPr>
            <a:r>
              <a:rPr lang="ko-KR" altLang="en-US" sz="1000" b="1" i="0" dirty="0">
                <a:solidFill>
                  <a:srgbClr val="424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if </a:t>
            </a:r>
            <a:r>
              <a:rPr lang="ko-KR" altLang="en-US" sz="1000" b="0" i="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(dualSignal.count === 0) {</a:t>
            </a:r>
          </a:p>
          <a:p>
            <a:pPr marL="0" indent="0" algn="l">
              <a:buNone/>
            </a:pPr>
            <a:r>
              <a:rPr lang="ko-KR" altLang="en-US" sz="1000" b="1" i="0" dirty="0">
                <a:solidFill>
                  <a:srgbClr val="424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return</a:t>
            </a:r>
            <a:r>
              <a:rPr lang="ko-KR" altLang="en-US" sz="1000" b="0" i="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{ severity: </a:t>
            </a:r>
            <a:r>
              <a:rPr lang="ko-KR" altLang="en-US" sz="1000" b="0" i="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"good"</a:t>
            </a:r>
            <a:r>
              <a:rPr lang="ko-KR" altLang="en-US" sz="1000" b="0" i="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, headline: </a:t>
            </a:r>
            <a:r>
              <a:rPr lang="ko-KR" altLang="en-US" sz="1000" b="0" i="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"이중신호 해당 고객이 없습니다"</a:t>
            </a:r>
            <a:r>
              <a:rPr lang="ko-KR" altLang="en-US" sz="1000" b="0" i="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};</a:t>
            </a:r>
          </a:p>
          <a:p>
            <a:pPr marL="0" indent="0" algn="l">
              <a:buNone/>
            </a:pPr>
            <a:r>
              <a:rPr lang="ko-KR" altLang="en-US" sz="1000" b="0" i="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</a:p>
          <a:p>
            <a:pPr marL="0" indent="0" algn="l">
              <a:buNone/>
            </a:pPr>
            <a:r>
              <a:rPr lang="ko-KR" altLang="en-US" sz="1000" b="1" i="0" dirty="0">
                <a:solidFill>
                  <a:srgbClr val="424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ko-KR" altLang="en-US" sz="1000" b="0" i="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{</a:t>
            </a:r>
          </a:p>
          <a:p>
            <a:pPr marL="0" indent="0" algn="l">
              <a:buNone/>
            </a:pPr>
            <a:r>
              <a:rPr lang="ko-KR" altLang="en-US" sz="1000" b="0" i="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severity: </a:t>
            </a:r>
            <a:r>
              <a:rPr lang="ko-KR" altLang="en-US" sz="1000" b="0" i="0" dirty="0">
                <a:solidFill>
                  <a:srgbClr val="D13F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"danger"</a:t>
            </a:r>
            <a:r>
              <a:rPr lang="ko-KR" altLang="en-US" sz="1000" b="0" i="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</a:p>
          <a:p>
            <a:pPr marL="0" indent="0" algn="l">
              <a:buNone/>
            </a:pPr>
            <a:r>
              <a:rPr lang="ko-KR" altLang="en-US" sz="1000" b="0" i="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headline: </a:t>
            </a:r>
            <a:r>
              <a:rPr lang="ko-KR" altLang="en-US" sz="1000" b="0" i="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`이중신호 고위험 고객 ${formatNumber(dualSignal.count)}명 — 즉시 관리가 필요합니다`</a:t>
            </a:r>
            <a:r>
              <a:rPr lang="ko-KR" altLang="en-US" sz="1000" b="0" i="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</a:p>
          <a:p>
            <a:pPr marL="0" indent="0" algn="l">
              <a:buNone/>
            </a:pPr>
            <a:r>
              <a:rPr lang="ko-KR" altLang="en-US" sz="1000" b="0" i="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</a:p>
        </p:txBody>
      </p:sp>
      <p:sp>
        <p:nvSpPr>
          <p:cNvPr id="110" name="Text 110"/>
          <p:cNvSpPr/>
          <p:nvPr/>
        </p:nvSpPr>
        <p:spPr>
          <a:xfrm>
            <a:off x="640080" y="5284720"/>
            <a:ext cx="10911840" cy="4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ko-KR" altLang="en-US" sz="1100" b="0" i="1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실측: 고위험 542명 중 166명이 이중 신호 — 운영 업무 센터 최우선 상담 대상입니다.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 112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altLang="en-US" sz="1200" b="1" i="0" spc="200" dirty="0">
                <a:solidFill>
                  <a:srgbClr val="5558D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 xml:space="preserve">02 · </a:t>
            </a:r>
            <a:r>
              <a:rPr lang="ko-KR" altLang="en-US" sz="1200" b="1" i="0" spc="200" dirty="0">
                <a:solidFill>
                  <a:srgbClr val="5558D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비즈니스 로직</a:t>
            </a:r>
          </a:p>
        </p:txBody>
      </p:sp>
      <p:sp>
        <p:nvSpPr>
          <p:cNvPr id="114" name="Text 114"/>
          <p:cNvSpPr/>
          <p:nvPr/>
        </p:nvSpPr>
        <p:spPr>
          <a:xfrm>
            <a:off x="640080" y="777240"/>
            <a:ext cx="10911840" cy="7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altLang="en-US" sz="2100" b="1" i="0" dirty="0">
                <a:solidFill>
                  <a:srgbClr val="1B234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세그먼트 7종, 프론트엔드 상수로도 고정되어 있습니다</a:t>
            </a:r>
          </a:p>
        </p:txBody>
      </p:sp>
      <p:sp>
        <p:nvSpPr>
          <p:cNvPr id="116" name="Shape 116"/>
          <p:cNvSpPr/>
          <p:nvPr/>
        </p:nvSpPr>
        <p:spPr>
          <a:xfrm>
            <a:off x="640080" y="1650000"/>
            <a:ext cx="10911840" cy="3307080"/>
          </a:xfrm>
          <a:prstGeom prst="roundRect">
            <a:avLst>
              <a:gd name="adj" fmla="val 4500"/>
            </a:avLst>
          </a:prstGeom>
          <a:solidFill>
            <a:srgbClr val="F5F7FB"/>
          </a:solidFill>
          <a:ln w="12700">
            <a:solidFill>
              <a:srgbClr val="E4E8F2"/>
            </a:solidFill>
            <a:prstDash val="solid"/>
          </a:ln>
          <a:effectLst>
            <a:outerShdw blurRad="76200" dist="25400" dir="5400000" algn="bl" rotWithShape="0">
              <a:srgbClr val="1B2340">
                <a:alpha val="15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118" name="Text 118"/>
          <p:cNvSpPr/>
          <p:nvPr/>
        </p:nvSpPr>
        <p:spPr>
          <a:xfrm>
            <a:off x="1005840" y="1878600"/>
            <a:ext cx="10180320" cy="2849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ko-KR" altLang="en-US" sz="1000" b="0" i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src/api/campaigns.ts</a:t>
            </a:r>
          </a:p>
          <a:p>
            <a:pPr marL="0" indent="0" algn="l">
              <a:buNone/>
            </a:pPr>
            <a:r>
              <a:rPr lang="ko-KR" altLang="en-US" sz="1000" b="0" i="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/>
            </a:r>
          </a:p>
          <a:p>
            <a:pPr marL="0" indent="0" algn="l">
              <a:buNone/>
            </a:pPr>
            <a:r>
              <a:rPr lang="ko-KR" altLang="en-US" sz="1000" b="1" i="0" dirty="0">
                <a:solidFill>
                  <a:srgbClr val="424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export const </a:t>
            </a:r>
            <a:r>
              <a:rPr lang="ko-KR" altLang="en-US" sz="1000" b="0" i="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SEGMENT_LABELS: Record&lt;BulkTargetingSegment, string&gt; = {</a:t>
            </a:r>
          </a:p>
          <a:p>
            <a:pPr marL="0" indent="0" algn="l">
              <a:buNone/>
            </a:pPr>
            <a:r>
              <a:rPr lang="ko-KR" altLang="en-US" sz="1000" b="0" i="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small_balance_decline: </a:t>
            </a:r>
            <a:r>
              <a:rPr lang="ko-KR" altLang="en-US" sz="1000" b="0" i="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"소액 잔액·거래 급감 (긴급)"</a:t>
            </a:r>
            <a:r>
              <a:rPr lang="ko-KR" altLang="en-US" sz="1000" b="0" i="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</a:p>
          <a:p>
            <a:pPr marL="0" indent="0" algn="l">
              <a:buNone/>
            </a:pPr>
            <a:r>
              <a:rPr lang="ko-KR" altLang="en-US" sz="1000" b="0" i="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dormant_full_payer: </a:t>
            </a:r>
            <a:r>
              <a:rPr lang="ko-KR" altLang="en-US" sz="1000" b="0" i="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"완납형 저활동 (이탈 임박)"</a:t>
            </a:r>
            <a:r>
              <a:rPr lang="ko-KR" altLang="en-US" sz="1000" b="0" i="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</a:p>
          <a:p>
            <a:pPr marL="0" indent="0" algn="l">
              <a:buNone/>
            </a:pPr>
            <a:r>
              <a:rPr lang="ko-KR" altLang="en-US" sz="1000" b="0" i="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high_risk_retention: </a:t>
            </a:r>
            <a:r>
              <a:rPr lang="ko-KR" altLang="en-US" sz="1000" b="0" i="0" dirty="0">
                <a:solidFill>
                  <a:srgbClr val="D13F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"고위험 고객 리텐션"</a:t>
            </a:r>
            <a:r>
              <a:rPr lang="ko-KR" altLang="en-US" sz="1000" b="0" i="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</a:p>
          <a:p>
            <a:pPr marL="0" indent="0" algn="l">
              <a:buNone/>
            </a:pPr>
            <a:r>
              <a:rPr lang="ko-KR" altLang="en-US" sz="1000" b="0" i="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medium_reactivation: </a:t>
            </a:r>
            <a:r>
              <a:rPr lang="ko-KR" altLang="en-US" sz="1000" b="0" i="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"중위험·활동성 하락 재활성화"</a:t>
            </a:r>
            <a:r>
              <a:rPr lang="ko-KR" altLang="en-US" sz="1000" b="0" i="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</a:p>
          <a:p>
            <a:pPr marL="0" indent="0" algn="l">
              <a:buNone/>
            </a:pPr>
            <a:r>
              <a:rPr lang="ko-KR" altLang="en-US" sz="1000" b="0" i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// … active_full_payer, low_risk_upsell, stable_prime</a:t>
            </a:r>
          </a:p>
          <a:p>
            <a:pPr marL="0" indent="0" algn="l">
              <a:buNone/>
            </a:pPr>
            <a:r>
              <a:rPr lang="ko-KR" altLang="en-US" sz="1000" b="0" i="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</a:p>
          <a:p>
            <a:pPr marL="0" indent="0" algn="l">
              <a:buNone/>
            </a:pPr>
            <a:r>
              <a:rPr lang="ko-KR" altLang="en-US" sz="1000" b="0" i="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/>
            </a:r>
          </a:p>
          <a:p>
            <a:pPr marL="0" indent="0" algn="l">
              <a:buNone/>
            </a:pPr>
            <a:r>
              <a:rPr lang="ko-KR" altLang="en-US" sz="1000" b="0" i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src/features/campaign/BulkTargetingPanel.tsx — 우선순위 실행 순서</a:t>
            </a:r>
          </a:p>
          <a:p>
            <a:pPr marL="0" indent="0" algn="l">
              <a:buNone/>
            </a:pPr>
            <a:r>
              <a:rPr lang="ko-KR" altLang="en-US" sz="1000" b="1" i="0" dirty="0">
                <a:solidFill>
                  <a:srgbClr val="424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const </a:t>
            </a:r>
            <a:r>
              <a:rPr lang="ko-KR" altLang="en-US" sz="1000" b="0" i="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segmentActions: BulkTargetingSegment[] = [</a:t>
            </a:r>
          </a:p>
          <a:p>
            <a:pPr marL="0" indent="0" algn="l">
              <a:buNone/>
            </a:pPr>
            <a:r>
              <a:rPr lang="ko-KR" altLang="en-US" sz="1000" b="0" i="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</a:t>
            </a:r>
            <a:r>
              <a:rPr lang="ko-KR" altLang="en-US" sz="1000" b="0" i="0" dirty="0">
                <a:solidFill>
                  <a:srgbClr val="D13F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"small_balance_decline"</a:t>
            </a:r>
            <a:r>
              <a:rPr lang="ko-KR" altLang="en-US" sz="1000" b="0" i="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, </a:t>
            </a:r>
            <a:r>
              <a:rPr lang="ko-KR" altLang="en-US" sz="1000" b="0" i="0" dirty="0">
                <a:solidFill>
                  <a:srgbClr val="D13F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"dormant_full_payer"</a:t>
            </a:r>
            <a:r>
              <a:rPr lang="ko-KR" altLang="en-US" sz="1000" b="0" i="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</a:p>
          <a:p>
            <a:pPr marL="0" indent="0" algn="l">
              <a:buNone/>
            </a:pPr>
            <a:r>
              <a:rPr lang="ko-KR" altLang="en-US" sz="1000" b="0" i="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</a:t>
            </a:r>
            <a:r>
              <a:rPr lang="ko-KR" altLang="en-US" sz="1000" b="0" i="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"high_risk_retention"</a:t>
            </a:r>
            <a:r>
              <a:rPr lang="ko-KR" altLang="en-US" sz="1000" b="0" i="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, </a:t>
            </a:r>
            <a:r>
              <a:rPr lang="ko-KR" altLang="en-US" sz="1000" b="0" i="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"medium_reactivation"</a:t>
            </a:r>
            <a:r>
              <a:rPr lang="ko-KR" altLang="en-US" sz="1000" b="0" i="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…</a:t>
            </a:r>
          </a:p>
          <a:p>
            <a:pPr marL="0" indent="0" algn="l">
              <a:buNone/>
            </a:pPr>
            <a:r>
              <a:rPr lang="ko-KR" altLang="en-US" sz="1000" b="0" i="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</a:p>
          <a:p>
            <a:pPr marL="0" indent="0" algn="l">
              <a:buNone/>
            </a:pPr>
            <a:r>
              <a:rPr lang="ko-KR" altLang="en-US" sz="1000" b="0" i="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/>
            </a:r>
          </a:p>
          <a:p>
            <a:pPr marL="0" indent="0" algn="l">
              <a:buNone/>
            </a:pPr>
            <a:r>
              <a:rPr lang="ko-KR" altLang="en-US" sz="1000" b="0" i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우선순위가 높은 세그먼트가 잡은 고객은 하위 세그먼트가 가져가지 않습니다</a:t>
            </a:r>
          </a:p>
        </p:txBody>
      </p:sp>
      <p:sp>
        <p:nvSpPr>
          <p:cNvPr id="120" name="Text 120"/>
          <p:cNvSpPr/>
          <p:nvPr/>
        </p:nvSpPr>
        <p:spPr>
          <a:xfrm>
            <a:off x="640080" y="5117080"/>
            <a:ext cx="10911840" cy="4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ko-KR" altLang="en-US" sz="1100" b="0" i="1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판정 조건·실측 이탈률은 백엔드 정책에, 라벨·설명·우선순위는 프론트엔드에도 이중 선언됩니다.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 122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altLang="en-US" sz="1200" b="1" i="0" spc="200" dirty="0">
                <a:solidFill>
                  <a:srgbClr val="5558D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 xml:space="preserve">02 · </a:t>
            </a:r>
            <a:r>
              <a:rPr lang="ko-KR" altLang="en-US" sz="1200" b="1" i="0" spc="200" dirty="0">
                <a:solidFill>
                  <a:srgbClr val="5558D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비즈니스 로직</a:t>
            </a:r>
          </a:p>
        </p:txBody>
      </p:sp>
      <p:sp>
        <p:nvSpPr>
          <p:cNvPr id="124" name="Text 124"/>
          <p:cNvSpPr/>
          <p:nvPr/>
        </p:nvSpPr>
        <p:spPr>
          <a:xfrm>
            <a:off x="640080" y="777240"/>
            <a:ext cx="10911840" cy="7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altLang="en-US" sz="2100" b="1" i="0" dirty="0">
                <a:solidFill>
                  <a:srgbClr val="1B234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슬라이드의 화살표는 이 TypeScript 객체와 1:1로 대응합니다</a:t>
            </a:r>
          </a:p>
        </p:txBody>
      </p:sp>
      <p:sp>
        <p:nvSpPr>
          <p:cNvPr id="126" name="Shape 126"/>
          <p:cNvSpPr/>
          <p:nvPr/>
        </p:nvSpPr>
        <p:spPr>
          <a:xfrm>
            <a:off x="640080" y="1650000"/>
            <a:ext cx="10911840" cy="3139440"/>
          </a:xfrm>
          <a:prstGeom prst="roundRect">
            <a:avLst>
              <a:gd name="adj" fmla="val 4500"/>
            </a:avLst>
          </a:prstGeom>
          <a:solidFill>
            <a:srgbClr val="F5F7FB"/>
          </a:solidFill>
          <a:ln w="12700">
            <a:solidFill>
              <a:srgbClr val="E4E8F2"/>
            </a:solidFill>
            <a:prstDash val="solid"/>
          </a:ln>
          <a:effectLst>
            <a:outerShdw blurRad="76200" dist="25400" dir="5400000" algn="bl" rotWithShape="0">
              <a:srgbClr val="1B2340">
                <a:alpha val="15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128" name="Text 128"/>
          <p:cNvSpPr/>
          <p:nvPr/>
        </p:nvSpPr>
        <p:spPr>
          <a:xfrm>
            <a:off x="1005840" y="1878600"/>
            <a:ext cx="10180320" cy="2682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ko-KR" altLang="en-US" sz="1000" b="0" i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src/features/campaign/CampaignManagementPage.tsx</a:t>
            </a:r>
          </a:p>
          <a:p>
            <a:pPr marL="0" indent="0" algn="l">
              <a:buNone/>
            </a:pPr>
            <a:r>
              <a:rPr lang="ko-KR" altLang="en-US" sz="1000" b="0" i="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/>
            </a:r>
          </a:p>
          <a:p>
            <a:pPr marL="0" indent="0" algn="l">
              <a:buNone/>
            </a:pPr>
            <a:r>
              <a:rPr lang="ko-KR" altLang="en-US" sz="1000" b="1" i="0" dirty="0">
                <a:solidFill>
                  <a:srgbClr val="424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const </a:t>
            </a:r>
            <a:r>
              <a:rPr lang="ko-KR" altLang="en-US" sz="1000" b="0" i="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lifecycleTransitions: Record&lt;CampaignLifecycleStatus, CampaignLifecycleStatus[]&gt; = {</a:t>
            </a:r>
          </a:p>
          <a:p>
            <a:pPr marL="0" indent="0" algn="l">
              <a:buNone/>
            </a:pPr>
            <a:r>
              <a:rPr lang="ko-KR" altLang="en-US" sz="1000" b="0" i="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draft: [</a:t>
            </a:r>
            <a:r>
              <a:rPr lang="ko-KR" altLang="en-US" sz="1000" b="0" i="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"draft"</a:t>
            </a:r>
            <a:r>
              <a:rPr lang="ko-KR" altLang="en-US" sz="1000" b="0" i="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, </a:t>
            </a:r>
            <a:r>
              <a:rPr lang="ko-KR" altLang="en-US" sz="1000" b="0" i="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"scheduled"</a:t>
            </a:r>
            <a:r>
              <a:rPr lang="ko-KR" altLang="en-US" sz="1000" b="0" i="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, </a:t>
            </a:r>
            <a:r>
              <a:rPr lang="ko-KR" altLang="en-US" sz="1000" b="0" i="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"active"</a:t>
            </a:r>
            <a:r>
              <a:rPr lang="ko-KR" altLang="en-US" sz="1000" b="0" i="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, </a:t>
            </a:r>
            <a:r>
              <a:rPr lang="ko-KR" altLang="en-US" sz="1000" b="0" i="0" dirty="0">
                <a:solidFill>
                  <a:srgbClr val="D13F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"cancelled"</a:t>
            </a:r>
            <a:r>
              <a:rPr lang="ko-KR" altLang="en-US" sz="1000" b="0" i="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</a:p>
          <a:p>
            <a:pPr marL="0" indent="0" algn="l">
              <a:buNone/>
            </a:pPr>
            <a:r>
              <a:rPr lang="ko-KR" altLang="en-US" sz="1000" b="0" i="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active: [</a:t>
            </a:r>
            <a:r>
              <a:rPr lang="ko-KR" altLang="en-US" sz="1000" b="0" i="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"active"</a:t>
            </a:r>
            <a:r>
              <a:rPr lang="ko-KR" altLang="en-US" sz="1000" b="0" i="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, </a:t>
            </a:r>
            <a:r>
              <a:rPr lang="ko-KR" altLang="en-US" sz="1000" b="0" i="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"paused"</a:t>
            </a:r>
            <a:r>
              <a:rPr lang="ko-KR" altLang="en-US" sz="1000" b="0" i="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, </a:t>
            </a:r>
            <a:r>
              <a:rPr lang="ko-KR" altLang="en-US" sz="1000" b="0" i="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"completed"</a:t>
            </a:r>
            <a:r>
              <a:rPr lang="ko-KR" altLang="en-US" sz="1000" b="0" i="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, </a:t>
            </a:r>
            <a:r>
              <a:rPr lang="ko-KR" altLang="en-US" sz="1000" b="0" i="0" dirty="0">
                <a:solidFill>
                  <a:srgbClr val="D13F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"cancelled"</a:t>
            </a:r>
            <a:r>
              <a:rPr lang="ko-KR" altLang="en-US" sz="1000" b="0" i="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</a:p>
          <a:p>
            <a:pPr marL="0" indent="0" algn="l">
              <a:buNone/>
            </a:pPr>
            <a:r>
              <a:rPr lang="ko-KR" altLang="en-US" sz="1000" b="0" i="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completed: [</a:t>
            </a:r>
            <a:r>
              <a:rPr lang="ko-KR" altLang="en-US" sz="1000" b="0" i="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"completed"</a:t>
            </a:r>
            <a:r>
              <a:rPr lang="ko-KR" altLang="en-US" sz="1000" b="0" i="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r>
              <a:rPr lang="ko-KR" altLang="en-US" sz="1000" b="0" i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// 종단 상태 — 더 이상 전이 불가</a:t>
            </a:r>
          </a:p>
          <a:p>
            <a:pPr marL="0" indent="0" algn="l">
              <a:buNone/>
            </a:pPr>
            <a:r>
              <a:rPr lang="ko-KR" altLang="en-US" sz="1000" b="0" i="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</a:p>
          <a:p>
            <a:pPr marL="0" indent="0" algn="l">
              <a:buNone/>
            </a:pPr>
            <a:r>
              <a:rPr lang="ko-KR" altLang="en-US" sz="1000" b="0" i="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/>
            </a:r>
          </a:p>
          <a:p>
            <a:pPr marL="0" indent="0" algn="l">
              <a:buNone/>
            </a:pPr>
            <a:r>
              <a:rPr lang="ko-KR" altLang="en-US" sz="1000" b="1" i="0" dirty="0">
                <a:solidFill>
                  <a:srgbClr val="424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const </a:t>
            </a:r>
            <a:r>
              <a:rPr lang="ko-KR" altLang="en-US" sz="1000" b="0" i="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targetStatusTransitions: Record&lt;CampaignStatus, CampaignStatus[]&gt; = {</a:t>
            </a:r>
          </a:p>
          <a:p>
            <a:pPr marL="0" indent="0" algn="l">
              <a:buNone/>
            </a:pPr>
            <a:r>
              <a:rPr lang="ko-KR" altLang="en-US" sz="1000" b="0" i="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pending: [</a:t>
            </a:r>
            <a:r>
              <a:rPr lang="ko-KR" altLang="en-US" sz="1000" b="0" i="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"pending"</a:t>
            </a:r>
            <a:r>
              <a:rPr lang="ko-KR" altLang="en-US" sz="1000" b="0" i="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, </a:t>
            </a:r>
            <a:r>
              <a:rPr lang="ko-KR" altLang="en-US" sz="1000" b="0" i="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"assigned"</a:t>
            </a:r>
            <a:r>
              <a:rPr lang="ko-KR" altLang="en-US" sz="1000" b="0" i="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, </a:t>
            </a:r>
            <a:r>
              <a:rPr lang="ko-KR" altLang="en-US" sz="1000" b="0" i="0" dirty="0">
                <a:solidFill>
                  <a:srgbClr val="D13F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"cancelled"</a:t>
            </a:r>
            <a:r>
              <a:rPr lang="ko-KR" altLang="en-US" sz="1000" b="0" i="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</a:p>
          <a:p>
            <a:pPr marL="0" indent="0" algn="l">
              <a:buNone/>
            </a:pPr>
            <a:r>
              <a:rPr lang="ko-KR" altLang="en-US" sz="1000" b="0" i="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assigned: [</a:t>
            </a:r>
            <a:r>
              <a:rPr lang="ko-KR" altLang="en-US" sz="1000" b="0" i="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"assigned"</a:t>
            </a:r>
            <a:r>
              <a:rPr lang="ko-KR" altLang="en-US" sz="1000" b="0" i="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, </a:t>
            </a:r>
            <a:r>
              <a:rPr lang="ko-KR" altLang="en-US" sz="1000" b="0" i="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"contacted"</a:t>
            </a:r>
            <a:r>
              <a:rPr lang="ko-KR" altLang="en-US" sz="1000" b="0" i="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, </a:t>
            </a:r>
            <a:r>
              <a:rPr lang="ko-KR" altLang="en-US" sz="1000" b="0" i="0" dirty="0">
                <a:solidFill>
                  <a:srgbClr val="D13F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"cancelled"</a:t>
            </a:r>
            <a:r>
              <a:rPr lang="ko-KR" altLang="en-US" sz="1000" b="0" i="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</a:p>
          <a:p>
            <a:pPr marL="0" indent="0" algn="l">
              <a:buNone/>
            </a:pPr>
            <a:r>
              <a:rPr lang="ko-KR" altLang="en-US" sz="1000" b="0" i="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contacted: [</a:t>
            </a:r>
            <a:r>
              <a:rPr lang="ko-KR" altLang="en-US" sz="1000" b="0" i="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"contacted"</a:t>
            </a:r>
            <a:r>
              <a:rPr lang="ko-KR" altLang="en-US" sz="1000" b="0" i="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, </a:t>
            </a:r>
            <a:r>
              <a:rPr lang="ko-KR" altLang="en-US" sz="1000" b="0" i="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"completed"</a:t>
            </a:r>
            <a:r>
              <a:rPr lang="ko-KR" altLang="en-US" sz="1000" b="0" i="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, </a:t>
            </a:r>
            <a:r>
              <a:rPr lang="ko-KR" altLang="en-US" sz="1000" b="0" i="0" dirty="0">
                <a:solidFill>
                  <a:srgbClr val="D13F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"cancelled"</a:t>
            </a:r>
            <a:r>
              <a:rPr lang="ko-KR" altLang="en-US" sz="1000" b="0" i="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</a:p>
          <a:p>
            <a:pPr marL="0" indent="0" algn="l">
              <a:buNone/>
            </a:pPr>
            <a:r>
              <a:rPr lang="ko-KR" altLang="en-US" sz="1000" b="0" i="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</a:p>
          <a:p>
            <a:pPr marL="0" indent="0" algn="l">
              <a:buNone/>
            </a:pPr>
            <a:r>
              <a:rPr lang="ko-KR" altLang="en-US" sz="1000" b="0" i="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/>
            </a:r>
          </a:p>
          <a:p>
            <a:pPr marL="0" indent="0" algn="l">
              <a:buNone/>
            </a:pPr>
            <a:r>
              <a:rPr lang="ko-KR" altLang="en-US" sz="1000" b="0" i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운영 업무 센터(DepartmentDashboardPage.tsx)는 별도의 campaignStatusTransitions를 두고</a:t>
            </a:r>
          </a:p>
          <a:p>
            <a:pPr marL="0" indent="0" algn="l">
              <a:buNone/>
            </a:pPr>
            <a:r>
              <a:rPr lang="ko-KR" altLang="en-US" sz="1000" b="0" i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assigned → pending 해제를 추가로 허용합니다 — 화면마다 정책이 다릅니다</a:t>
            </a:r>
          </a:p>
        </p:txBody>
      </p:sp>
      <p:sp>
        <p:nvSpPr>
          <p:cNvPr id="130" name="Text 130"/>
          <p:cNvSpPr/>
          <p:nvPr/>
        </p:nvSpPr>
        <p:spPr>
          <a:xfrm>
            <a:off x="640080" y="4949440"/>
            <a:ext cx="10911840" cy="4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ko-KR" altLang="en-US" sz="1100" b="0" i="1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이 표는 UI 후보만 제한합니다 — 최종 강제는 Backend Python Enum + DB CHECK 제약이 이중으로 겁니다.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Text 302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altLang="en-US" sz="1200" b="1" i="0" spc="200" dirty="0">
                <a:solidFill>
                  <a:srgbClr val="5558D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02 · 비즈니스 로직</a:t>
            </a:r>
          </a:p>
        </p:txBody>
      </p:sp>
      <p:sp>
        <p:nvSpPr>
          <p:cNvPr id="304" name="Text 304"/>
          <p:cNvSpPr/>
          <p:nvPr/>
        </p:nvSpPr>
        <p:spPr>
          <a:xfrm>
            <a:off x="640080" y="777240"/>
            <a:ext cx="1091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altLang="en-US" sz="2500" b="1" i="0" dirty="0">
                <a:solidFill>
                  <a:srgbClr val="1B234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캠페인은 두 그룹으로 나뉩니다 — 대상군(A)은 개입, 대조군(B)은 관찰만</a:t>
            </a:r>
          </a:p>
        </p:txBody>
      </p:sp>
      <p:sp>
        <p:nvSpPr>
          <p:cNvPr id="306" name="Shape 306"/>
          <p:cNvSpPr/>
          <p:nvPr/>
        </p:nvSpPr>
        <p:spPr>
          <a:xfrm>
            <a:off x="640080" y="1508760"/>
            <a:ext cx="10911840" cy="800000"/>
          </a:xfrm>
          <a:prstGeom prst="roundRect">
            <a:avLst>
              <a:gd name="adj" fmla="val 6000"/>
            </a:avLst>
          </a:prstGeom>
          <a:solidFill>
            <a:srgbClr val="EEEEFF"/>
          </a:solidFill>
          <a:ln w="12700">
            <a:solidFill>
              <a:srgbClr val="5558DC"/>
            </a:solidFill>
            <a:prstDash val="solid"/>
          </a:ln>
          <a:effectLst>
            <a:outerShdw blurRad="76200" dist="25400" dir="5400000" algn="bl" rotWithShape="0">
              <a:srgbClr val="1B2340">
                <a:alpha val="15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308" name="Text 308"/>
          <p:cNvSpPr/>
          <p:nvPr/>
        </p:nvSpPr>
        <p:spPr>
          <a:xfrm>
            <a:off x="913320" y="1608760"/>
            <a:ext cx="1036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altLang="en-US" sz="1200" b="1" i="0" dirty="0">
                <a:solidFill>
                  <a:srgbClr val="5558D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A/B 테스트란?</a:t>
            </a:r>
          </a:p>
        </p:txBody>
      </p:sp>
      <p:sp>
        <p:nvSpPr>
          <p:cNvPr id="310" name="Text 310"/>
          <p:cNvSpPr/>
          <p:nvPr/>
        </p:nvSpPr>
        <p:spPr>
          <a:xfrm>
            <a:off x="913320" y="1928760"/>
            <a:ext cx="10365360" cy="3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altLang="en-US" sz="1100" b="0" i="0" dirty="0">
                <a:solidFill>
                  <a:srgbClr val="1B234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캠페인 대상을 두 그룹으로 무작위 배정해, 개입(캠페인 실행) 여부에 따른 성과 차이를 정량적으로 비교하는 실험 방법입니다 · 대조군 비율은 캠페인 생성 시 지정(기본값 20%).</a:t>
            </a:r>
          </a:p>
        </p:txBody>
      </p:sp>
      <p:sp>
        <p:nvSpPr>
          <p:cNvPr id="312" name="Badge 312"/>
          <p:cNvSpPr/>
          <p:nvPr/>
        </p:nvSpPr>
        <p:spPr>
          <a:xfrm>
            <a:off x="640080" y="2528760"/>
            <a:ext cx="400000" cy="400000"/>
          </a:xfrm>
          <a:prstGeom prst="ellipse">
            <a:avLst/>
          </a:prstGeom>
          <a:solidFill>
            <a:srgbClr val="5558DC"/>
          </a:solidFill>
          <a:ln>
            <a:noFill/>
          </a:ln>
          <a:effectLst>
            <a:outerShdw blurRad="76200" dist="25400" dir="5400000" algn="bl" rotWithShape="0">
              <a:srgbClr val="1B2340">
                <a:alpha val="15000"/>
              </a:srgbClr>
            </a:outerShdw>
          </a:effectLst>
        </p:spPr>
      </p:sp>
      <p:sp>
        <p:nvSpPr>
          <p:cNvPr id="314" name="Text 314"/>
          <p:cNvSpPr/>
          <p:nvPr/>
        </p:nvSpPr>
        <p:spPr>
          <a:xfrm>
            <a:off x="640080" y="2528760"/>
            <a:ext cx="40000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400" b="1" i="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</a:t>
            </a:r>
          </a:p>
        </p:txBody>
      </p:sp>
      <p:sp>
        <p:nvSpPr>
          <p:cNvPr id="316" name="Text 316"/>
          <p:cNvSpPr/>
          <p:nvPr/>
        </p:nvSpPr>
        <p:spPr>
          <a:xfrm>
            <a:off x="1140080" y="2568760"/>
            <a:ext cx="600000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altLang="en-US" sz="1400" b="1" i="0" dirty="0">
                <a:solidFill>
                  <a:srgbClr val="1B234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대상군 · Treatment Group</a:t>
            </a:r>
          </a:p>
        </p:txBody>
      </p:sp>
      <p:sp>
        <p:nvSpPr>
          <p:cNvPr id="318" name="Shape 318"/>
          <p:cNvSpPr/>
          <p:nvPr/>
        </p:nvSpPr>
        <p:spPr>
          <a:xfrm>
            <a:off x="1350000" y="3038760"/>
            <a:ext cx="2100000" cy="50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7CCDA"/>
            </a:solidFill>
            <a:prstDash val="solid"/>
          </a:ln>
          <a:effectLst>
            <a:outerShdw blurRad="76200" dist="25400" dir="5400000" algn="bl" rotWithShape="0">
              <a:srgbClr val="1B2340">
                <a:alpha val="15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320" name="Text 320"/>
          <p:cNvSpPr/>
          <p:nvPr/>
        </p:nvSpPr>
        <p:spPr>
          <a:xfrm>
            <a:off x="1350000" y="3038760"/>
            <a:ext cx="2100000" cy="5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200" b="1" i="0" dirty="0">
                <a:solidFill>
                  <a:srgbClr val="1B234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대기</a:t>
            </a:r>
          </a:p>
        </p:txBody>
      </p:sp>
      <p:sp>
        <p:nvSpPr>
          <p:cNvPr id="322" name="Text 322"/>
          <p:cNvSpPr/>
          <p:nvPr/>
        </p:nvSpPr>
        <p:spPr>
          <a:xfrm>
            <a:off x="3450000" y="3038760"/>
            <a:ext cx="627120" cy="5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500" b="0" i="0" dirty="0">
                <a:solidFill>
                  <a:srgbClr val="5558D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⇄</a:t>
            </a:r>
          </a:p>
        </p:txBody>
      </p:sp>
      <p:sp>
        <p:nvSpPr>
          <p:cNvPr id="324" name="Shape 324"/>
          <p:cNvSpPr/>
          <p:nvPr/>
        </p:nvSpPr>
        <p:spPr>
          <a:xfrm>
            <a:off x="4077120" y="3038760"/>
            <a:ext cx="2100000" cy="50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7CCDA"/>
            </a:solidFill>
            <a:prstDash val="solid"/>
          </a:ln>
          <a:effectLst>
            <a:outerShdw blurRad="76200" dist="25400" dir="5400000" algn="bl" rotWithShape="0">
              <a:srgbClr val="1B2340">
                <a:alpha val="15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326" name="Text 326"/>
          <p:cNvSpPr/>
          <p:nvPr/>
        </p:nvSpPr>
        <p:spPr>
          <a:xfrm>
            <a:off x="4077120" y="3038760"/>
            <a:ext cx="2100000" cy="5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200" b="1" i="0" dirty="0">
                <a:solidFill>
                  <a:srgbClr val="1B234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배정</a:t>
            </a:r>
          </a:p>
        </p:txBody>
      </p:sp>
      <p:sp>
        <p:nvSpPr>
          <p:cNvPr id="328" name="Text 328"/>
          <p:cNvSpPr/>
          <p:nvPr/>
        </p:nvSpPr>
        <p:spPr>
          <a:xfrm>
            <a:off x="6177120" y="3038760"/>
            <a:ext cx="627120" cy="5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500" b="0" i="0" dirty="0">
                <a:solidFill>
                  <a:srgbClr val="5558D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→</a:t>
            </a:r>
          </a:p>
        </p:txBody>
      </p:sp>
      <p:sp>
        <p:nvSpPr>
          <p:cNvPr id="330" name="Shape 330"/>
          <p:cNvSpPr/>
          <p:nvPr/>
        </p:nvSpPr>
        <p:spPr>
          <a:xfrm>
            <a:off x="6804240" y="3038760"/>
            <a:ext cx="2100000" cy="500000"/>
          </a:xfrm>
          <a:prstGeom prst="roundRect">
            <a:avLst>
              <a:gd name="adj" fmla="val 50000"/>
            </a:avLst>
          </a:prstGeom>
          <a:solidFill>
            <a:srgbClr val="EEEEFF"/>
          </a:solidFill>
          <a:ln w="22225">
            <a:solidFill>
              <a:srgbClr val="5558DC"/>
            </a:solidFill>
            <a:prstDash val="solid"/>
          </a:ln>
          <a:effectLst>
            <a:outerShdw blurRad="76200" dist="25400" dir="5400000" algn="bl" rotWithShape="0">
              <a:srgbClr val="1B2340">
                <a:alpha val="15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332" name="Text 332"/>
          <p:cNvSpPr/>
          <p:nvPr/>
        </p:nvSpPr>
        <p:spPr>
          <a:xfrm>
            <a:off x="6804240" y="3038760"/>
            <a:ext cx="2100000" cy="5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200" b="1" i="0" dirty="0">
                <a:solidFill>
                  <a:srgbClr val="5558D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접촉</a:t>
            </a:r>
          </a:p>
        </p:txBody>
      </p:sp>
      <p:sp>
        <p:nvSpPr>
          <p:cNvPr id="334" name="Text 334"/>
          <p:cNvSpPr/>
          <p:nvPr/>
        </p:nvSpPr>
        <p:spPr>
          <a:xfrm>
            <a:off x="8904240" y="3038760"/>
            <a:ext cx="627120" cy="5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500" b="0" i="0" dirty="0">
                <a:solidFill>
                  <a:srgbClr val="5558D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→</a:t>
            </a:r>
          </a:p>
        </p:txBody>
      </p:sp>
      <p:sp>
        <p:nvSpPr>
          <p:cNvPr id="336" name="Shape 336"/>
          <p:cNvSpPr/>
          <p:nvPr/>
        </p:nvSpPr>
        <p:spPr>
          <a:xfrm>
            <a:off x="9531360" y="3038760"/>
            <a:ext cx="2100000" cy="500000"/>
          </a:xfrm>
          <a:prstGeom prst="roundRect">
            <a:avLst>
              <a:gd name="adj" fmla="val 50000"/>
            </a:avLst>
          </a:prstGeom>
          <a:solidFill>
            <a:srgbClr val="EEEEFF"/>
          </a:solidFill>
          <a:ln w="22225">
            <a:solidFill>
              <a:srgbClr val="5558DC"/>
            </a:solidFill>
            <a:prstDash val="solid"/>
          </a:ln>
          <a:effectLst>
            <a:outerShdw blurRad="76200" dist="25400" dir="5400000" algn="bl" rotWithShape="0">
              <a:srgbClr val="1B2340">
                <a:alpha val="15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338" name="Text 338"/>
          <p:cNvSpPr/>
          <p:nvPr/>
        </p:nvSpPr>
        <p:spPr>
          <a:xfrm>
            <a:off x="9531360" y="3038760"/>
            <a:ext cx="2100000" cy="5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200" b="1" i="0" dirty="0">
                <a:solidFill>
                  <a:srgbClr val="5558D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완료</a:t>
            </a:r>
          </a:p>
        </p:txBody>
      </p:sp>
      <p:sp>
        <p:nvSpPr>
          <p:cNvPr id="340" name="Text 340"/>
          <p:cNvSpPr/>
          <p:nvPr/>
        </p:nvSpPr>
        <p:spPr>
          <a:xfrm>
            <a:off x="1140080" y="3678760"/>
            <a:ext cx="10000000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altLang="en-US" sz="1000" b="0" i="1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정상 개입 대상 — 배정 → 접촉 → 완료로 자유롭게 전이합니다.</a:t>
            </a:r>
          </a:p>
        </p:txBody>
      </p:sp>
      <p:sp>
        <p:nvSpPr>
          <p:cNvPr id="342" name="Badge 342"/>
          <p:cNvSpPr/>
          <p:nvPr/>
        </p:nvSpPr>
        <p:spPr>
          <a:xfrm>
            <a:off x="640080" y="4098760"/>
            <a:ext cx="400000" cy="400000"/>
          </a:xfrm>
          <a:prstGeom prst="ellipse">
            <a:avLst/>
          </a:prstGeom>
          <a:solidFill>
            <a:srgbClr val="6B7280"/>
          </a:solidFill>
          <a:ln>
            <a:noFill/>
          </a:ln>
          <a:effectLst>
            <a:outerShdw blurRad="76200" dist="25400" dir="5400000" algn="bl" rotWithShape="0">
              <a:srgbClr val="1B2340">
                <a:alpha val="15000"/>
              </a:srgbClr>
            </a:outerShdw>
          </a:effectLst>
        </p:spPr>
      </p:sp>
      <p:sp>
        <p:nvSpPr>
          <p:cNvPr id="344" name="Text 344"/>
          <p:cNvSpPr/>
          <p:nvPr/>
        </p:nvSpPr>
        <p:spPr>
          <a:xfrm>
            <a:off x="640080" y="4098760"/>
            <a:ext cx="40000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400" b="1" i="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B</a:t>
            </a:r>
          </a:p>
        </p:txBody>
      </p:sp>
      <p:sp>
        <p:nvSpPr>
          <p:cNvPr id="346" name="Text 346"/>
          <p:cNvSpPr/>
          <p:nvPr/>
        </p:nvSpPr>
        <p:spPr>
          <a:xfrm>
            <a:off x="1140080" y="4138760"/>
            <a:ext cx="600000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altLang="en-US" sz="1400" b="1" i="0" dirty="0">
                <a:solidFill>
                  <a:srgbClr val="1B234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대조군 · Control Group</a:t>
            </a:r>
          </a:p>
        </p:txBody>
      </p:sp>
      <p:sp>
        <p:nvSpPr>
          <p:cNvPr id="348" name="Shape 348"/>
          <p:cNvSpPr/>
          <p:nvPr/>
        </p:nvSpPr>
        <p:spPr>
          <a:xfrm>
            <a:off x="1350000" y="4608760"/>
            <a:ext cx="2100000" cy="500000"/>
          </a:xfrm>
          <a:prstGeom prst="roundRect">
            <a:avLst>
              <a:gd name="adj" fmla="val 50000"/>
            </a:avLst>
          </a:prstGeom>
          <a:solidFill>
            <a:srgbClr val="EEF0F5"/>
          </a:solidFill>
          <a:ln w="15875">
            <a:solidFill>
              <a:srgbClr val="6B7280"/>
            </a:solidFill>
            <a:prstDash val="solid"/>
          </a:ln>
          <a:effectLst>
            <a:outerShdw blurRad="76200" dist="25400" dir="5400000" algn="bl" rotWithShape="0">
              <a:srgbClr val="1B2340">
                <a:alpha val="15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350" name="Text 350"/>
          <p:cNvSpPr/>
          <p:nvPr/>
        </p:nvSpPr>
        <p:spPr>
          <a:xfrm>
            <a:off x="1350000" y="4608760"/>
            <a:ext cx="2100000" cy="5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200" b="1" i="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대기 (고정)</a:t>
            </a:r>
          </a:p>
        </p:txBody>
      </p:sp>
      <p:sp>
        <p:nvSpPr>
          <p:cNvPr id="352" name="Text 352"/>
          <p:cNvSpPr/>
          <p:nvPr/>
        </p:nvSpPr>
        <p:spPr>
          <a:xfrm>
            <a:off x="3450000" y="4608760"/>
            <a:ext cx="927120" cy="5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300" b="0" i="0" dirty="0">
                <a:solidFill>
                  <a:srgbClr val="D13F57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⊘</a:t>
            </a:r>
          </a:p>
        </p:txBody>
      </p:sp>
      <p:sp>
        <p:nvSpPr>
          <p:cNvPr id="354" name="Shape 354"/>
          <p:cNvSpPr/>
          <p:nvPr/>
        </p:nvSpPr>
        <p:spPr>
          <a:xfrm>
            <a:off x="4377120" y="4608760"/>
            <a:ext cx="2400000" cy="500000"/>
          </a:xfrm>
          <a:prstGeom prst="roundRect">
            <a:avLst>
              <a:gd name="adj" fmla="val 50000"/>
            </a:avLst>
          </a:prstGeom>
          <a:solidFill>
            <a:srgbClr val="FFF0F2"/>
          </a:solidFill>
          <a:ln w="22225">
            <a:solidFill>
              <a:srgbClr val="D13F57"/>
            </a:solidFill>
            <a:prstDash val="solid"/>
          </a:ln>
          <a:effectLst>
            <a:outerShdw blurRad="76200" dist="25400" dir="5400000" algn="bl" rotWithShape="0">
              <a:srgbClr val="1B2340">
                <a:alpha val="15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356" name="Text 356"/>
          <p:cNvSpPr/>
          <p:nvPr/>
        </p:nvSpPr>
        <p:spPr>
          <a:xfrm>
            <a:off x="4377120" y="4608760"/>
            <a:ext cx="2400000" cy="5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200" b="1" i="0" dirty="0">
                <a:solidFill>
                  <a:srgbClr val="D13F57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배정·접촉 금지</a:t>
            </a:r>
          </a:p>
        </p:txBody>
      </p:sp>
      <p:sp>
        <p:nvSpPr>
          <p:cNvPr id="358" name="Text 358"/>
          <p:cNvSpPr/>
          <p:nvPr/>
        </p:nvSpPr>
        <p:spPr>
          <a:xfrm>
            <a:off x="6777120" y="4608760"/>
            <a:ext cx="627120" cy="5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500" b="0" i="0" dirty="0">
                <a:solidFill>
                  <a:srgbClr val="5558D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→</a:t>
            </a:r>
          </a:p>
        </p:txBody>
      </p:sp>
      <p:sp>
        <p:nvSpPr>
          <p:cNvPr id="360" name="Shape 360"/>
          <p:cNvSpPr/>
          <p:nvPr/>
        </p:nvSpPr>
        <p:spPr>
          <a:xfrm>
            <a:off x="7404240" y="4608760"/>
            <a:ext cx="2100000" cy="500000"/>
          </a:xfrm>
          <a:prstGeom prst="roundRect">
            <a:avLst>
              <a:gd name="adj" fmla="val 50000"/>
            </a:avLst>
          </a:prstGeom>
          <a:solidFill>
            <a:srgbClr val="EEEEFF"/>
          </a:solidFill>
          <a:ln w="22225">
            <a:solidFill>
              <a:srgbClr val="5558DC"/>
            </a:solidFill>
            <a:prstDash val="solid"/>
          </a:ln>
          <a:effectLst>
            <a:outerShdw blurRad="76200" dist="25400" dir="5400000" algn="bl" rotWithShape="0">
              <a:srgbClr val="1B2340">
                <a:alpha val="15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362" name="Text 362"/>
          <p:cNvSpPr/>
          <p:nvPr/>
        </p:nvSpPr>
        <p:spPr>
          <a:xfrm>
            <a:off x="7404240" y="4608760"/>
            <a:ext cx="2100000" cy="5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200" b="1" i="0" dirty="0">
                <a:solidFill>
                  <a:srgbClr val="5558D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완료</a:t>
            </a:r>
          </a:p>
        </p:txBody>
      </p:sp>
      <p:sp>
        <p:nvSpPr>
          <p:cNvPr id="364" name="Text 364"/>
          <p:cNvSpPr/>
          <p:nvPr/>
        </p:nvSpPr>
        <p:spPr>
          <a:xfrm>
            <a:off x="1140080" y="5248760"/>
            <a:ext cx="10000000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altLang="en-US" sz="1000" b="0" i="1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실행 자체가 차단된 대상 — 자연 발생한 전환만 결과로 기록됩니다.</a:t>
            </a:r>
          </a:p>
        </p:txBody>
      </p:sp>
      <p:sp>
        <p:nvSpPr>
          <p:cNvPr id="366" name="Shape 366"/>
          <p:cNvSpPr/>
          <p:nvPr/>
        </p:nvSpPr>
        <p:spPr>
          <a:xfrm>
            <a:off x="502920" y="5668760"/>
            <a:ext cx="11186160" cy="76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  <a:effectLst>
            <a:outerShdw blurRad="76200" dist="25400" dir="5400000" algn="bl" rotWithShape="0">
              <a:srgbClr val="1B2340">
                <a:alpha val="15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368" name="Text 368"/>
          <p:cNvSpPr/>
          <p:nvPr/>
        </p:nvSpPr>
        <p:spPr>
          <a:xfrm>
            <a:off x="867280" y="5668760"/>
            <a:ext cx="10457400" cy="7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altLang="en-US" sz="1050" b="0" i="0" dirty="0">
                <a:solidFill>
                  <a:srgbClr val="1B234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실제 코드: 대조군 대상은 availableStatuses가 [“pending”, “cancelled”]로 고정되고, 담당자 배정 select가 disabled, 결과 코드 목록에서 contacted가 제외됩니다 — CampaignManagementPage.tsx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 132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altLang="en-US" sz="1200" b="1" i="0" spc="200" dirty="0">
                <a:solidFill>
                  <a:srgbClr val="5558D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 xml:space="preserve">02 · </a:t>
            </a:r>
            <a:r>
              <a:rPr lang="ko-KR" altLang="en-US" sz="1200" b="1" i="0" spc="200" dirty="0">
                <a:solidFill>
                  <a:srgbClr val="5558D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비즈니스 로직</a:t>
            </a:r>
          </a:p>
        </p:txBody>
      </p:sp>
      <p:sp>
        <p:nvSpPr>
          <p:cNvPr id="134" name="Text 134"/>
          <p:cNvSpPr/>
          <p:nvPr/>
        </p:nvSpPr>
        <p:spPr>
          <a:xfrm>
            <a:off x="640080" y="777240"/>
            <a:ext cx="10911840" cy="7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altLang="en-US" sz="2100" b="1" i="0" dirty="0">
                <a:solidFill>
                  <a:srgbClr val="1B234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대조군(B)은 화면에서부터 개입이 막혀 있습니다</a:t>
            </a:r>
          </a:p>
        </p:txBody>
      </p:sp>
      <p:sp>
        <p:nvSpPr>
          <p:cNvPr id="136" name="Shape 136"/>
          <p:cNvSpPr/>
          <p:nvPr/>
        </p:nvSpPr>
        <p:spPr>
          <a:xfrm>
            <a:off x="640080" y="1650000"/>
            <a:ext cx="10911840" cy="2636520"/>
          </a:xfrm>
          <a:prstGeom prst="roundRect">
            <a:avLst>
              <a:gd name="adj" fmla="val 4500"/>
            </a:avLst>
          </a:prstGeom>
          <a:solidFill>
            <a:srgbClr val="F5F7FB"/>
          </a:solidFill>
          <a:ln w="12700">
            <a:solidFill>
              <a:srgbClr val="E4E8F2"/>
            </a:solidFill>
            <a:prstDash val="solid"/>
          </a:ln>
          <a:effectLst>
            <a:outerShdw blurRad="76200" dist="25400" dir="5400000" algn="bl" rotWithShape="0">
              <a:srgbClr val="1B2340">
                <a:alpha val="15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138" name="Text 138"/>
          <p:cNvSpPr/>
          <p:nvPr/>
        </p:nvSpPr>
        <p:spPr>
          <a:xfrm>
            <a:off x="1005840" y="1878600"/>
            <a:ext cx="10180320" cy="2179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ko-KR" altLang="en-US" sz="1000" b="0" i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src/features/campaign/CampaignManagementPage.tsx</a:t>
            </a:r>
          </a:p>
          <a:p>
            <a:pPr marL="0" indent="0" algn="l">
              <a:buNone/>
            </a:pPr>
            <a:r>
              <a:rPr lang="ko-KR" altLang="en-US" sz="1000" b="0" i="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/>
            </a:r>
          </a:p>
          <a:p>
            <a:pPr marL="0" indent="0" algn="l">
              <a:buNone/>
            </a:pPr>
            <a:r>
              <a:rPr lang="ko-KR" altLang="en-US" sz="1000" b="1" i="0" dirty="0">
                <a:solidFill>
                  <a:srgbClr val="424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const </a:t>
            </a:r>
            <a:r>
              <a:rPr lang="ko-KR" altLang="en-US" sz="1000" b="0" i="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availableStatuses: CampaignStatus[] =</a:t>
            </a:r>
          </a:p>
          <a:p>
            <a:pPr marL="0" indent="0" algn="l">
              <a:buNone/>
            </a:pPr>
            <a:r>
              <a:rPr lang="ko-KR" altLang="en-US" sz="1000" b="0" i="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target.experiment_group === </a:t>
            </a:r>
            <a:r>
              <a:rPr lang="ko-KR" altLang="en-US" sz="1000" b="0" i="0" dirty="0">
                <a:solidFill>
                  <a:srgbClr val="D13F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"control"</a:t>
            </a:r>
          </a:p>
          <a:p>
            <a:pPr marL="0" indent="0" algn="l">
              <a:buNone/>
            </a:pPr>
            <a:r>
              <a:rPr lang="ko-KR" altLang="en-US" sz="1000" b="0" i="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? (target.status === </a:t>
            </a:r>
            <a:r>
              <a:rPr lang="ko-KR" altLang="en-US" sz="1000" b="0" i="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"pending"</a:t>
            </a:r>
            <a:r>
              <a:rPr lang="ko-KR" altLang="en-US" sz="1000" b="0" i="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? [</a:t>
            </a:r>
            <a:r>
              <a:rPr lang="ko-KR" altLang="en-US" sz="1000" b="0" i="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"pending"</a:t>
            </a:r>
            <a:r>
              <a:rPr lang="ko-KR" altLang="en-US" sz="1000" b="0" i="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, </a:t>
            </a:r>
            <a:r>
              <a:rPr lang="ko-KR" altLang="en-US" sz="1000" b="0" i="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"cancelled"</a:t>
            </a:r>
            <a:r>
              <a:rPr lang="ko-KR" altLang="en-US" sz="1000" b="0" i="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: [target.status])</a:t>
            </a:r>
          </a:p>
          <a:p>
            <a:pPr marL="0" indent="0" algn="l">
              <a:buNone/>
            </a:pPr>
            <a:r>
              <a:rPr lang="ko-KR" altLang="en-US" sz="1000" b="0" i="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: targetStatusTransitions[target.status].filter(...);</a:t>
            </a:r>
          </a:p>
          <a:p>
            <a:pPr marL="0" indent="0" algn="l">
              <a:buNone/>
            </a:pPr>
            <a:r>
              <a:rPr lang="ko-KR" altLang="en-US" sz="1000" b="0" i="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/>
            </a:r>
          </a:p>
          <a:p>
            <a:pPr marL="0" indent="0" algn="l">
              <a:buNone/>
            </a:pPr>
            <a:r>
              <a:rPr lang="ko-KR" altLang="en-US" sz="1000" b="0" i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담당자 배정 select — 대조군은 아예 비활성화</a:t>
            </a:r>
          </a:p>
          <a:p>
            <a:pPr marL="0" indent="0" algn="l">
              <a:buNone/>
            </a:pPr>
            <a:r>
              <a:rPr lang="ko-KR" altLang="en-US" sz="1000" b="0" i="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&lt;select </a:t>
            </a:r>
            <a:r>
              <a:rPr lang="ko-KR" altLang="en-US" sz="1000" b="1" i="0" dirty="0">
                <a:solidFill>
                  <a:srgbClr val="424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disabled</a:t>
            </a:r>
            <a:r>
              <a:rPr lang="ko-KR" altLang="en-US" sz="1000" b="0" i="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={target.experiment_group === </a:t>
            </a:r>
            <a:r>
              <a:rPr lang="ko-KR" altLang="en-US" sz="1000" b="0" i="0" dirty="0">
                <a:solidFill>
                  <a:srgbClr val="D13F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"control"</a:t>
            </a:r>
            <a:r>
              <a:rPr lang="ko-KR" altLang="en-US" sz="1000" b="0" i="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}&gt; ... &lt;/select&gt;</a:t>
            </a:r>
          </a:p>
          <a:p>
            <a:pPr marL="0" indent="0" algn="l">
              <a:buNone/>
            </a:pPr>
            <a:r>
              <a:rPr lang="ko-KR" altLang="en-US" sz="1000" b="0" i="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/>
            </a:r>
          </a:p>
          <a:p>
            <a:pPr marL="0" indent="0" algn="l">
              <a:buNone/>
            </a:pPr>
            <a:r>
              <a:rPr lang="ko-KR" altLang="en-US" sz="1000" b="0" i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결과 코드 목록에서도 대조군은 "접촉(contacted)" 자체를 제거</a:t>
            </a:r>
          </a:p>
          <a:p>
            <a:pPr marL="0" indent="0" algn="l">
              <a:buNone/>
            </a:pPr>
            <a:r>
              <a:rPr lang="ko-KR" altLang="en-US" sz="1000" b="0" i="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Object.entries(resultCodeLabels)</a:t>
            </a:r>
          </a:p>
          <a:p>
            <a:pPr marL="0" indent="0" algn="l">
              <a:buNone/>
            </a:pPr>
            <a:r>
              <a:rPr lang="ko-KR" altLang="en-US" sz="1000" b="0" i="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.filter(([code]) =&gt; target.experiment_group !== </a:t>
            </a:r>
            <a:r>
              <a:rPr lang="ko-KR" altLang="en-US" sz="1000" b="0" i="0" dirty="0">
                <a:solidFill>
                  <a:srgbClr val="D13F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"control"</a:t>
            </a:r>
            <a:r>
              <a:rPr lang="ko-KR" altLang="en-US" sz="1000" b="0" i="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|| code !== </a:t>
            </a:r>
            <a:r>
              <a:rPr lang="ko-KR" altLang="en-US" sz="1000" b="0" i="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"contacted"</a:t>
            </a:r>
            <a:r>
              <a:rPr lang="ko-KR" altLang="en-US" sz="1000" b="0" i="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</a:p>
        </p:txBody>
      </p:sp>
      <p:sp>
        <p:nvSpPr>
          <p:cNvPr id="140" name="Text 140"/>
          <p:cNvSpPr/>
          <p:nvPr/>
        </p:nvSpPr>
        <p:spPr>
          <a:xfrm>
            <a:off x="640080" y="4446520"/>
            <a:ext cx="10911840" cy="4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ko-KR" altLang="en-US" sz="1100" b="0" i="1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기본 대조군 비율 20% (BulkTargetingPanel.tsx controlGroupRatio 기본값) · 대조군은 UI 단에서부터 배정·접촉이 차단됩니다.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Text 402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altLang="en-US" sz="1200" b="1" i="0" dirty="0">
                <a:solidFill>
                  <a:srgbClr val="5558D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05 · 마무리</a:t>
            </a:r>
          </a:p>
        </p:txBody>
      </p:sp>
      <p:sp>
        <p:nvSpPr>
          <p:cNvPr id="404" name="Text 404"/>
          <p:cNvSpPr/>
          <p:nvPr/>
        </p:nvSpPr>
        <p:spPr>
          <a:xfrm>
            <a:off x="640080" y="777240"/>
            <a:ext cx="1091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altLang="en-US" sz="2500" b="1" i="0" dirty="0">
                <a:solidFill>
                  <a:srgbClr val="1B234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지금까지의 성과, 그리고 다음 단계</a:t>
            </a:r>
          </a:p>
        </p:txBody>
      </p:sp>
      <p:sp>
        <p:nvSpPr>
          <p:cNvPr id="406" name="Text 406"/>
          <p:cNvSpPr/>
          <p:nvPr/>
        </p:nvSpPr>
        <p:spPr>
          <a:xfrm>
            <a:off x="640080" y="1508760"/>
            <a:ext cx="525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altLang="en-US" sz="1500" b="1" i="0" dirty="0">
                <a:solidFill>
                  <a:srgbClr val="1B234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프로젝트 성과 요약</a:t>
            </a:r>
          </a:p>
        </p:txBody>
      </p:sp>
      <p:sp>
        <p:nvSpPr>
          <p:cNvPr id="408" name="Text 408"/>
          <p:cNvSpPr/>
          <p:nvPr/>
        </p:nvSpPr>
        <p:spPr>
          <a:xfrm>
            <a:off x="6296000" y="1508760"/>
            <a:ext cx="525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altLang="en-US" sz="1500" b="1" i="0" dirty="0">
                <a:solidFill>
                  <a:srgbClr val="1B234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다음 단계 (확장 후보)</a:t>
            </a:r>
          </a:p>
        </p:txBody>
      </p:sp>
      <p:sp>
        <p:nvSpPr>
          <p:cNvPr id="410" name="Shape 410"/>
          <p:cNvSpPr/>
          <p:nvPr/>
        </p:nvSpPr>
        <p:spPr>
          <a:xfrm>
            <a:off x="640080" y="1968800"/>
            <a:ext cx="1651973" cy="130000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blurRad="76200" dist="25400" dir="5400000" algn="bl" rotWithShape="0">
              <a:srgbClr val="1B2340">
                <a:alpha val="15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412" name="Text 412"/>
          <p:cNvSpPr/>
          <p:nvPr/>
        </p:nvSpPr>
        <p:spPr>
          <a:xfrm>
            <a:off x="777240" y="2105960"/>
            <a:ext cx="1377653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altLang="en-US" sz="2200" b="1" i="0" dirty="0">
                <a:solidFill>
                  <a:srgbClr val="5558D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0.994</a:t>
            </a:r>
          </a:p>
        </p:txBody>
      </p:sp>
      <p:sp>
        <p:nvSpPr>
          <p:cNvPr id="414" name="Text 414"/>
          <p:cNvSpPr/>
          <p:nvPr/>
        </p:nvSpPr>
        <p:spPr>
          <a:xfrm>
            <a:off x="777240" y="2700320"/>
            <a:ext cx="1377653" cy="508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ko-KR" altLang="en-US" sz="900" b="0" i="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이탈 분류 ROC-AUC (test)</a:t>
            </a:r>
          </a:p>
        </p:txBody>
      </p:sp>
      <p:sp>
        <p:nvSpPr>
          <p:cNvPr id="416" name="Shape 416"/>
          <p:cNvSpPr/>
          <p:nvPr/>
        </p:nvSpPr>
        <p:spPr>
          <a:xfrm>
            <a:off x="2442053" y="1968800"/>
            <a:ext cx="1651973" cy="130000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blurRad="76200" dist="25400" dir="5400000" algn="bl" rotWithShape="0">
              <a:srgbClr val="1B2340">
                <a:alpha val="15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418" name="Text 418"/>
          <p:cNvSpPr/>
          <p:nvPr/>
        </p:nvSpPr>
        <p:spPr>
          <a:xfrm>
            <a:off x="2579213" y="2105960"/>
            <a:ext cx="1377653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altLang="en-US" sz="2200" b="1" i="0" dirty="0">
                <a:solidFill>
                  <a:srgbClr val="5558D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0.855</a:t>
            </a:r>
          </a:p>
        </p:txBody>
      </p:sp>
      <p:sp>
        <p:nvSpPr>
          <p:cNvPr id="420" name="Text 420"/>
          <p:cNvSpPr/>
          <p:nvPr/>
        </p:nvSpPr>
        <p:spPr>
          <a:xfrm>
            <a:off x="2579213" y="2700320"/>
            <a:ext cx="1377653" cy="508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ko-KR" altLang="en-US" sz="900" b="0" i="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기대 거래건수 회귀 R²</a:t>
            </a:r>
          </a:p>
        </p:txBody>
      </p:sp>
      <p:sp>
        <p:nvSpPr>
          <p:cNvPr id="422" name="Shape 422"/>
          <p:cNvSpPr/>
          <p:nvPr/>
        </p:nvSpPr>
        <p:spPr>
          <a:xfrm>
            <a:off x="4244026" y="1968800"/>
            <a:ext cx="1651973" cy="130000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blurRad="76200" dist="25400" dir="5400000" algn="bl" rotWithShape="0">
              <a:srgbClr val="1B2340">
                <a:alpha val="15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424" name="Text 424"/>
          <p:cNvSpPr/>
          <p:nvPr/>
        </p:nvSpPr>
        <p:spPr>
          <a:xfrm>
            <a:off x="4381186" y="2105960"/>
            <a:ext cx="1377653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altLang="en-US" sz="2200" b="1" i="0" dirty="0">
                <a:solidFill>
                  <a:srgbClr val="5558D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13</a:t>
            </a:r>
          </a:p>
        </p:txBody>
      </p:sp>
      <p:sp>
        <p:nvSpPr>
          <p:cNvPr id="426" name="Text 426"/>
          <p:cNvSpPr/>
          <p:nvPr/>
        </p:nvSpPr>
        <p:spPr>
          <a:xfrm>
            <a:off x="4381186" y="2700320"/>
            <a:ext cx="1377653" cy="508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ko-KR" altLang="en-US" sz="900" b="0" i="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DB 테이블 · 11 migration</a:t>
            </a:r>
          </a:p>
        </p:txBody>
      </p:sp>
      <p:sp>
        <p:nvSpPr>
          <p:cNvPr id="428" name="Shape 428"/>
          <p:cNvSpPr/>
          <p:nvPr/>
        </p:nvSpPr>
        <p:spPr>
          <a:xfrm>
            <a:off x="640080" y="3468800"/>
            <a:ext cx="1651973" cy="130000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blurRad="76200" dist="25400" dir="5400000" algn="bl" rotWithShape="0">
              <a:srgbClr val="1B2340">
                <a:alpha val="15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430" name="Text 430"/>
          <p:cNvSpPr/>
          <p:nvPr/>
        </p:nvSpPr>
        <p:spPr>
          <a:xfrm>
            <a:off x="777240" y="3605960"/>
            <a:ext cx="1377653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altLang="en-US" sz="2200" b="1" i="0" dirty="0">
                <a:solidFill>
                  <a:srgbClr val="5558D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7</a:t>
            </a:r>
          </a:p>
        </p:txBody>
      </p:sp>
      <p:sp>
        <p:nvSpPr>
          <p:cNvPr id="432" name="Text 432"/>
          <p:cNvSpPr/>
          <p:nvPr/>
        </p:nvSpPr>
        <p:spPr>
          <a:xfrm>
            <a:off x="777240" y="4200320"/>
            <a:ext cx="1377653" cy="508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ko-KR" altLang="en-US" sz="900" b="0" i="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타겟팅 세그먼트</a:t>
            </a:r>
          </a:p>
        </p:txBody>
      </p:sp>
      <p:sp>
        <p:nvSpPr>
          <p:cNvPr id="434" name="Shape 434"/>
          <p:cNvSpPr/>
          <p:nvPr/>
        </p:nvSpPr>
        <p:spPr>
          <a:xfrm>
            <a:off x="2442053" y="3468800"/>
            <a:ext cx="1651973" cy="130000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blurRad="76200" dist="25400" dir="5400000" algn="bl" rotWithShape="0">
              <a:srgbClr val="1B2340">
                <a:alpha val="15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436" name="Text 436"/>
          <p:cNvSpPr/>
          <p:nvPr/>
        </p:nvSpPr>
        <p:spPr>
          <a:xfrm>
            <a:off x="2579213" y="3605960"/>
            <a:ext cx="1377653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altLang="en-US" sz="2200" b="1" i="0" dirty="0">
                <a:solidFill>
                  <a:srgbClr val="5558D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4</a:t>
            </a:r>
          </a:p>
        </p:txBody>
      </p:sp>
      <p:sp>
        <p:nvSpPr>
          <p:cNvPr id="438" name="Text 438"/>
          <p:cNvSpPr/>
          <p:nvPr/>
        </p:nvSpPr>
        <p:spPr>
          <a:xfrm>
            <a:off x="2579213" y="4200320"/>
            <a:ext cx="1377653" cy="508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ko-KR" altLang="en-US" sz="900" b="0" i="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업무 역할 (RBAC)</a:t>
            </a:r>
          </a:p>
        </p:txBody>
      </p:sp>
      <p:sp>
        <p:nvSpPr>
          <p:cNvPr id="440" name="Shape 440"/>
          <p:cNvSpPr/>
          <p:nvPr/>
        </p:nvSpPr>
        <p:spPr>
          <a:xfrm>
            <a:off x="4244026" y="3468800"/>
            <a:ext cx="1651973" cy="130000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blurRad="76200" dist="25400" dir="5400000" algn="bl" rotWithShape="0">
              <a:srgbClr val="1B2340">
                <a:alpha val="15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442" name="Text 442"/>
          <p:cNvSpPr/>
          <p:nvPr/>
        </p:nvSpPr>
        <p:spPr>
          <a:xfrm>
            <a:off x="4381186" y="3605960"/>
            <a:ext cx="1377653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altLang="en-US" sz="2200" b="1" i="0" dirty="0">
                <a:solidFill>
                  <a:srgbClr val="5558D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80</a:t>
            </a:r>
          </a:p>
        </p:txBody>
      </p:sp>
      <p:sp>
        <p:nvSpPr>
          <p:cNvPr id="444" name="Text 444"/>
          <p:cNvSpPr/>
          <p:nvPr/>
        </p:nvSpPr>
        <p:spPr>
          <a:xfrm>
            <a:off x="4381186" y="4200320"/>
            <a:ext cx="1377653" cy="508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ko-KR" altLang="en-US" sz="900" b="0" i="0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자동화 테스트 (BE 51 · FE 29)</a:t>
            </a:r>
          </a:p>
        </p:txBody>
      </p:sp>
      <p:sp>
        <p:nvSpPr>
          <p:cNvPr id="446" name="Shape 446"/>
          <p:cNvSpPr/>
          <p:nvPr/>
        </p:nvSpPr>
        <p:spPr>
          <a:xfrm>
            <a:off x="6296000" y="1968800"/>
            <a:ext cx="5255920" cy="7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blurRad="76200" dist="25400" dir="5400000" algn="bl" rotWithShape="0">
              <a:srgbClr val="1B2340">
                <a:alpha val="15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448" name="Shape 448"/>
          <p:cNvSpPr/>
          <p:nvPr/>
        </p:nvSpPr>
        <p:spPr>
          <a:xfrm>
            <a:off x="6441000" y="2113800"/>
            <a:ext cx="460000" cy="460000"/>
          </a:xfrm>
          <a:prstGeom prst="roundRect">
            <a:avLst>
              <a:gd name="adj" fmla="val 50000"/>
            </a:avLst>
          </a:prstGeom>
          <a:solidFill>
            <a:srgbClr val="5558DC"/>
          </a:solidFill>
          <a:ln>
            <a:noFill/>
          </a:ln>
          <a:effectLst>
            <a:outerShdw blurRad="76200" dist="25400" dir="5400000" algn="bl" rotWithShape="0">
              <a:srgbClr val="1B2340">
                <a:alpha val="15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450" name="Text 450"/>
          <p:cNvSpPr/>
          <p:nvPr/>
        </p:nvSpPr>
        <p:spPr>
          <a:xfrm>
            <a:off x="6441000" y="2113800"/>
            <a:ext cx="460000" cy="4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300" b="1" i="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1</a:t>
            </a:r>
          </a:p>
        </p:txBody>
      </p:sp>
      <p:sp>
        <p:nvSpPr>
          <p:cNvPr id="452" name="Text 452"/>
          <p:cNvSpPr/>
          <p:nvPr/>
        </p:nvSpPr>
        <p:spPr>
          <a:xfrm>
            <a:off x="7081000" y="1968800"/>
            <a:ext cx="4320920" cy="7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altLang="en-US" sz="1100" b="0" i="0" dirty="0">
                <a:solidFill>
                  <a:srgbClr val="1B234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사용자·역할 관리 화면과 역할 변경 API</a:t>
            </a:r>
          </a:p>
        </p:txBody>
      </p:sp>
      <p:sp>
        <p:nvSpPr>
          <p:cNvPr id="454" name="Shape 454"/>
          <p:cNvSpPr/>
          <p:nvPr/>
        </p:nvSpPr>
        <p:spPr>
          <a:xfrm>
            <a:off x="6296000" y="2898800"/>
            <a:ext cx="5255920" cy="7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blurRad="76200" dist="25400" dir="5400000" algn="bl" rotWithShape="0">
              <a:srgbClr val="1B2340">
                <a:alpha val="15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456" name="Shape 456"/>
          <p:cNvSpPr/>
          <p:nvPr/>
        </p:nvSpPr>
        <p:spPr>
          <a:xfrm>
            <a:off x="6441000" y="3043800"/>
            <a:ext cx="460000" cy="460000"/>
          </a:xfrm>
          <a:prstGeom prst="roundRect">
            <a:avLst>
              <a:gd name="adj" fmla="val 50000"/>
            </a:avLst>
          </a:prstGeom>
          <a:solidFill>
            <a:srgbClr val="5558DC"/>
          </a:solidFill>
          <a:ln>
            <a:noFill/>
          </a:ln>
          <a:effectLst>
            <a:outerShdw blurRad="76200" dist="25400" dir="5400000" algn="bl" rotWithShape="0">
              <a:srgbClr val="1B2340">
                <a:alpha val="15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458" name="Text 458"/>
          <p:cNvSpPr/>
          <p:nvPr/>
        </p:nvSpPr>
        <p:spPr>
          <a:xfrm>
            <a:off x="6441000" y="3043800"/>
            <a:ext cx="460000" cy="4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300" b="1" i="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2</a:t>
            </a:r>
          </a:p>
        </p:txBody>
      </p:sp>
      <p:sp>
        <p:nvSpPr>
          <p:cNvPr id="460" name="Text 460"/>
          <p:cNvSpPr/>
          <p:nvPr/>
        </p:nvSpPr>
        <p:spPr>
          <a:xfrm>
            <a:off x="7081000" y="2898800"/>
            <a:ext cx="4320920" cy="7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altLang="en-US" sz="1100" b="0" i="0" dirty="0">
                <a:solidFill>
                  <a:srgbClr val="1B234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React Router 기반 URL별 부서 페이지</a:t>
            </a:r>
          </a:p>
        </p:txBody>
      </p:sp>
      <p:sp>
        <p:nvSpPr>
          <p:cNvPr id="462" name="Shape 462"/>
          <p:cNvSpPr/>
          <p:nvPr/>
        </p:nvSpPr>
        <p:spPr>
          <a:xfrm>
            <a:off x="6296000" y="3828800"/>
            <a:ext cx="5255920" cy="7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blurRad="76200" dist="25400" dir="5400000" algn="bl" rotWithShape="0">
              <a:srgbClr val="1B2340">
                <a:alpha val="15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464" name="Shape 464"/>
          <p:cNvSpPr/>
          <p:nvPr/>
        </p:nvSpPr>
        <p:spPr>
          <a:xfrm>
            <a:off x="6441000" y="3973800"/>
            <a:ext cx="460000" cy="460000"/>
          </a:xfrm>
          <a:prstGeom prst="roundRect">
            <a:avLst>
              <a:gd name="adj" fmla="val 50000"/>
            </a:avLst>
          </a:prstGeom>
          <a:solidFill>
            <a:srgbClr val="5558DC"/>
          </a:solidFill>
          <a:ln>
            <a:noFill/>
          </a:ln>
          <a:effectLst>
            <a:outerShdw blurRad="76200" dist="25400" dir="5400000" algn="bl" rotWithShape="0">
              <a:srgbClr val="1B2340">
                <a:alpha val="15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466" name="Text 466"/>
          <p:cNvSpPr/>
          <p:nvPr/>
        </p:nvSpPr>
        <p:spPr>
          <a:xfrm>
            <a:off x="6441000" y="3973800"/>
            <a:ext cx="460000" cy="4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300" b="1" i="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3</a:t>
            </a:r>
          </a:p>
        </p:txBody>
      </p:sp>
      <p:sp>
        <p:nvSpPr>
          <p:cNvPr id="468" name="Text 468"/>
          <p:cNvSpPr/>
          <p:nvPr/>
        </p:nvSpPr>
        <p:spPr>
          <a:xfrm>
            <a:off x="7081000" y="3828800"/>
            <a:ext cx="4320920" cy="7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altLang="en-US" sz="1100" b="0" i="0" dirty="0">
                <a:solidFill>
                  <a:srgbClr val="1B234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인증 만료 시 공통 재로그인 화면</a:t>
            </a:r>
          </a:p>
        </p:txBody>
      </p:sp>
      <p:sp>
        <p:nvSpPr>
          <p:cNvPr id="470" name="Shape 470"/>
          <p:cNvSpPr/>
          <p:nvPr/>
        </p:nvSpPr>
        <p:spPr>
          <a:xfrm>
            <a:off x="6296000" y="4758800"/>
            <a:ext cx="5255920" cy="7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blurRad="76200" dist="25400" dir="5400000" algn="bl" rotWithShape="0">
              <a:srgbClr val="1B2340">
                <a:alpha val="15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472" name="Shape 472"/>
          <p:cNvSpPr/>
          <p:nvPr/>
        </p:nvSpPr>
        <p:spPr>
          <a:xfrm>
            <a:off x="6441000" y="4903800"/>
            <a:ext cx="460000" cy="460000"/>
          </a:xfrm>
          <a:prstGeom prst="roundRect">
            <a:avLst>
              <a:gd name="adj" fmla="val 50000"/>
            </a:avLst>
          </a:prstGeom>
          <a:solidFill>
            <a:srgbClr val="5558DC"/>
          </a:solidFill>
          <a:ln>
            <a:noFill/>
          </a:ln>
          <a:effectLst>
            <a:outerShdw blurRad="76200" dist="25400" dir="5400000" algn="bl" rotWithShape="0">
              <a:srgbClr val="1B2340">
                <a:alpha val="15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474" name="Text 474"/>
          <p:cNvSpPr/>
          <p:nvPr/>
        </p:nvSpPr>
        <p:spPr>
          <a:xfrm>
            <a:off x="6441000" y="4903800"/>
            <a:ext cx="460000" cy="4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300" b="1" i="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4</a:t>
            </a:r>
          </a:p>
        </p:txBody>
      </p:sp>
      <p:sp>
        <p:nvSpPr>
          <p:cNvPr id="476" name="Text 476"/>
          <p:cNvSpPr/>
          <p:nvPr/>
        </p:nvSpPr>
        <p:spPr>
          <a:xfrm>
            <a:off x="7081000" y="4758800"/>
            <a:ext cx="4320920" cy="7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altLang="en-US" sz="1100" b="0" i="0" dirty="0">
                <a:solidFill>
                  <a:srgbClr val="1B234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예측 입력 화면과 /api/v1/predictions 연결</a:t>
            </a:r>
          </a:p>
        </p:txBody>
      </p:sp>
      <p:sp>
        <p:nvSpPr>
          <p:cNvPr id="478" name="Text 478"/>
          <p:cNvSpPr/>
          <p:nvPr/>
        </p:nvSpPr>
        <p:spPr>
          <a:xfrm>
            <a:off x="640080" y="5708800"/>
            <a:ext cx="10911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ko-KR" altLang="en-US" sz="1000" b="0" i="1" dirty="0">
                <a:solidFill>
                  <a:srgbClr val="6B7280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숫자는 synthetic_customers 데이터셋·자동화 테스트 기준입니다 · 확장 항목은 README 기준 후속 후보입니다.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</TotalTime>
  <Words>1631</Words>
  <Application>Microsoft Office PowerPoint</Application>
  <PresentationFormat>와이드스크린</PresentationFormat>
  <Paragraphs>349</Paragraphs>
  <Slides>14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성욱 최</cp:lastModifiedBy>
  <cp:revision>3</cp:revision>
  <dcterms:created xsi:type="dcterms:W3CDTF">2026-08-05T12:19:03Z</dcterms:created>
  <dcterms:modified xsi:type="dcterms:W3CDTF">2026-08-05T16:53:05Z</dcterms:modified>
</cp:coreProperties>
</file>